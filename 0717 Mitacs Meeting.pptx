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3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12192000" cy="6858000"/>
  <p:notesSz cx="6858000" cy="9144000"/>
  <p:embeddedFontLst>
    <p:embeddedFont>
      <p:font typeface="Cambria Math" panose="02040503050406030204" pitchFamily="18"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jb3F6UDMCLXYEHbbFpSErieZz1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5404c3592_0_1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g3f5404c3592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4" name="Google Shape;1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f82550f26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7" name="Google Shape;197;g3f82550f26e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f82550f26e_6_2: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3f82550f26e_6_2:notes"/>
          <p:cNvSpPr txBox="1">
            <a:spLocks noGrp="1"/>
          </p:cNvSpPr>
          <p:nvPr>
            <p:ph type="body" idx="1"/>
          </p:nvPr>
        </p:nvSpPr>
        <p:spPr>
          <a:xfrm>
            <a:off x="685800" y="3300500"/>
            <a:ext cx="5486400" cy="270040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Narration for Section III:</a:t>
            </a:r>
            <a:br>
              <a:rPr lang="en-US"/>
            </a:br>
            <a:r>
              <a:rPr lang="en-US"/>
              <a:t>This section introduces the generic quantum machine learning pipeline. It has three blocks: state preparation, trainable unitary evolution, and measurement/postprocessing.</a:t>
            </a:r>
            <a:br>
              <a:rPr lang="en-US"/>
            </a:br>
            <a:r>
              <a:rPr lang="en-US"/>
              <a:t>First, classical real-valued inputs are encoded into qubits. In this paper, the method is angle encoding. Each feature value phi_j becomes the angle of an Rx rotation, so an n-dimensional input vector requires n qubits. This is why four selected physics features need four qubits.</a:t>
            </a:r>
            <a:br>
              <a:rPr lang="en-US"/>
            </a:br>
            <a:r>
              <a:rPr lang="en-US"/>
              <a:t>Second, the prepared state is evolved by a parameterized unitary circuit U(theta). The parameters theta are the trainable variables of the quantum model.</a:t>
            </a:r>
            <a:br>
              <a:rPr lang="en-US"/>
            </a:br>
            <a:r>
              <a:rPr lang="en-US"/>
              <a:t>Third, the final state is measured. Because quantum measurement is probabilistic, the circuit must be repeated many times, called shots, to estimate the observable accurately.</a:t>
            </a:r>
            <a:br>
              <a:rPr lang="en-US"/>
            </a:br>
            <a:r>
              <a:rPr lang="en-US"/>
              <a:t>Finally, after defining a cost function, the parameters are updated. The authors use quantum gradient descent, which uses the Fubini-Study metric so the optimizer follows the geometry of quantum states rather than assuming a simple Euclidean parameter space.</a:t>
            </a:r>
            <a:br>
              <a:rPr lang="en-US"/>
            </a:br>
            <a:r>
              <a:rPr lang="en-US"/>
              <a:t>The final point is entanglement: the input state after angle encoding is initially separable, so CNOT gates are needed later in the QAE circuit to let different feature qubits interact.</a:t>
            </a:r>
            <a:endParaRPr/>
          </a:p>
        </p:txBody>
      </p:sp>
      <p:sp>
        <p:nvSpPr>
          <p:cNvPr id="250" name="Google Shape;250;g3f82550f26e_6_2:notes"/>
          <p:cNvSpPr txBox="1">
            <a:spLocks noGrp="1"/>
          </p:cNvSpPr>
          <p:nvPr>
            <p:ph type="sldNum" idx="12"/>
          </p:nvPr>
        </p:nvSpPr>
        <p:spPr>
          <a:xfrm>
            <a:off x="3884613" y="6514083"/>
            <a:ext cx="2971800" cy="344099"/>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f5366b50d3_1_0: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g3f5366b50d3_1_0:notes"/>
          <p:cNvSpPr txBox="1">
            <a:spLocks noGrp="1"/>
          </p:cNvSpPr>
          <p:nvPr>
            <p:ph type="body" idx="1"/>
          </p:nvPr>
        </p:nvSpPr>
        <p:spPr>
          <a:xfrm>
            <a:off x="685800" y="3300500"/>
            <a:ext cx="5486400" cy="270040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This slide is the implementation of state preparation. The four physics observables are first rescaled to angles. Then each angle controls an R_x rotation on one qubit. The key implementation point is that this is angle encoding, not amplitude encoding. Because one feature maps to one qubit, the four-dimensional vector requires four qubits. The resulting state is separable at first; it only stores the four numbers independently. Entanglement is introduced later by the trainable QAE circuit.</a:t>
            </a:r>
            <a:endParaRPr/>
          </a:p>
        </p:txBody>
      </p:sp>
      <p:sp>
        <p:nvSpPr>
          <p:cNvPr id="306" name="Google Shape;306;g3f5366b50d3_1_0:notes"/>
          <p:cNvSpPr txBox="1">
            <a:spLocks noGrp="1"/>
          </p:cNvSpPr>
          <p:nvPr>
            <p:ph type="sldNum" idx="12"/>
          </p:nvPr>
        </p:nvSpPr>
        <p:spPr>
          <a:xfrm>
            <a:off x="3884613" y="6514083"/>
            <a:ext cx="2971800" cy="344099"/>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f5366b50d3_1_49: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g3f5366b50d3_1_49:notes"/>
          <p:cNvSpPr txBox="1">
            <a:spLocks noGrp="1"/>
          </p:cNvSpPr>
          <p:nvPr>
            <p:ph type="body" idx="1"/>
          </p:nvPr>
        </p:nvSpPr>
        <p:spPr>
          <a:xfrm>
            <a:off x="685800" y="3300500"/>
            <a:ext cx="5486400" cy="270040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55" name="Google Shape;355;g3f5366b50d3_1_49:notes"/>
          <p:cNvSpPr txBox="1">
            <a:spLocks noGrp="1"/>
          </p:cNvSpPr>
          <p:nvPr>
            <p:ph type="sldNum" idx="12"/>
          </p:nvPr>
        </p:nvSpPr>
        <p:spPr>
          <a:xfrm>
            <a:off x="3884613" y="6514083"/>
            <a:ext cx="2971800" cy="344099"/>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f5366b50d3_1_100:notes"/>
          <p:cNvSpPr>
            <a:spLocks noGrp="1" noRot="1" noChangeAspect="1"/>
          </p:cNvSpPr>
          <p:nvPr>
            <p:ph type="sldImg" idx="2"/>
          </p:nvPr>
        </p:nvSpPr>
        <p:spPr>
          <a:xfrm>
            <a:off x="1371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g3f5366b50d3_1_100:notes"/>
          <p:cNvSpPr txBox="1">
            <a:spLocks noGrp="1"/>
          </p:cNvSpPr>
          <p:nvPr>
            <p:ph type="body" idx="1"/>
          </p:nvPr>
        </p:nvSpPr>
        <p:spPr>
          <a:xfrm>
            <a:off x="685800" y="3300500"/>
            <a:ext cx="5486400" cy="270040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This slide explains the actual training objective. The ideal encoder takes a background state and maps it into a compressed latent state in subsystem A while making the trash subsystem B equal to the fixed reference beta. In that case, replacing the trash with a fresh reference state loses no information. Therefore, instead of measuring full reconstruction fidelity, the authors train by maximizing trash-state fidelity. The cost is the negative average trash fidelity over the input ensemble. At test time, the anomaly score is 1 minus the fidelity. A high score means the event could not be compressed like the background.</a:t>
            </a:r>
            <a:endParaRPr/>
          </a:p>
        </p:txBody>
      </p:sp>
      <p:sp>
        <p:nvSpPr>
          <p:cNvPr id="406" name="Google Shape;406;g3f5366b50d3_1_100:notes"/>
          <p:cNvSpPr txBox="1">
            <a:spLocks noGrp="1"/>
          </p:cNvSpPr>
          <p:nvPr>
            <p:ph type="sldNum" idx="12"/>
          </p:nvPr>
        </p:nvSpPr>
        <p:spPr>
          <a:xfrm>
            <a:off x="3884613" y="6514083"/>
            <a:ext cx="2971800" cy="344099"/>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這頁是在把前面理論接到 </a:t>
            </a:r>
            <a:r>
              <a:rPr lang="en-US" b="1">
                <a:solidFill>
                  <a:schemeClr val="dk1"/>
                </a:solidFill>
              </a:rPr>
              <a:t>實際 LHC 實驗資料流程</a:t>
            </a:r>
            <a:r>
              <a:rPr lang="en-US">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它講的是：一個 collision event 最後怎麼變成 QAE 的 anomaly score。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US" sz="1700" b="1">
                <a:solidFill>
                  <a:schemeClr val="dk1"/>
                </a:solidFill>
              </a:rPr>
              <a:t>整體流程</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這頁上方有 6 個步驟：</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1. simulate events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先用 Monte Carlo 模擬 LHC collision events。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例如 background 和 signal events。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2. reconstruct objects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把 detector-level information 重建成 physics objects，例如：</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US">
                <a:solidFill>
                  <a:schemeClr val="dk1"/>
                </a:solidFill>
              </a:rPr>
              <a:t>jets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US">
                <a:solidFill>
                  <a:schemeClr val="dk1"/>
                </a:solidFill>
              </a:rPr>
              <a:t>leptons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US">
                <a:solidFill>
                  <a:schemeClr val="dk1"/>
                </a:solidFill>
              </a:rPr>
              <a:t>missing transverse energy</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3. select physics features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從重建後的 objects 中挑出少數有物理意義的 features。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不是把整個 raw detector data 丟進模型，而是先壓成 compact feature vector。</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4. rescale to angle range</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因為第一篇使用 angle encoding，所以 feature 要被 rescale 到：</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[0,π][0,\pi][0,π]</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變成 angle vector：</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ϕ∈[0,π]\phi \in [0,\pi]ϕ∈[0,π]</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5. QAE training</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把 angle vector encode 成 quantum state，丟進 QAE。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QAE 用 background-only data 訓練，讓 trash fidelity 變高。</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6. evaluate anomaly score</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最後用：</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s(x)=1−Fs(x)=1-Fs(x)=1−F</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得到 anomaly score。</a:t>
            </a: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US" sz="1700" b="1">
                <a:solidFill>
                  <a:schemeClr val="dk1"/>
                </a:solidFill>
              </a:rPr>
              <a:t>兩個 benchmark</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這頁下面列出兩個實驗。</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US" sz="1700" b="1">
                <a:solidFill>
                  <a:schemeClr val="dk1"/>
                </a:solidFill>
              </a:rPr>
              <a:t>Benchmark 1：Main experiment</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Background：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pp→ttˉpp\to t\bar{t}pp→ttˉ</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Signal：</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pp→H→ttˉpp\to H\to t\bar{t}pp→H→ttˉ</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這個 case 用：</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4 input variables→4 qubits4 \text{ input variables} \rightarrow 4 \text{ qubits}4 input variables→4 qubits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它是主要實驗，用來做：</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US">
                <a:solidFill>
                  <a:schemeClr val="dk1"/>
                </a:solidFill>
              </a:rPr>
              <a:t>training-size analysis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US">
                <a:solidFill>
                  <a:schemeClr val="dk1"/>
                </a:solidFill>
              </a:rPr>
              <a:t>ROC</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US">
                <a:solidFill>
                  <a:schemeClr val="dk1"/>
                </a:solidFill>
              </a:rPr>
              <a:t>significance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US">
                <a:solidFill>
                  <a:schemeClr val="dk1"/>
                </a:solidFill>
              </a:rPr>
              <a:t>hardware studies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US" sz="1700" b="1">
                <a:solidFill>
                  <a:schemeClr val="dk1"/>
                </a:solidFill>
              </a:rPr>
              <a:t>Benchmark 2：Cross-check experiment</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Background：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pp→Z(ννˉ)jjpp\to Z(\nu\bar{\nu})jjpp→Z(ννˉ)jj</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Signal：</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pp→hjj,h→SSpp\to hjj,\quad h\to SSpp→hjj,h→SS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這個 case 用：</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6 input variables→6 qubits6 \text{ input variables} \rightarrow 6 \text{ qubits}6 input variables→6 qubits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它的作用是確認 QAE 的效果不是只對 ttˉt\bar{t}ttˉ final state 有效，而是在另一種 topology 下也能成立。</a:t>
            </a:r>
            <a:endParaRPr>
              <a:solidFill>
                <a:schemeClr val="dk1"/>
              </a:solidFill>
            </a:endParaRPr>
          </a:p>
          <a:p>
            <a:pPr marL="0" lvl="0" indent="0" algn="l" rtl="0">
              <a:lnSpc>
                <a:spcPct val="100000"/>
              </a:lnSpc>
              <a:spcBef>
                <a:spcPts val="1200"/>
              </a:spcBef>
              <a:spcAft>
                <a:spcPts val="0"/>
              </a:spcAft>
              <a:buSzPts val="1100"/>
              <a:buNone/>
            </a:pPr>
            <a:endParaRPr/>
          </a:p>
        </p:txBody>
      </p:sp>
      <p:sp>
        <p:nvSpPr>
          <p:cNvPr id="446" name="Google Shape;44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f5396f6f7a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3" name="Google Shape;503;g3f5396f6f7a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f5396f6f7a_0_1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8" name="Google Shape;558;g3f5396f6f7a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f5396f6f7a_0_2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4" name="Google Shape;604;g3f5396f6f7a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3f5396f6f7a_0_3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This slide summarizes the optimization settings. For the QAE, the authors train different latent dimensions, 1, 2, and 3, and different training sizes from 1 to 10,000 events. Each circuit evaluation uses 5000 shots, and the parameters are updated for each data sample. The optimizer is quantum-gradient descent, which uses the Fubini–Study metric to account for the geometry of the quantum state space.</a:t>
            </a:r>
            <a:endParaRPr/>
          </a:p>
          <a:p>
            <a:pPr marL="0" lvl="0" indent="0" algn="l" rtl="0">
              <a:lnSpc>
                <a:spcPct val="115000"/>
              </a:lnSpc>
              <a:spcBef>
                <a:spcPts val="1200"/>
              </a:spcBef>
              <a:spcAft>
                <a:spcPts val="0"/>
              </a:spcAft>
              <a:buClr>
                <a:schemeClr val="dk1"/>
              </a:buClr>
              <a:buSzPts val="1100"/>
              <a:buFont typeface="Arial"/>
              <a:buNone/>
            </a:pPr>
            <a:r>
              <a:rPr lang="en-US"/>
              <a:t>For comparison, the CAE baseline is a dense autoencoder with hidden layers 20, 15, and 10, trained with Adam and RMSE loss. The important point is that both models use the same input variables, but the QAE has only O(10)O(10)O(10) trainable parameters while the CAE has O(1000)</a:t>
            </a:r>
            <a:endParaRPr/>
          </a:p>
          <a:p>
            <a:pPr marL="0" lvl="0" indent="0" algn="l" rtl="0">
              <a:lnSpc>
                <a:spcPct val="100000"/>
              </a:lnSpc>
              <a:spcBef>
                <a:spcPts val="1200"/>
              </a:spcBef>
              <a:spcAft>
                <a:spcPts val="0"/>
              </a:spcAft>
              <a:buSzPts val="1100"/>
              <a:buNone/>
            </a:pPr>
            <a:endParaRPr/>
          </a:p>
        </p:txBody>
      </p:sp>
      <p:sp>
        <p:nvSpPr>
          <p:cNvPr id="652" name="Google Shape;652;g3f5396f6f7a_0_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3f5396f6f7a_0_4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This slide compares how much training data the CAE and QAE need. For the CAE, the RMSE distribution shifts strongly to the left as the training size increases, meaning that the classical autoencoder needs more data to reconstruct background events well. The authors suggest that efficient reconstruction requires roughly 10310^3103 samples.</a:t>
            </a:r>
            <a:endParaRPr/>
          </a:p>
          <a:p>
            <a:pPr marL="0" lvl="0" indent="0" algn="l" rtl="0">
              <a:lnSpc>
                <a:spcPct val="115000"/>
              </a:lnSpc>
              <a:spcBef>
                <a:spcPts val="1200"/>
              </a:spcBef>
              <a:spcAft>
                <a:spcPts val="1200"/>
              </a:spcAft>
              <a:buSzPts val="1100"/>
              <a:buNone/>
            </a:pPr>
            <a:r>
              <a:rPr lang="en-US"/>
              <a:t>In contrast, the QAE fidelity distribution becomes almost stable after about 10 training events. Since higher fidelity means the trash state is close to the reference state, this indicates that the QAE learns the background compression with far fewer samples. This is one of the main empirical claims of the paper.</a:t>
            </a:r>
            <a:endParaRPr/>
          </a:p>
        </p:txBody>
      </p:sp>
      <p:sp>
        <p:nvSpPr>
          <p:cNvPr id="721" name="Google Shape;721;g3f5396f6f7a_0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3f5396f6f7a_0_5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This slide shows that the QAE is not only more data-efficient but also gives better anomaly detection performance. On the left, the ROC curves compare signal acceptance and background rejection for four heavy Higgs masses. The solid QAE curves lie above the dashed CAE curves for all tested masses and latent dimensions, meaning that QAE has better discrimination.</a:t>
            </a:r>
            <a:endParaRPr/>
          </a:p>
          <a:p>
            <a:pPr marL="0" lvl="0" indent="0" algn="l" rtl="0">
              <a:lnSpc>
                <a:spcPct val="115000"/>
              </a:lnSpc>
              <a:spcBef>
                <a:spcPts val="1200"/>
              </a:spcBef>
              <a:spcAft>
                <a:spcPts val="0"/>
              </a:spcAft>
              <a:buClr>
                <a:schemeClr val="dk1"/>
              </a:buClr>
              <a:buSzPts val="1100"/>
              <a:buFont typeface="Arial"/>
              <a:buNone/>
            </a:pPr>
            <a:r>
              <a:rPr lang="en-US"/>
              <a:t>The smallest latent dimension gives the strongest bottleneck and usually the best background rejection, because signal-like events are harder to compress through such a narrow latent space. On the right, the significance plot shows that using 1−F1-F1−F for QAE gives a higher peak NS/NBN_S/\sqrt{N_B}NS​/NB​​ than using RMSE for CAE, under the assumed signal cross-section and luminosity.</a:t>
            </a:r>
            <a:endParaRPr/>
          </a:p>
          <a:p>
            <a:pPr marL="0" lvl="0" indent="0" algn="l" rtl="0">
              <a:lnSpc>
                <a:spcPct val="100000"/>
              </a:lnSpc>
              <a:spcBef>
                <a:spcPts val="1200"/>
              </a:spcBef>
              <a:spcAft>
                <a:spcPts val="0"/>
              </a:spcAft>
              <a:buSzPts val="1100"/>
              <a:buNone/>
            </a:pPr>
            <a:endParaRPr/>
          </a:p>
        </p:txBody>
      </p:sp>
      <p:sp>
        <p:nvSpPr>
          <p:cNvPr id="751" name="Google Shape;751;g3f5396f6f7a_0_5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3f5396f6f7a_0_6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9" name="Google Shape;779;g3f5396f6f7a_0_6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3f5404c3592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3" name="Google Shape;803;g3f5404c3592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3f548fae03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1" name="Google Shape;811;g3f548fae03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3f548fae03d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1" name="Google Shape;851;g3f548fae03d_1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3f932066f6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6" name="Google Shape;886;g3f932066f6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3f548fae03d_1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3" name="Google Shape;913;g3f548fae03d_1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3f548fae03d_1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8" name="Google Shape;948;g3f548fae03d_1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3f548fae03d_1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9" name="Google Shape;979;g3f548fae03d_1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3f548fae03d_1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COBYLA 是一種 derivative-free optimizer，也就是不需要直接算 gradient。</a:t>
            </a:r>
            <a:endParaRPr/>
          </a:p>
          <a:p>
            <a:pPr marL="0" lvl="0" indent="0" algn="l" rtl="0">
              <a:lnSpc>
                <a:spcPct val="115000"/>
              </a:lnSpc>
              <a:spcBef>
                <a:spcPts val="1200"/>
              </a:spcBef>
              <a:spcAft>
                <a:spcPts val="0"/>
              </a:spcAft>
              <a:buClr>
                <a:schemeClr val="dk1"/>
              </a:buClr>
              <a:buSzPts val="1100"/>
              <a:buFont typeface="Arial"/>
              <a:buNone/>
            </a:pPr>
            <a:r>
              <a:rPr lang="en-US"/>
              <a:t>訓練設定是：</a:t>
            </a:r>
            <a:endParaRPr/>
          </a:p>
          <a:p>
            <a:pPr marL="0" lvl="0" indent="0" algn="l" rtl="0">
              <a:lnSpc>
                <a:spcPct val="115000"/>
              </a:lnSpc>
              <a:spcBef>
                <a:spcPts val="1200"/>
              </a:spcBef>
              <a:spcAft>
                <a:spcPts val="0"/>
              </a:spcAft>
              <a:buNone/>
            </a:pPr>
            <a:r>
              <a:rPr lang="en-US"/>
              <a:t>iterations45 shots5000</a:t>
            </a:r>
            <a:endParaRPr/>
          </a:p>
          <a:p>
            <a:pPr marL="0" lvl="0" indent="0" algn="l" rtl="0">
              <a:lnSpc>
                <a:spcPct val="115000"/>
              </a:lnSpc>
              <a:spcBef>
                <a:spcPts val="0"/>
              </a:spcBef>
              <a:spcAft>
                <a:spcPts val="0"/>
              </a:spcAft>
              <a:buClr>
                <a:schemeClr val="dk1"/>
              </a:buClr>
              <a:buSzPts val="1100"/>
              <a:buFont typeface="Arial"/>
              <a:buNone/>
            </a:pPr>
            <a:r>
              <a:rPr lang="en-US"/>
              <a:t>shots 的意思是同一個 quantum circuit 重複測量很多次，因為 quantum measurement 是 probabilistic，需要靠多次測量估計結果。</a:t>
            </a:r>
            <a:endParaRPr/>
          </a:p>
          <a:p>
            <a:pPr marL="0" lvl="0" indent="0" algn="l" rtl="0">
              <a:lnSpc>
                <a:spcPct val="115000"/>
              </a:lnSpc>
              <a:spcBef>
                <a:spcPts val="1200"/>
              </a:spcBef>
              <a:spcAft>
                <a:spcPts val="1200"/>
              </a:spcAft>
              <a:buNone/>
            </a:pPr>
            <a:r>
              <a:rPr lang="en-US"/>
              <a:t>訓練目標是讓 QAE 對 normal time windows 能夠壓縮得好。具體來說，就是讓 trash qubit 越接近 reference qubit ∣0⟩|0\rangle∣0⟩，Swap-Test 測到異常訊號的比例越低。</a:t>
            </a:r>
            <a:endParaRPr/>
          </a:p>
        </p:txBody>
      </p:sp>
      <p:sp>
        <p:nvSpPr>
          <p:cNvPr id="1010" name="Google Shape;1010;g3f548fae03d_1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3f548fae03d_1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在真實 IBM hardware 上，要精準準備這個任意 quantum state，circuit 會非常深。經過 transpilation 之後 gate 數變很多，容易 decoherence，所以 measurement 不可靠。</a:t>
            </a:r>
            <a:endParaRPr/>
          </a:p>
          <a:p>
            <a:pPr marL="0" lvl="0" indent="0" algn="l" rtl="0">
              <a:spcBef>
                <a:spcPts val="1200"/>
              </a:spcBef>
              <a:spcAft>
                <a:spcPts val="0"/>
              </a:spcAft>
              <a:buNone/>
            </a:pPr>
            <a:r>
              <a:rPr lang="en-US"/>
              <a:t>所以 hardware 上改用 quasi-amplitude encoding </a:t>
            </a:r>
            <a:r>
              <a:rPr lang="en-US">
                <a:solidFill>
                  <a:schemeClr val="dk1"/>
                </a:solidFill>
              </a:rPr>
              <a:t>他們不再精準準備 exact amplitude-encoded state，而是用一個比較淺的 variational circuit 產生近似 state：這個 circuit 使用 </a:t>
            </a:r>
            <a:r>
              <a:rPr lang="en-US" b="1">
                <a:solidFill>
                  <a:schemeClr val="dk1"/>
                </a:solidFill>
              </a:rPr>
              <a:t>EfficientSU2</a:t>
            </a:r>
            <a:r>
              <a:rPr lang="en-US">
                <a:solidFill>
                  <a:schemeClr val="dk1"/>
                </a:solidFill>
              </a:rPr>
              <a:t>，有 7 qubits 和 2 repetitions。</a:t>
            </a:r>
            <a:endParaRPr>
              <a:solidFill>
                <a:schemeClr val="dk1"/>
              </a:solidFill>
            </a:endParaRPr>
          </a:p>
          <a:p>
            <a:pPr marL="0" lvl="0" indent="0" algn="l" rtl="0">
              <a:spcBef>
                <a:spcPts val="0"/>
              </a:spcBef>
              <a:spcAft>
                <a:spcPts val="0"/>
              </a:spcAft>
              <a:buNone/>
            </a:pPr>
            <a:endParaRPr/>
          </a:p>
          <a:p>
            <a:pPr marL="0" lvl="0" indent="0" algn="l" rtl="0">
              <a:lnSpc>
                <a:spcPct val="115000"/>
              </a:lnSpc>
              <a:spcBef>
                <a:spcPts val="1200"/>
              </a:spcBef>
              <a:spcAft>
                <a:spcPts val="0"/>
              </a:spcAft>
              <a:buClr>
                <a:schemeClr val="dk1"/>
              </a:buClr>
              <a:buSzPts val="1100"/>
              <a:buFont typeface="Arial"/>
              <a:buNone/>
            </a:pPr>
            <a:r>
              <a:rPr lang="en-US"/>
              <a:t>你可以看到紅線沒有完全等於黑線，但大致跟得上 shape。</a:t>
            </a:r>
            <a:endParaRPr/>
          </a:p>
          <a:p>
            <a:pPr marL="0" lvl="0" indent="0" algn="l" rtl="0">
              <a:lnSpc>
                <a:spcPct val="115000"/>
              </a:lnSpc>
              <a:spcBef>
                <a:spcPts val="1200"/>
              </a:spcBef>
              <a:spcAft>
                <a:spcPts val="1200"/>
              </a:spcAft>
              <a:buNone/>
            </a:pPr>
            <a:r>
              <a:rPr lang="en-US"/>
              <a:t>quasi-amplitude encoding 不是完美重建，但保留了 time window 的主要形狀。\boxed{ \text{quasi-amplitude encoding 不是完美重建，但保留了 time window 的主要形狀。} }quasi-amplitude encoding 不是完美重建，但保留了 time window 的主要形狀。 </a:t>
            </a:r>
            <a:endParaRPr/>
          </a:p>
        </p:txBody>
      </p:sp>
      <p:sp>
        <p:nvSpPr>
          <p:cNvPr id="1044" name="Google Shape;1044;g3f548fae03d_1_3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3f548fae03d_1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1" name="Google Shape;1071;g3f548fae03d_1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3f548fae03d_1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灰色虛線：Baseline</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這是 classical LSTM autoencoder 的表現。</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如果 QAE 曲線高於灰色 baseline，代表 QAE 比 LSTM baseline 好。</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黑線：MSE-Based</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這是 QAE 用 </a:t>
            </a:r>
            <a:r>
              <a:rPr lang="en-US" b="1">
                <a:solidFill>
                  <a:schemeClr val="dk1"/>
                </a:solidFill>
              </a:rPr>
              <a:t>reconstruction error</a:t>
            </a:r>
            <a:r>
              <a:rPr lang="en-US">
                <a:solidFill>
                  <a:schemeClr val="dk1"/>
                </a:solidFill>
              </a:rPr>
              <a:t> 做 anomaly score。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t>MSE 越大，越可能是 anomaly。</a:t>
            </a:r>
            <a:endParaRPr/>
          </a:p>
          <a:p>
            <a:pPr marL="0" lvl="0" indent="0" algn="l" rtl="0">
              <a:lnSpc>
                <a:spcPct val="115000"/>
              </a:lnSpc>
              <a:spcBef>
                <a:spcPts val="1200"/>
              </a:spcBef>
              <a:spcAft>
                <a:spcPts val="0"/>
              </a:spcAft>
              <a:buClr>
                <a:schemeClr val="dk1"/>
              </a:buClr>
              <a:buSzPts val="1100"/>
              <a:buFont typeface="Arial"/>
              <a:buNone/>
            </a:pPr>
            <a:r>
              <a:rPr lang="en-US"/>
              <a:t>這個方法比較像 classical autoencoder。</a:t>
            </a:r>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紅線：SWAP-Based</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這是 QAE 用 </a:t>
            </a:r>
            <a:r>
              <a:rPr lang="en-US" b="1">
                <a:solidFill>
                  <a:schemeClr val="dk1"/>
                </a:solidFill>
              </a:rPr>
              <a:t>Swap-Test latent analysis</a:t>
            </a:r>
            <a:r>
              <a:rPr lang="en-US">
                <a:solidFill>
                  <a:schemeClr val="dk1"/>
                </a:solidFill>
              </a:rPr>
              <a:t> 做 anomaly score。</a:t>
            </a:r>
            <a:endParaRPr>
              <a:solidFill>
                <a:schemeClr val="dk1"/>
              </a:solidFill>
            </a:endParaRPr>
          </a:p>
          <a:p>
            <a:pPr marL="0" lvl="0" indent="0" algn="l" rtl="0">
              <a:spcBef>
                <a:spcPts val="1200"/>
              </a:spcBef>
              <a:spcAft>
                <a:spcPts val="0"/>
              </a:spcAft>
              <a:buNone/>
            </a:pPr>
            <a:r>
              <a:rPr lang="en-US"/>
              <a:t>如果 trash qubit 跟 ∣0⟩ 差很多，代表這個 window 壓縮不好，可能是 anomaly。 </a:t>
            </a:r>
            <a:endParaRPr/>
          </a:p>
          <a:p>
            <a:pPr marL="0" lvl="0" indent="0" algn="l" rtl="0">
              <a:spcBef>
                <a:spcPts val="0"/>
              </a:spcBef>
              <a:spcAft>
                <a:spcPts val="0"/>
              </a:spcAft>
              <a:buNone/>
            </a:pPr>
            <a:endParaRPr/>
          </a:p>
          <a:p>
            <a:pPr marL="0" lvl="0" indent="0" algn="l" rtl="0">
              <a:lnSpc>
                <a:spcPct val="115000"/>
              </a:lnSpc>
              <a:spcBef>
                <a:spcPts val="1800"/>
              </a:spcBef>
              <a:spcAft>
                <a:spcPts val="0"/>
              </a:spcAft>
              <a:buClr>
                <a:schemeClr val="dk1"/>
              </a:buClr>
              <a:buSzPts val="1100"/>
              <a:buFont typeface="Arial"/>
              <a:buNone/>
            </a:pPr>
            <a:r>
              <a:rPr lang="en-US" sz="1700" b="1">
                <a:solidFill>
                  <a:schemeClr val="dk1"/>
                </a:solidFill>
              </a:rPr>
              <a:t>主要觀察 1：SWAP-Based 通常比 MSE-Based 好</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你可以看到很多 dataset 裡，紅線比黑線高。</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這表示：</a:t>
            </a:r>
            <a:endParaRPr>
              <a:solidFill>
                <a:schemeClr val="dk1"/>
              </a:solidFill>
            </a:endParaRPr>
          </a:p>
          <a:p>
            <a:pPr marL="0" lvl="0" indent="0" algn="l" rtl="0">
              <a:spcBef>
                <a:spcPts val="1200"/>
              </a:spcBef>
              <a:spcAft>
                <a:spcPts val="0"/>
              </a:spcAft>
              <a:buNone/>
            </a:pPr>
            <a:r>
              <a:rPr lang="en-US">
                <a:solidFill>
                  <a:schemeClr val="dk1"/>
                </a:solidFill>
              </a:rPr>
              <a:t>直接看 latent/trash compression quality，常常比完整 reconstruction 更有效。</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原因是 MSE 要重建整個 128-point window，要求很高；只要 reconstruction 有 noise，就可能影響 anomaly score。但 SWAP-Based 只問一件事：這個 window 的資訊能不能被壓進 latent qubits，讓 trash qubit 接近 ∣0⟩？這比較直接對應 QAE 的訓練目標。</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p:txBody>
      </p:sp>
      <p:sp>
        <p:nvSpPr>
          <p:cNvPr id="1094" name="Google Shape;1094;g3f548fae03d_1_4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3f548fae03d_1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這頁是在解釋：</a:t>
            </a:r>
            <a:r>
              <a:rPr lang="en-US" b="1">
                <a:solidFill>
                  <a:schemeClr val="dk1"/>
                </a:solidFill>
              </a:rPr>
              <a:t>為什麼同樣都是 QAE，有些設定會偵測得好，有些設定會失敗。</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它主要在比較三件事：</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anomaly score 的選擇、training loss、ansatz complexity</a:t>
            </a:r>
            <a:endParaRPr sz="1700" b="1">
              <a:solidFill>
                <a:schemeClr val="dk1"/>
              </a:solidFill>
            </a:endParaRPr>
          </a:p>
          <a:p>
            <a:pPr marL="381000" marR="381000" lvl="0" indent="0" algn="l" rtl="0">
              <a:lnSpc>
                <a:spcPct val="115000"/>
              </a:lnSpc>
              <a:spcBef>
                <a:spcPts val="1200"/>
              </a:spcBef>
              <a:spcAft>
                <a:spcPts val="0"/>
              </a:spcAft>
              <a:buNone/>
            </a:pPr>
            <a:r>
              <a:rPr lang="en-US">
                <a:solidFill>
                  <a:schemeClr val="dk1"/>
                </a:solidFill>
              </a:rPr>
              <a:t>QAE 的表現不是只看「是不是量子模型」，而是很依賴 </a:t>
            </a:r>
            <a:r>
              <a:rPr lang="en-US" b="1">
                <a:solidFill>
                  <a:schemeClr val="dk1"/>
                </a:solidFill>
              </a:rPr>
              <a:t>用 Swap-Test 還是 MSE 當 anomaly score</a:t>
            </a:r>
            <a:r>
              <a:rPr lang="en-US">
                <a:solidFill>
                  <a:schemeClr val="dk1"/>
                </a:solidFill>
              </a:rPr>
              <a:t>，以及 </a:t>
            </a:r>
            <a:r>
              <a:rPr lang="en-US" b="1">
                <a:solidFill>
                  <a:schemeClr val="dk1"/>
                </a:solidFill>
              </a:rPr>
              <a:t>ansatz 架構和參數量是否適合訓練</a:t>
            </a:r>
            <a:r>
              <a:rPr lang="en-US">
                <a:solidFill>
                  <a:schemeClr val="dk1"/>
                </a:solidFill>
              </a:rPr>
              <a:t>。</a:t>
            </a:r>
            <a:endParaRPr>
              <a:solidFill>
                <a:schemeClr val="dk1"/>
              </a:solidFill>
            </a:endParaRPr>
          </a:p>
          <a:p>
            <a:pPr marL="0" lvl="0" indent="0" algn="l" rtl="0">
              <a:lnSpc>
                <a:spcPct val="115000"/>
              </a:lnSpc>
              <a:spcBef>
                <a:spcPts val="1800"/>
              </a:spcBef>
              <a:spcAft>
                <a:spcPts val="0"/>
              </a:spcAft>
              <a:buNone/>
            </a:pPr>
            <a:r>
              <a:rPr lang="en-US" sz="1700" b="1">
                <a:solidFill>
                  <a:schemeClr val="dk1"/>
                </a:solidFill>
              </a:rPr>
              <a:t>為什麼 Swap-Test 有時比較強？</a:t>
            </a:r>
            <a:endParaRPr sz="1700" b="1">
              <a:solidFill>
                <a:schemeClr val="dk1"/>
              </a:solidFill>
            </a:endParaRPr>
          </a:p>
          <a:p>
            <a:pPr marL="0" lvl="0" indent="0" algn="l" rtl="0">
              <a:lnSpc>
                <a:spcPct val="115000"/>
              </a:lnSpc>
              <a:spcBef>
                <a:spcPts val="1200"/>
              </a:spcBef>
              <a:spcAft>
                <a:spcPts val="0"/>
              </a:spcAft>
              <a:buNone/>
            </a:pPr>
            <a:r>
              <a:rPr lang="en-US">
                <a:solidFill>
                  <a:schemeClr val="dk1"/>
                </a:solidFill>
              </a:rPr>
              <a:t>這頁下面寫 </a:t>
            </a:r>
            <a:r>
              <a:rPr lang="en-US" b="1">
                <a:solidFill>
                  <a:schemeClr val="dk1"/>
                </a:solidFill>
              </a:rPr>
              <a:t>Swap-Test strength</a:t>
            </a:r>
            <a:r>
              <a:rPr lang="en-US">
                <a:solidFill>
                  <a:schemeClr val="dk1"/>
                </a:solidFill>
              </a:rPr>
              <a:t>：More robust at higher training loss.</a:t>
            </a:r>
            <a:endParaRPr>
              <a:solidFill>
                <a:schemeClr val="dk1"/>
              </a:solidFill>
            </a:endParaRPr>
          </a:p>
          <a:p>
            <a:pPr marL="0" lvl="0" indent="0" algn="l" rtl="0">
              <a:lnSpc>
                <a:spcPct val="115000"/>
              </a:lnSpc>
              <a:spcBef>
                <a:spcPts val="1200"/>
              </a:spcBef>
              <a:spcAft>
                <a:spcPts val="0"/>
              </a:spcAft>
              <a:buNone/>
            </a:pPr>
            <a:r>
              <a:rPr lang="en-US">
                <a:solidFill>
                  <a:schemeClr val="dk1"/>
                </a:solidFill>
              </a:rPr>
              <a:t>意思是： 就算 QAE 沒有訓練到非常低的 loss，Swap-Test score 還是可能抓到 anomaly。原因是 Swap-Test 不需要重建完整 128 個數值，它只看：</a:t>
            </a:r>
            <a:endParaRPr>
              <a:solidFill>
                <a:schemeClr val="dk1"/>
              </a:solidFill>
            </a:endParaRPr>
          </a:p>
          <a:p>
            <a:pPr marL="0" lvl="0" indent="0" algn="l" rtl="0">
              <a:lnSpc>
                <a:spcPct val="115000"/>
              </a:lnSpc>
              <a:spcBef>
                <a:spcPts val="1200"/>
              </a:spcBef>
              <a:spcAft>
                <a:spcPts val="0"/>
              </a:spcAft>
              <a:buNone/>
            </a:pPr>
            <a:r>
              <a:rPr lang="en-US">
                <a:solidFill>
                  <a:schemeClr val="dk1"/>
                </a:solidFill>
              </a:rPr>
              <a:t>這個 window 能不能被 encoder 壓進 latent space 所以它比較接近 QAE 的 training objective。</a:t>
            </a:r>
            <a:endParaRPr>
              <a:solidFill>
                <a:schemeClr val="dk1"/>
              </a:solidFill>
            </a:endParaRPr>
          </a:p>
          <a:p>
            <a:pPr marL="0" lvl="0" indent="0" algn="l" rtl="0">
              <a:lnSpc>
                <a:spcPct val="115000"/>
              </a:lnSpc>
              <a:spcBef>
                <a:spcPts val="1200"/>
              </a:spcBef>
              <a:spcAft>
                <a:spcPts val="0"/>
              </a:spcAft>
              <a:buNone/>
            </a:pPr>
            <a:r>
              <a:rPr lang="en-US">
                <a:solidFill>
                  <a:schemeClr val="dk1"/>
                </a:solidFill>
              </a:rPr>
              <a:t>對 subtle anomaly 來說，如果 reconstruction 本身有 noise，MSE 可能被干擾；但 Swap-Test 可以直接看 latent compression 是否異常。</a:t>
            </a:r>
            <a:endParaRPr>
              <a:solidFill>
                <a:schemeClr val="dk1"/>
              </a:solidFill>
            </a:endParaRPr>
          </a:p>
          <a:p>
            <a:pPr marL="0" lvl="0" indent="0" algn="l" rtl="0">
              <a:lnSpc>
                <a:spcPct val="115000"/>
              </a:lnSpc>
              <a:spcBef>
                <a:spcPts val="1800"/>
              </a:spcBef>
              <a:spcAft>
                <a:spcPts val="0"/>
              </a:spcAft>
              <a:buNone/>
            </a:pPr>
            <a:r>
              <a:rPr lang="en-US" sz="1700" b="1">
                <a:solidFill>
                  <a:schemeClr val="dk1"/>
                </a:solidFill>
              </a:rPr>
              <a:t>MSE 的優點和缺點</a:t>
            </a:r>
            <a:endParaRPr sz="1700" b="1">
              <a:solidFill>
                <a:schemeClr val="dk1"/>
              </a:solidFill>
            </a:endParaRPr>
          </a:p>
          <a:p>
            <a:pPr marL="0" lvl="0" indent="0" algn="l" rtl="0">
              <a:lnSpc>
                <a:spcPct val="115000"/>
              </a:lnSpc>
              <a:spcBef>
                <a:spcPts val="1200"/>
              </a:spcBef>
              <a:spcAft>
                <a:spcPts val="0"/>
              </a:spcAft>
              <a:buNone/>
            </a:pPr>
            <a:r>
              <a:rPr lang="en-US">
                <a:solidFill>
                  <a:schemeClr val="dk1"/>
                </a:solidFill>
              </a:rPr>
              <a:t>MSE-based 的優點是：如果 reconstruction 做得非常準，它可以很直觀地找出重建不好的 anomaly。</a:t>
            </a:r>
            <a:endParaRPr>
              <a:solidFill>
                <a:schemeClr val="dk1"/>
              </a:solidFill>
            </a:endParaRPr>
          </a:p>
          <a:p>
            <a:pPr marL="0" lvl="0" indent="0" algn="l" rtl="0">
              <a:lnSpc>
                <a:spcPct val="115000"/>
              </a:lnSpc>
              <a:spcBef>
                <a:spcPts val="1200"/>
              </a:spcBef>
              <a:spcAft>
                <a:spcPts val="0"/>
              </a:spcAft>
              <a:buNone/>
            </a:pPr>
            <a:r>
              <a:rPr lang="en-US">
                <a:solidFill>
                  <a:schemeClr val="dk1"/>
                </a:solidFill>
              </a:rPr>
              <a:t>但缺點是它需要完整還原：128 values 也就是整個 time window。</a:t>
            </a:r>
            <a:endParaRPr>
              <a:solidFill>
                <a:schemeClr val="dk1"/>
              </a:solidFill>
            </a:endParaRPr>
          </a:p>
          <a:p>
            <a:pPr marL="0" lvl="0" indent="0" algn="l" rtl="0">
              <a:lnSpc>
                <a:spcPct val="115000"/>
              </a:lnSpc>
              <a:spcBef>
                <a:spcPts val="1200"/>
              </a:spcBef>
              <a:spcAft>
                <a:spcPts val="0"/>
              </a:spcAft>
              <a:buNone/>
            </a:pPr>
            <a:r>
              <a:rPr lang="en-US">
                <a:solidFill>
                  <a:schemeClr val="dk1"/>
                </a:solidFill>
              </a:rPr>
              <a:t>所以只要 decoder reconstruction 稍微有 noise，MSE anomaly score 就可能不穩。</a:t>
            </a:r>
            <a:endParaRPr>
              <a:solidFill>
                <a:schemeClr val="dk1"/>
              </a:solidFill>
            </a:endParaRPr>
          </a:p>
          <a:p>
            <a:pPr marL="0" lvl="0" indent="0" algn="l" rtl="0">
              <a:lnSpc>
                <a:spcPct val="115000"/>
              </a:lnSpc>
              <a:spcBef>
                <a:spcPts val="1800"/>
              </a:spcBef>
              <a:spcAft>
                <a:spcPts val="0"/>
              </a:spcAft>
              <a:buNone/>
            </a:pPr>
            <a:r>
              <a:rPr lang="en-US" sz="1700" b="1">
                <a:solidFill>
                  <a:schemeClr val="dk1"/>
                </a:solidFill>
              </a:rPr>
              <a:t>右邊兩張圖：ansatz complexity</a:t>
            </a:r>
            <a:endParaRPr sz="1700" b="1">
              <a:solidFill>
                <a:schemeClr val="dk1"/>
              </a:solidFill>
            </a:endParaRPr>
          </a:p>
          <a:p>
            <a:pPr marL="0" lvl="0" indent="0" algn="l" rtl="0">
              <a:lnSpc>
                <a:spcPct val="115000"/>
              </a:lnSpc>
              <a:spcBef>
                <a:spcPts val="1200"/>
              </a:spcBef>
              <a:spcAft>
                <a:spcPts val="0"/>
              </a:spcAft>
              <a:buNone/>
            </a:pPr>
            <a:r>
              <a:rPr lang="en-US">
                <a:solidFill>
                  <a:schemeClr val="dk1"/>
                </a:solidFill>
              </a:rPr>
              <a:t>右邊兩張圖是在看：parameters 數量對：training loss 的影響。</a:t>
            </a:r>
            <a:endParaRPr>
              <a:solidFill>
                <a:schemeClr val="dk1"/>
              </a:solidFill>
            </a:endParaRPr>
          </a:p>
          <a:p>
            <a:pPr marL="0" lvl="0" indent="0" algn="l" rtl="0">
              <a:lnSpc>
                <a:spcPct val="115000"/>
              </a:lnSpc>
              <a:spcBef>
                <a:spcPts val="1200"/>
              </a:spcBef>
              <a:spcAft>
                <a:spcPts val="0"/>
              </a:spcAft>
              <a:buNone/>
            </a:pPr>
            <a:r>
              <a:rPr lang="en-US">
                <a:solidFill>
                  <a:schemeClr val="dk1"/>
                </a:solidFill>
              </a:rPr>
              <a:t>重點是：</a:t>
            </a:r>
            <a:r>
              <a:rPr lang="en-US" b="1">
                <a:solidFill>
                  <a:schemeClr val="dk1"/>
                </a:solidFill>
              </a:rPr>
              <a:t>參數越多不一定越好。</a:t>
            </a:r>
            <a:endParaRPr b="1">
              <a:solidFill>
                <a:schemeClr val="dk1"/>
              </a:solidFill>
            </a:endParaRPr>
          </a:p>
          <a:p>
            <a:pPr marL="0" lvl="0" indent="0" algn="l" rtl="0">
              <a:lnSpc>
                <a:spcPct val="115000"/>
              </a:lnSpc>
              <a:spcBef>
                <a:spcPts val="1200"/>
              </a:spcBef>
              <a:spcAft>
                <a:spcPts val="1200"/>
              </a:spcAft>
              <a:buNone/>
            </a:pPr>
            <a:r>
              <a:rPr lang="en-US">
                <a:solidFill>
                  <a:schemeClr val="dk1"/>
                </a:solidFill>
              </a:rPr>
              <a:t>理論上，ansatz deeper、parameters 更多，模型表達能力可能更強。但實際上用 COBYLA 訓練時，參數太多可能更難 optimize，training loss 反而上升。ansatz selection 是核心設計選擇，不是小細節。</a:t>
            </a:r>
            <a:endParaRPr>
              <a:solidFill>
                <a:schemeClr val="dk1"/>
              </a:solidFill>
            </a:endParaRPr>
          </a:p>
        </p:txBody>
      </p:sp>
      <p:sp>
        <p:nvSpPr>
          <p:cNvPr id="1121" name="Google Shape;1121;g3f548fae03d_1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3f548fae03d_1_5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rPr>
              <a:t>雖然 QAE 參數少，但在真正 quantum hardware 上跑，</a:t>
            </a:r>
            <a:r>
              <a:rPr lang="en-US" b="1">
                <a:solidFill>
                  <a:schemeClr val="dk1"/>
                </a:solidFill>
              </a:rPr>
              <a:t>時間成本和金錢成本都非常高</a:t>
            </a:r>
            <a:r>
              <a:rPr lang="en-US">
                <a:solidFill>
                  <a:schemeClr val="dk1"/>
                </a:solidFill>
              </a:rPr>
              <a:t>。 </a:t>
            </a:r>
            <a:endParaRPr>
              <a:solidFill>
                <a:schemeClr val="dk1"/>
              </a:solidFill>
            </a:endParaRPr>
          </a:p>
          <a:p>
            <a:pPr marL="0" lvl="0" indent="0" algn="l" rtl="0">
              <a:spcBef>
                <a:spcPts val="0"/>
              </a:spcBef>
              <a:spcAft>
                <a:spcPts val="0"/>
              </a:spcAft>
              <a:buNone/>
            </a:pPr>
            <a:r>
              <a:rPr lang="en-US">
                <a:solidFill>
                  <a:schemeClr val="dk1"/>
                </a:solidFill>
              </a:rPr>
              <a:t>QAE 在模型參數上很省，但目前真實量子硬體執行很慢、很貴，所以還沒有實務速度優勢。</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左邊圖是比較 </a:t>
            </a:r>
            <a:r>
              <a:rPr lang="en-US" b="1">
                <a:solidFill>
                  <a:schemeClr val="dk1"/>
                </a:solidFill>
              </a:rPr>
              <a:t>IBM Torino real quantum hardware</a:t>
            </a:r>
            <a:r>
              <a:rPr lang="en-US">
                <a:solidFill>
                  <a:schemeClr val="dk1"/>
                </a:solidFill>
              </a:rPr>
              <a:t> 和 </a:t>
            </a:r>
            <a:r>
              <a:rPr lang="en-US" b="1">
                <a:solidFill>
                  <a:schemeClr val="dk1"/>
                </a:solidFill>
              </a:rPr>
              <a:t>statevector simulator</a:t>
            </a:r>
            <a:r>
              <a:rPr lang="en-US">
                <a:solidFill>
                  <a:schemeClr val="dk1"/>
                </a:solidFill>
              </a:rPr>
              <a:t> 的 training loss。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橫軸是：Epoch 縱軸是：Train Loss 也就是 Swap-Test measurement 的 loss。loss 越低，代表 trash qubit 越接近 reference ∣0⟩，QAE 壓縮 normal windows 的效果越好。圖中的灰色是 simulator，紅色是 IBM Torino。</a:t>
            </a:r>
            <a:endParaRPr>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US" sz="1700" b="1">
                <a:solidFill>
                  <a:schemeClr val="dk1"/>
                </a:solidFill>
              </a:rPr>
              <a:t>圖的重點</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1. Simulator loss 掉得比較快</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灰色 simulator 的 loss 下降比較快，也比較低。</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這很合理，因為 simulator 沒有真實硬體 noise。</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2. IBM Torino loss 比較 noisy</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紅色 IBM Torino 的 loss 也有下降，但波動比較大，而且最後 loss 比 simulator 高。</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300" b="1">
                <a:solidFill>
                  <a:schemeClr val="dk1"/>
                </a:solidFill>
              </a:rPr>
              <a:t>3. 但 hardware 還是有收斂</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雖然 IBM Torino 比 simulator noisy，但紅色曲線仍然從約 0.4 降到約 0.14 左右。</a:t>
            </a:r>
            <a:endParaRPr>
              <a:solidFill>
                <a:schemeClr val="dk1"/>
              </a:solidFill>
            </a:endParaRPr>
          </a:p>
          <a:p>
            <a:pPr marL="0" lvl="0" indent="0" algn="l" rtl="0">
              <a:lnSpc>
                <a:spcPct val="115000"/>
              </a:lnSpc>
              <a:spcBef>
                <a:spcPts val="1200"/>
              </a:spcBef>
              <a:spcAft>
                <a:spcPts val="1200"/>
              </a:spcAft>
              <a:buNone/>
            </a:pPr>
            <a:r>
              <a:rPr lang="en-US">
                <a:solidFill>
                  <a:schemeClr val="dk1"/>
                </a:solidFill>
              </a:rPr>
              <a:t>所以作者想表達：real hardware 比 simulator 差，但仍然可以訓練出可用的 QAE。</a:t>
            </a:r>
            <a:endParaRPr>
              <a:solidFill>
                <a:schemeClr val="dk1"/>
              </a:solidFill>
            </a:endParaRPr>
          </a:p>
        </p:txBody>
      </p:sp>
      <p:sp>
        <p:nvSpPr>
          <p:cNvPr id="1149" name="Google Shape;1149;g3f548fae03d_1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3" name="Google Shape;23;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9" name="Google Shape;29;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2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5" name="Google Shape;35;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2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2" name="Google Shape;42;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8" name="Google Shape;48;p3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9" name="Google Shape;49;p3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0" name="Google Shape;50;p3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1" name="Google Shape;51;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3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3"/>
          <p:cNvSpPr>
            <a:spLocks noGrp="1"/>
          </p:cNvSpPr>
          <p:nvPr>
            <p:ph type="pic" idx="2"/>
          </p:nvPr>
        </p:nvSpPr>
        <p:spPr>
          <a:xfrm>
            <a:off x="1792288" y="612775"/>
            <a:ext cx="5486400" cy="4114800"/>
          </a:xfrm>
          <a:prstGeom prst="rect">
            <a:avLst/>
          </a:prstGeom>
          <a:noFill/>
          <a:ln>
            <a:noFill/>
          </a:ln>
        </p:spPr>
      </p:sp>
      <p:sp>
        <p:nvSpPr>
          <p:cNvPr id="64" name="Google Shape;64;p3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8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8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0.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
        <p:cNvGrpSpPr/>
        <p:nvPr/>
      </p:nvGrpSpPr>
      <p:grpSpPr>
        <a:xfrm>
          <a:off x="0" y="0"/>
          <a:ext cx="0" cy="0"/>
          <a:chOff x="0" y="0"/>
          <a:chExt cx="0" cy="0"/>
        </a:xfrm>
      </p:grpSpPr>
      <p:sp>
        <p:nvSpPr>
          <p:cNvPr id="86" name="Google Shape;86;p1"/>
          <p:cNvSpPr/>
          <p:nvPr/>
        </p:nvSpPr>
        <p:spPr>
          <a:xfrm>
            <a:off x="7360920" y="822960"/>
            <a:ext cx="4480500" cy="3108900"/>
          </a:xfrm>
          <a:prstGeom prst="roundRect">
            <a:avLst>
              <a:gd name="adj" fmla="val 16667"/>
            </a:avLst>
          </a:prstGeom>
          <a:solidFill>
            <a:srgbClr val="E8F2F7"/>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
          <p:cNvSpPr/>
          <p:nvPr/>
        </p:nvSpPr>
        <p:spPr>
          <a:xfrm>
            <a:off x="8869680" y="2240280"/>
            <a:ext cx="2834640" cy="2743200"/>
          </a:xfrm>
          <a:prstGeom prst="roundRect">
            <a:avLst>
              <a:gd name="adj" fmla="val 16667"/>
            </a:avLst>
          </a:prstGeom>
          <a:solidFill>
            <a:srgbClr val="FEEEE7"/>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
          <p:cNvSpPr/>
          <p:nvPr/>
        </p:nvSpPr>
        <p:spPr>
          <a:xfrm>
            <a:off x="566923" y="2405563"/>
            <a:ext cx="86400" cy="24126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
          <p:cNvSpPr txBox="1"/>
          <p:nvPr/>
        </p:nvSpPr>
        <p:spPr>
          <a:xfrm>
            <a:off x="566928" y="329184"/>
            <a:ext cx="5394960" cy="27432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300"/>
              <a:buFont typeface="Arial"/>
              <a:buNone/>
            </a:pPr>
            <a:r>
              <a:rPr lang="en-US" sz="1300" b="1" i="0" u="none" strike="noStrike" cap="none">
                <a:solidFill>
                  <a:srgbClr val="06507A"/>
                </a:solidFill>
                <a:latin typeface="Arial"/>
                <a:ea typeface="Arial"/>
                <a:cs typeface="Arial"/>
                <a:sym typeface="Arial"/>
              </a:rPr>
              <a:t>École Polytechnique de Montréal</a:t>
            </a:r>
            <a:endParaRPr sz="1400" b="0" i="0" u="none" strike="noStrike" cap="none">
              <a:solidFill>
                <a:srgbClr val="000000"/>
              </a:solidFill>
              <a:latin typeface="Arial"/>
              <a:ea typeface="Arial"/>
              <a:cs typeface="Arial"/>
              <a:sym typeface="Arial"/>
            </a:endParaRPr>
          </a:p>
        </p:txBody>
      </p:sp>
      <p:sp>
        <p:nvSpPr>
          <p:cNvPr id="90" name="Google Shape;90;p1"/>
          <p:cNvSpPr txBox="1"/>
          <p:nvPr/>
        </p:nvSpPr>
        <p:spPr>
          <a:xfrm>
            <a:off x="898146" y="2713615"/>
            <a:ext cx="6455700" cy="3633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2000"/>
              <a:buFont typeface="Arial"/>
              <a:buNone/>
            </a:pPr>
            <a:r>
              <a:rPr lang="en-US" sz="2000" b="1">
                <a:solidFill>
                  <a:srgbClr val="06507A"/>
                </a:solidFill>
              </a:rPr>
              <a:t>Paper Presentation</a:t>
            </a:r>
            <a:endParaRPr sz="2000" b="1" i="0" u="none" strike="noStrike" cap="none">
              <a:solidFill>
                <a:srgbClr val="06507A"/>
              </a:solidFill>
              <a:latin typeface="Arial"/>
              <a:ea typeface="Arial"/>
              <a:cs typeface="Arial"/>
              <a:sym typeface="Arial"/>
            </a:endParaRPr>
          </a:p>
        </p:txBody>
      </p:sp>
      <p:sp>
        <p:nvSpPr>
          <p:cNvPr id="91" name="Google Shape;91;p1"/>
          <p:cNvSpPr txBox="1"/>
          <p:nvPr/>
        </p:nvSpPr>
        <p:spPr>
          <a:xfrm>
            <a:off x="763525" y="3076901"/>
            <a:ext cx="7974600" cy="7941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4800"/>
              <a:buFont typeface="Arial"/>
              <a:buNone/>
            </a:pPr>
            <a:r>
              <a:rPr lang="en-US" sz="4800" b="1" i="0" u="none" strike="noStrike" cap="none">
                <a:solidFill>
                  <a:srgbClr val="1A1A1A"/>
                </a:solidFill>
                <a:latin typeface="Arial"/>
                <a:ea typeface="Arial"/>
                <a:cs typeface="Arial"/>
                <a:sym typeface="Arial"/>
              </a:rPr>
              <a:t>2026.07.17 Meeting</a:t>
            </a:r>
            <a:endParaRPr sz="4800" b="1" i="0" u="none" strike="noStrike" cap="none">
              <a:solidFill>
                <a:srgbClr val="1A1A1A"/>
              </a:solidFill>
              <a:latin typeface="Arial"/>
              <a:ea typeface="Arial"/>
              <a:cs typeface="Arial"/>
              <a:sym typeface="Arial"/>
            </a:endParaRPr>
          </a:p>
        </p:txBody>
      </p:sp>
      <p:sp>
        <p:nvSpPr>
          <p:cNvPr id="92" name="Google Shape;92;p1"/>
          <p:cNvSpPr txBox="1"/>
          <p:nvPr/>
        </p:nvSpPr>
        <p:spPr>
          <a:xfrm>
            <a:off x="898153" y="4319751"/>
            <a:ext cx="6217800" cy="301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600"/>
              <a:buFont typeface="Arial"/>
              <a:buNone/>
            </a:pPr>
            <a:r>
              <a:rPr lang="en-US" sz="1600" b="0" i="0" u="none" strike="noStrike" cap="none">
                <a:solidFill>
                  <a:srgbClr val="666666"/>
                </a:solidFill>
                <a:latin typeface="Arial"/>
                <a:ea typeface="Arial"/>
                <a:cs typeface="Arial"/>
                <a:sym typeface="Arial"/>
              </a:rPr>
              <a:t>Participant: Justin, Anum</a:t>
            </a:r>
            <a:endParaRPr sz="1600" b="0" i="0" u="none" strike="noStrike" cap="none">
              <a:solidFill>
                <a:srgbClr val="666666"/>
              </a:solidFill>
              <a:latin typeface="Arial"/>
              <a:ea typeface="Arial"/>
              <a:cs typeface="Arial"/>
              <a:sym typeface="Arial"/>
            </a:endParaRPr>
          </a:p>
        </p:txBody>
      </p:sp>
      <p:sp>
        <p:nvSpPr>
          <p:cNvPr id="93" name="Google Shape;93;p1"/>
          <p:cNvSpPr/>
          <p:nvPr/>
        </p:nvSpPr>
        <p:spPr>
          <a:xfrm>
            <a:off x="0" y="5532120"/>
            <a:ext cx="12191695" cy="1325880"/>
          </a:xfrm>
          <a:prstGeom prst="rect">
            <a:avLst/>
          </a:prstGeom>
          <a:solidFill>
            <a:srgbClr val="06507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
          <p:cNvSpPr txBox="1"/>
          <p:nvPr/>
        </p:nvSpPr>
        <p:spPr>
          <a:xfrm>
            <a:off x="660402" y="6302696"/>
            <a:ext cx="2475600" cy="2400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200"/>
              <a:buFont typeface="Arial"/>
              <a:buNone/>
            </a:pPr>
            <a:r>
              <a:rPr lang="en-US" sz="1200" b="0" i="0" u="none" strike="noStrike" cap="none">
                <a:solidFill>
                  <a:srgbClr val="FFFFFF"/>
                </a:solidFill>
                <a:latin typeface="Arial"/>
                <a:ea typeface="Arial"/>
                <a:cs typeface="Arial"/>
                <a:sym typeface="Arial"/>
              </a:rPr>
              <a:t>MITACS Research Meeting · 2026</a:t>
            </a:r>
            <a:endParaRPr sz="1400" b="0" i="0" u="none" strike="noStrike" cap="none">
              <a:solidFill>
                <a:srgbClr val="000000"/>
              </a:solidFill>
              <a:latin typeface="Arial"/>
              <a:ea typeface="Arial"/>
              <a:cs typeface="Arial"/>
              <a:sym typeface="Arial"/>
            </a:endParaRPr>
          </a:p>
        </p:txBody>
      </p:sp>
      <p:sp>
        <p:nvSpPr>
          <p:cNvPr id="95" name="Google Shape;95;p1"/>
          <p:cNvSpPr txBox="1"/>
          <p:nvPr/>
        </p:nvSpPr>
        <p:spPr>
          <a:xfrm>
            <a:off x="7256173" y="6302700"/>
            <a:ext cx="5076600" cy="4341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200"/>
              <a:buFont typeface="Arial"/>
              <a:buNone/>
            </a:pPr>
            <a:r>
              <a:rPr lang="en-US" sz="1200">
                <a:solidFill>
                  <a:srgbClr val="FFFFFF"/>
                </a:solidFill>
              </a:rPr>
              <a:t>Quantum Computing and Genetic Algorithms for Software Testing</a:t>
            </a:r>
            <a:endParaRPr sz="1200">
              <a:solidFill>
                <a:srgbClr val="FFFFFF"/>
              </a:solidFill>
            </a:endParaRPr>
          </a:p>
          <a:p>
            <a:pPr marL="0" marR="0" lvl="0" indent="0" algn="l" rtl="0">
              <a:lnSpc>
                <a:spcPct val="105000"/>
              </a:lnSpc>
              <a:spcBef>
                <a:spcPts val="0"/>
              </a:spcBef>
              <a:spcAft>
                <a:spcPts val="0"/>
              </a:spcAft>
              <a:buClr>
                <a:srgbClr val="000000"/>
              </a:buClr>
              <a:buSzPts val="1200"/>
              <a:buFont typeface="Arial"/>
              <a:buNone/>
            </a:pPr>
            <a:endParaRPr sz="12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5519"/>
        </a:solidFill>
        <a:effectLst/>
      </p:bgPr>
    </p:bg>
    <p:spTree>
      <p:nvGrpSpPr>
        <p:cNvPr id="1" name="Shape 99"/>
        <p:cNvGrpSpPr/>
        <p:nvPr/>
      </p:nvGrpSpPr>
      <p:grpSpPr>
        <a:xfrm>
          <a:off x="0" y="0"/>
          <a:ext cx="0" cy="0"/>
          <a:chOff x="0" y="0"/>
          <a:chExt cx="0" cy="0"/>
        </a:xfrm>
      </p:grpSpPr>
      <p:sp>
        <p:nvSpPr>
          <p:cNvPr id="100" name="Google Shape;100;g3f5404c3592_0_112"/>
          <p:cNvSpPr txBox="1"/>
          <p:nvPr/>
        </p:nvSpPr>
        <p:spPr>
          <a:xfrm>
            <a:off x="576005" y="324000"/>
            <a:ext cx="5760000" cy="1861500"/>
          </a:xfrm>
          <a:prstGeom prst="rect">
            <a:avLst/>
          </a:prstGeom>
          <a:noFill/>
          <a:ln>
            <a:noFill/>
          </a:ln>
        </p:spPr>
        <p:txBody>
          <a:bodyPr spcFirstLastPara="1" wrap="square" lIns="18000" tIns="7200" rIns="18000" bIns="7200" anchor="t" anchorCtr="0">
            <a:spAutoFit/>
          </a:bodyPr>
          <a:lstStyle/>
          <a:p>
            <a:pPr marL="0" marR="0" lvl="0" indent="0" algn="l" rtl="0">
              <a:lnSpc>
                <a:spcPct val="100000"/>
              </a:lnSpc>
              <a:spcBef>
                <a:spcPts val="0"/>
              </a:spcBef>
              <a:spcAft>
                <a:spcPts val="0"/>
              </a:spcAft>
              <a:buClr>
                <a:srgbClr val="000000"/>
              </a:buClr>
              <a:buSzPts val="12000"/>
              <a:buFont typeface="Arial"/>
              <a:buNone/>
            </a:pPr>
            <a:r>
              <a:rPr lang="en-US" sz="3600" b="0" i="0" u="none" strike="noStrike" cap="none">
                <a:solidFill>
                  <a:srgbClr val="FFFFFF"/>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101" name="Google Shape;101;g3f5404c3592_0_112"/>
          <p:cNvSpPr/>
          <p:nvPr/>
        </p:nvSpPr>
        <p:spPr>
          <a:xfrm>
            <a:off x="672006" y="4752000"/>
            <a:ext cx="1536000" cy="36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3" name="Google Shape;103;g3f5404c3592_0_112"/>
          <p:cNvSpPr txBox="1"/>
          <p:nvPr/>
        </p:nvSpPr>
        <p:spPr>
          <a:xfrm>
            <a:off x="672000" y="1828950"/>
            <a:ext cx="11031000" cy="3708600"/>
          </a:xfrm>
          <a:prstGeom prst="rect">
            <a:avLst/>
          </a:prstGeom>
          <a:noFill/>
          <a:ln>
            <a:noFill/>
          </a:ln>
        </p:spPr>
        <p:txBody>
          <a:bodyPr spcFirstLastPara="1" wrap="square" lIns="18000" tIns="7200" rIns="18000" bIns="72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6000" b="1">
                <a:solidFill>
                  <a:srgbClr val="FFFFFF"/>
                </a:solidFill>
              </a:rPr>
              <a:t>Paper 1 · Anomaly Detection in High-Energy Physics Using a Quantum Autoencoder</a:t>
            </a:r>
            <a:endParaRPr sz="6000" b="1">
              <a:solidFill>
                <a:srgbClr val="FFFFFF"/>
              </a:solidFill>
            </a:endParaRPr>
          </a:p>
          <a:p>
            <a:pPr marL="0" marR="0" lvl="0" indent="0" algn="l" rtl="0">
              <a:lnSpc>
                <a:spcPct val="100000"/>
              </a:lnSpc>
              <a:spcBef>
                <a:spcPts val="0"/>
              </a:spcBef>
              <a:spcAft>
                <a:spcPts val="0"/>
              </a:spcAft>
              <a:buClr>
                <a:srgbClr val="000000"/>
              </a:buClr>
              <a:buSzPts val="3600"/>
              <a:buFont typeface="Arial"/>
              <a:buNone/>
            </a:pPr>
            <a:endParaRPr sz="6000" b="1">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7"/>
        <p:cNvGrpSpPr/>
        <p:nvPr/>
      </p:nvGrpSpPr>
      <p:grpSpPr>
        <a:xfrm>
          <a:off x="0" y="0"/>
          <a:ext cx="0" cy="0"/>
          <a:chOff x="0" y="0"/>
          <a:chExt cx="0" cy="0"/>
        </a:xfrm>
      </p:grpSpPr>
      <p:sp>
        <p:nvSpPr>
          <p:cNvPr id="108" name="Google Shape;108;p3"/>
          <p:cNvSpPr/>
          <p:nvPr/>
        </p:nvSpPr>
        <p:spPr>
          <a:xfrm>
            <a:off x="338328" y="256032"/>
            <a:ext cx="50292"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3"/>
          <p:cNvSpPr txBox="1"/>
          <p:nvPr/>
        </p:nvSpPr>
        <p:spPr>
          <a:xfrm>
            <a:off x="448056" y="256032"/>
            <a:ext cx="9784080" cy="201168"/>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OVERVIEW</a:t>
            </a:r>
            <a:endParaRPr sz="1400" b="0" i="0" u="none" strike="noStrike" cap="none">
              <a:solidFill>
                <a:srgbClr val="000000"/>
              </a:solidFill>
              <a:latin typeface="Arial"/>
              <a:ea typeface="Arial"/>
              <a:cs typeface="Arial"/>
              <a:sym typeface="Arial"/>
            </a:endParaRPr>
          </a:p>
        </p:txBody>
      </p:sp>
      <p:sp>
        <p:nvSpPr>
          <p:cNvPr id="110" name="Google Shape;110;p3"/>
          <p:cNvSpPr txBox="1"/>
          <p:nvPr/>
        </p:nvSpPr>
        <p:spPr>
          <a:xfrm>
            <a:off x="448056" y="429768"/>
            <a:ext cx="9784080" cy="210312"/>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100"/>
              <a:buFont typeface="Arial"/>
              <a:buNone/>
            </a:pPr>
            <a:r>
              <a:rPr lang="en-US" sz="1100" b="0" i="0" u="none" strike="noStrike" cap="none">
                <a:solidFill>
                  <a:srgbClr val="666666"/>
                </a:solidFill>
                <a:latin typeface="Arial"/>
                <a:ea typeface="Arial"/>
                <a:cs typeface="Arial"/>
                <a:sym typeface="Arial"/>
              </a:rPr>
              <a:t>The complete story in one slide</a:t>
            </a:r>
            <a:endParaRPr sz="1400" b="0" i="0" u="none" strike="noStrike" cap="none">
              <a:solidFill>
                <a:srgbClr val="000000"/>
              </a:solidFill>
              <a:latin typeface="Arial"/>
              <a:ea typeface="Arial"/>
              <a:cs typeface="Arial"/>
              <a:sym typeface="Arial"/>
            </a:endParaRPr>
          </a:p>
        </p:txBody>
      </p:sp>
      <p:sp>
        <p:nvSpPr>
          <p:cNvPr id="111" name="Google Shape;111;p3"/>
          <p:cNvSpPr txBox="1"/>
          <p:nvPr/>
        </p:nvSpPr>
        <p:spPr>
          <a:xfrm>
            <a:off x="338328" y="783463"/>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2700"/>
              <a:buFont typeface="Arial"/>
              <a:buNone/>
            </a:pPr>
            <a:r>
              <a:rPr lang="en-US" sz="2400" b="1" i="0" u="none" strike="noStrike" cap="none">
                <a:solidFill>
                  <a:srgbClr val="1A1A1A"/>
                </a:solidFill>
                <a:latin typeface="Arial"/>
                <a:ea typeface="Arial"/>
                <a:cs typeface="Arial"/>
                <a:sym typeface="Arial"/>
              </a:rPr>
              <a:t>What does this paper do?</a:t>
            </a:r>
            <a:endParaRPr sz="2400" b="0" i="0" u="none" strike="noStrike" cap="none">
              <a:solidFill>
                <a:srgbClr val="000000"/>
              </a:solidFill>
              <a:latin typeface="Arial"/>
              <a:ea typeface="Arial"/>
              <a:cs typeface="Arial"/>
              <a:sym typeface="Arial"/>
            </a:endParaRPr>
          </a:p>
        </p:txBody>
      </p:sp>
      <p:cxnSp>
        <p:nvCxnSpPr>
          <p:cNvPr id="112" name="Google Shape;112;p3"/>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113" name="Google Shape;113;p3"/>
          <p:cNvSpPr/>
          <p:nvPr/>
        </p:nvSpPr>
        <p:spPr>
          <a:xfrm>
            <a:off x="0" y="6007608"/>
            <a:ext cx="12191695" cy="109728"/>
          </a:xfrm>
          <a:prstGeom prst="rect">
            <a:avLst/>
          </a:prstGeom>
          <a:solidFill>
            <a:srgbClr val="06507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txBox="1"/>
          <p:nvPr/>
        </p:nvSpPr>
        <p:spPr>
          <a:xfrm>
            <a:off x="347472" y="6190488"/>
            <a:ext cx="2468880" cy="18288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10753344" y="6163056"/>
            <a:ext cx="731520" cy="2011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17" name="Google Shape;117;p3"/>
          <p:cNvSpPr/>
          <p:nvPr/>
        </p:nvSpPr>
        <p:spPr>
          <a:xfrm>
            <a:off x="502920" y="1508760"/>
            <a:ext cx="2743200" cy="1600200"/>
          </a:xfrm>
          <a:prstGeom prst="roundRect">
            <a:avLst>
              <a:gd name="adj" fmla="val 16667"/>
            </a:avLst>
          </a:prstGeom>
          <a:solidFill>
            <a:srgbClr val="FBF8F1"/>
          </a:solidFill>
          <a:ln w="10150" cap="flat" cmpd="sng">
            <a:solidFill>
              <a:srgbClr val="E7E1D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3"/>
          <p:cNvSpPr/>
          <p:nvPr/>
        </p:nvSpPr>
        <p:spPr>
          <a:xfrm>
            <a:off x="502920" y="1508760"/>
            <a:ext cx="64008" cy="16002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3"/>
          <p:cNvSpPr txBox="1"/>
          <p:nvPr/>
        </p:nvSpPr>
        <p:spPr>
          <a:xfrm>
            <a:off x="667512" y="1636776"/>
            <a:ext cx="2450592" cy="256032"/>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1" i="0" u="none" strike="noStrike" cap="none">
                <a:solidFill>
                  <a:srgbClr val="06507A"/>
                </a:solidFill>
                <a:latin typeface="Arial"/>
                <a:ea typeface="Arial"/>
                <a:cs typeface="Arial"/>
                <a:sym typeface="Arial"/>
              </a:rPr>
              <a:t>1 · Problem</a:t>
            </a:r>
            <a:endParaRPr sz="1400" b="0" i="0" u="none" strike="noStrike" cap="none">
              <a:solidFill>
                <a:srgbClr val="000000"/>
              </a:solidFill>
              <a:latin typeface="Arial"/>
              <a:ea typeface="Arial"/>
              <a:cs typeface="Arial"/>
              <a:sym typeface="Arial"/>
            </a:endParaRPr>
          </a:p>
        </p:txBody>
      </p:sp>
      <p:sp>
        <p:nvSpPr>
          <p:cNvPr id="120" name="Google Shape;120;p3"/>
          <p:cNvSpPr txBox="1"/>
          <p:nvPr/>
        </p:nvSpPr>
        <p:spPr>
          <a:xfrm>
            <a:off x="667512" y="1965960"/>
            <a:ext cx="2468880" cy="105156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0" i="0" u="none" strike="noStrike" cap="none">
                <a:solidFill>
                  <a:srgbClr val="1A1A1A"/>
                </a:solidFill>
                <a:latin typeface="Arial"/>
                <a:ea typeface="Arial"/>
                <a:cs typeface="Arial"/>
                <a:sym typeface="Arial"/>
              </a:rPr>
              <a:t>Unknown new physics cannot be covered exhaustively by signal-specific supervised learning.</a:t>
            </a: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3401568" y="1508760"/>
            <a:ext cx="2743200" cy="1600200"/>
          </a:xfrm>
          <a:prstGeom prst="roundRect">
            <a:avLst>
              <a:gd name="adj" fmla="val 16667"/>
            </a:avLst>
          </a:prstGeom>
          <a:solidFill>
            <a:srgbClr val="FBF8F1"/>
          </a:solidFill>
          <a:ln w="10150" cap="flat" cmpd="sng">
            <a:solidFill>
              <a:srgbClr val="E7E1D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3"/>
          <p:cNvSpPr/>
          <p:nvPr/>
        </p:nvSpPr>
        <p:spPr>
          <a:xfrm>
            <a:off x="3401568" y="1508760"/>
            <a:ext cx="64008" cy="1600200"/>
          </a:xfrm>
          <a:prstGeom prst="rect">
            <a:avLst/>
          </a:prstGeom>
          <a:solidFill>
            <a:srgbClr val="06507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
          <p:cNvSpPr txBox="1"/>
          <p:nvPr/>
        </p:nvSpPr>
        <p:spPr>
          <a:xfrm>
            <a:off x="3566160" y="1636776"/>
            <a:ext cx="2450592" cy="256032"/>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1" i="0" u="none" strike="noStrike" cap="none">
                <a:solidFill>
                  <a:srgbClr val="06507A"/>
                </a:solidFill>
                <a:latin typeface="Arial"/>
                <a:ea typeface="Arial"/>
                <a:cs typeface="Arial"/>
                <a:sym typeface="Arial"/>
              </a:rPr>
              <a:t>2 · Data</a:t>
            </a:r>
            <a:endParaRPr sz="1400" b="0" i="0" u="none" strike="noStrike" cap="none">
              <a:solidFill>
                <a:srgbClr val="000000"/>
              </a:solidFill>
              <a:latin typeface="Arial"/>
              <a:ea typeface="Arial"/>
              <a:cs typeface="Arial"/>
              <a:sym typeface="Arial"/>
            </a:endParaRPr>
          </a:p>
        </p:txBody>
      </p:sp>
      <p:sp>
        <p:nvSpPr>
          <p:cNvPr id="124" name="Google Shape;124;p3"/>
          <p:cNvSpPr txBox="1"/>
          <p:nvPr/>
        </p:nvSpPr>
        <p:spPr>
          <a:xfrm>
            <a:off x="3566160" y="1965960"/>
            <a:ext cx="2469000" cy="949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0" i="0" u="none" strike="noStrike" cap="none">
                <a:solidFill>
                  <a:srgbClr val="1A1A1A"/>
                </a:solidFill>
                <a:latin typeface="Arial"/>
                <a:ea typeface="Arial"/>
                <a:cs typeface="Arial"/>
                <a:sym typeface="Arial"/>
              </a:rPr>
              <a:t>Simulated LHC collision events are reduced to </a:t>
            </a:r>
            <a:r>
              <a:rPr lang="en-US">
                <a:solidFill>
                  <a:srgbClr val="1A1A1A"/>
                </a:solidFill>
              </a:rPr>
              <a:t>limited </a:t>
            </a:r>
            <a:r>
              <a:rPr lang="en-US" sz="1400" b="0" i="0" u="none" strike="noStrike" cap="none">
                <a:solidFill>
                  <a:srgbClr val="1A1A1A"/>
                </a:solidFill>
                <a:latin typeface="Arial"/>
                <a:ea typeface="Arial"/>
                <a:cs typeface="Arial"/>
                <a:sym typeface="Arial"/>
              </a:rPr>
              <a:t>physically meaningful features.</a:t>
            </a:r>
            <a:endParaRPr sz="1400" b="0" i="0" u="none" strike="noStrike" cap="none">
              <a:solidFill>
                <a:srgbClr val="000000"/>
              </a:solidFill>
              <a:latin typeface="Arial"/>
              <a:ea typeface="Arial"/>
              <a:cs typeface="Arial"/>
              <a:sym typeface="Arial"/>
            </a:endParaRPr>
          </a:p>
        </p:txBody>
      </p:sp>
      <p:sp>
        <p:nvSpPr>
          <p:cNvPr id="125" name="Google Shape;125;p3"/>
          <p:cNvSpPr/>
          <p:nvPr/>
        </p:nvSpPr>
        <p:spPr>
          <a:xfrm>
            <a:off x="6300216" y="1508760"/>
            <a:ext cx="2743200" cy="1600200"/>
          </a:xfrm>
          <a:prstGeom prst="roundRect">
            <a:avLst>
              <a:gd name="adj" fmla="val 16667"/>
            </a:avLst>
          </a:prstGeom>
          <a:solidFill>
            <a:srgbClr val="FBF8F1"/>
          </a:solidFill>
          <a:ln w="10150" cap="flat" cmpd="sng">
            <a:solidFill>
              <a:srgbClr val="E7E1D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
          <p:cNvSpPr/>
          <p:nvPr/>
        </p:nvSpPr>
        <p:spPr>
          <a:xfrm>
            <a:off x="6300216" y="1508760"/>
            <a:ext cx="64008" cy="1600200"/>
          </a:xfrm>
          <a:prstGeom prst="rect">
            <a:avLst/>
          </a:prstGeom>
          <a:solidFill>
            <a:srgbClr val="317A6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3"/>
          <p:cNvSpPr txBox="1"/>
          <p:nvPr/>
        </p:nvSpPr>
        <p:spPr>
          <a:xfrm>
            <a:off x="6464807" y="1636776"/>
            <a:ext cx="2450592" cy="256032"/>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1" i="0" u="none" strike="noStrike" cap="none">
                <a:solidFill>
                  <a:srgbClr val="06507A"/>
                </a:solidFill>
                <a:latin typeface="Arial"/>
                <a:ea typeface="Arial"/>
                <a:cs typeface="Arial"/>
                <a:sym typeface="Arial"/>
              </a:rPr>
              <a:t>3 · Method</a:t>
            </a:r>
            <a:endParaRPr sz="1400" b="0" i="0" u="none" strike="noStrike" cap="none">
              <a:solidFill>
                <a:srgbClr val="000000"/>
              </a:solidFill>
              <a:latin typeface="Arial"/>
              <a:ea typeface="Arial"/>
              <a:cs typeface="Arial"/>
              <a:sym typeface="Arial"/>
            </a:endParaRPr>
          </a:p>
        </p:txBody>
      </p:sp>
      <p:sp>
        <p:nvSpPr>
          <p:cNvPr id="128" name="Google Shape;128;p3"/>
          <p:cNvSpPr txBox="1"/>
          <p:nvPr/>
        </p:nvSpPr>
        <p:spPr>
          <a:xfrm>
            <a:off x="6464807" y="1965960"/>
            <a:ext cx="2468880" cy="105156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0" i="0" u="none" strike="noStrike" cap="none">
                <a:solidFill>
                  <a:srgbClr val="1A1A1A"/>
                </a:solidFill>
                <a:latin typeface="Arial"/>
                <a:ea typeface="Arial"/>
                <a:cs typeface="Arial"/>
                <a:sym typeface="Arial"/>
              </a:rPr>
              <a:t>Angle encode the vector, train a variational QAE, and force trash qubits toward |0…0⟩.</a:t>
            </a:r>
            <a:endParaRPr sz="1400" b="0" i="0" u="none" strike="noStrike" cap="none">
              <a:solidFill>
                <a:srgbClr val="000000"/>
              </a:solidFill>
              <a:latin typeface="Arial"/>
              <a:ea typeface="Arial"/>
              <a:cs typeface="Arial"/>
              <a:sym typeface="Arial"/>
            </a:endParaRPr>
          </a:p>
        </p:txBody>
      </p:sp>
      <p:sp>
        <p:nvSpPr>
          <p:cNvPr id="129" name="Google Shape;129;p3"/>
          <p:cNvSpPr/>
          <p:nvPr/>
        </p:nvSpPr>
        <p:spPr>
          <a:xfrm>
            <a:off x="9198864" y="1508760"/>
            <a:ext cx="2487168" cy="1600200"/>
          </a:xfrm>
          <a:prstGeom prst="roundRect">
            <a:avLst>
              <a:gd name="adj" fmla="val 16667"/>
            </a:avLst>
          </a:prstGeom>
          <a:solidFill>
            <a:srgbClr val="FBF8F1"/>
          </a:solidFill>
          <a:ln w="10150" cap="flat" cmpd="sng">
            <a:solidFill>
              <a:srgbClr val="E7E1D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3"/>
          <p:cNvSpPr/>
          <p:nvPr/>
        </p:nvSpPr>
        <p:spPr>
          <a:xfrm>
            <a:off x="9198864" y="1508760"/>
            <a:ext cx="64008" cy="16002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3"/>
          <p:cNvSpPr txBox="1"/>
          <p:nvPr/>
        </p:nvSpPr>
        <p:spPr>
          <a:xfrm>
            <a:off x="9363456" y="1636776"/>
            <a:ext cx="2194560" cy="256032"/>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1" i="0" u="none" strike="noStrike" cap="none">
                <a:solidFill>
                  <a:srgbClr val="06507A"/>
                </a:solidFill>
                <a:latin typeface="Arial"/>
                <a:ea typeface="Arial"/>
                <a:cs typeface="Arial"/>
                <a:sym typeface="Arial"/>
              </a:rPr>
              <a:t>4 · Result</a:t>
            </a:r>
            <a:endParaRPr sz="1400" b="0" i="0" u="none" strike="noStrike" cap="none">
              <a:solidFill>
                <a:srgbClr val="000000"/>
              </a:solidFill>
              <a:latin typeface="Arial"/>
              <a:ea typeface="Arial"/>
              <a:cs typeface="Arial"/>
              <a:sym typeface="Arial"/>
            </a:endParaRPr>
          </a:p>
        </p:txBody>
      </p:sp>
      <p:sp>
        <p:nvSpPr>
          <p:cNvPr id="132" name="Google Shape;132;p3"/>
          <p:cNvSpPr txBox="1"/>
          <p:nvPr/>
        </p:nvSpPr>
        <p:spPr>
          <a:xfrm>
            <a:off x="9363456" y="1965960"/>
            <a:ext cx="2212848" cy="105156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0" i="0" u="none" strike="noStrike" cap="none">
                <a:solidFill>
                  <a:srgbClr val="1A1A1A"/>
                </a:solidFill>
                <a:latin typeface="Arial"/>
                <a:ea typeface="Arial"/>
                <a:cs typeface="Arial"/>
                <a:sym typeface="Arial"/>
              </a:rPr>
              <a:t>QAE beats the paper’s dense CAE baseline and is unusually data-efficient.</a:t>
            </a:r>
            <a:endParaRPr sz="1400" b="0" i="0" u="none" strike="noStrike" cap="none">
              <a:solidFill>
                <a:srgbClr val="000000"/>
              </a:solidFill>
              <a:latin typeface="Arial"/>
              <a:ea typeface="Arial"/>
              <a:cs typeface="Arial"/>
              <a:sym typeface="Arial"/>
            </a:endParaRPr>
          </a:p>
        </p:txBody>
      </p:sp>
      <p:sp>
        <p:nvSpPr>
          <p:cNvPr id="133" name="Google Shape;133;p3"/>
          <p:cNvSpPr txBox="1"/>
          <p:nvPr/>
        </p:nvSpPr>
        <p:spPr>
          <a:xfrm>
            <a:off x="594360" y="3429000"/>
            <a:ext cx="10972800" cy="41148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500"/>
              <a:buFont typeface="Arial"/>
              <a:buNone/>
            </a:pPr>
            <a:r>
              <a:rPr lang="en-US" sz="1500" b="1" i="0" u="none" strike="noStrike" cap="none">
                <a:solidFill>
                  <a:srgbClr val="06507A"/>
                </a:solidFill>
                <a:latin typeface="Arial"/>
                <a:ea typeface="Arial"/>
                <a:cs typeface="Arial"/>
                <a:sym typeface="Arial"/>
              </a:rPr>
              <a:t>Core anomaly score</a:t>
            </a:r>
            <a:endParaRPr sz="1400" b="0" i="0" u="none" strike="noStrike" cap="none">
              <a:solidFill>
                <a:srgbClr val="000000"/>
              </a:solidFill>
              <a:latin typeface="Arial"/>
              <a:ea typeface="Arial"/>
              <a:cs typeface="Arial"/>
              <a:sym typeface="Arial"/>
            </a:endParaRPr>
          </a:p>
        </p:txBody>
      </p:sp>
      <p:sp>
        <p:nvSpPr>
          <p:cNvPr id="134" name="Google Shape;134;p3"/>
          <p:cNvSpPr/>
          <p:nvPr/>
        </p:nvSpPr>
        <p:spPr>
          <a:xfrm>
            <a:off x="594360" y="3840480"/>
            <a:ext cx="10972800" cy="1234440"/>
          </a:xfrm>
          <a:prstGeom prst="roundRect">
            <a:avLst>
              <a:gd name="adj" fmla="val 16667"/>
            </a:avLst>
          </a:prstGeom>
          <a:solidFill>
            <a:srgbClr val="FBF8F1"/>
          </a:solidFill>
          <a:ln w="12700" cap="flat" cmpd="sng">
            <a:solidFill>
              <a:srgbClr val="E7E1D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3"/>
          <p:cNvSpPr txBox="1"/>
          <p:nvPr/>
        </p:nvSpPr>
        <p:spPr>
          <a:xfrm>
            <a:off x="937192" y="4348730"/>
            <a:ext cx="3291900" cy="30180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1600"/>
              <a:buFont typeface="Arial"/>
              <a:buNone/>
            </a:pPr>
            <a:r>
              <a:rPr lang="en-US" sz="1600" b="1" i="0" u="none" strike="noStrike" cap="none">
                <a:solidFill>
                  <a:srgbClr val="317A61"/>
                </a:solidFill>
                <a:latin typeface="Arial"/>
                <a:ea typeface="Arial"/>
                <a:cs typeface="Arial"/>
                <a:sym typeface="Arial"/>
              </a:rPr>
              <a:t>background-like event</a:t>
            </a:r>
            <a:endParaRPr sz="1400" b="0" i="0" u="none" strike="noStrike" cap="none">
              <a:solidFill>
                <a:srgbClr val="000000"/>
              </a:solidFill>
              <a:latin typeface="Arial"/>
              <a:ea typeface="Arial"/>
              <a:cs typeface="Arial"/>
              <a:sym typeface="Arial"/>
            </a:endParaRPr>
          </a:p>
        </p:txBody>
      </p:sp>
      <p:sp>
        <p:nvSpPr>
          <p:cNvPr id="136" name="Google Shape;136;p3"/>
          <p:cNvSpPr txBox="1"/>
          <p:nvPr/>
        </p:nvSpPr>
        <p:spPr>
          <a:xfrm>
            <a:off x="4110161" y="4321298"/>
            <a:ext cx="1005900" cy="45570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2600"/>
              <a:buFont typeface="Arial"/>
              <a:buNone/>
            </a:pPr>
            <a:r>
              <a:rPr lang="en-US" sz="2600" b="1" i="0" u="none" strike="noStrike" cap="none">
                <a:solidFill>
                  <a:srgbClr val="F0551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37" name="Google Shape;137;p3"/>
          <p:cNvSpPr txBox="1"/>
          <p:nvPr/>
        </p:nvSpPr>
        <p:spPr>
          <a:xfrm>
            <a:off x="4869113" y="4211570"/>
            <a:ext cx="2560200" cy="56040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1600"/>
              <a:buFont typeface="Arial"/>
              <a:buNone/>
            </a:pPr>
            <a:r>
              <a:rPr lang="en-US" sz="1600" b="1" i="0" u="none" strike="noStrike" cap="none">
                <a:solidFill>
                  <a:srgbClr val="1A1A1A"/>
                </a:solidFill>
                <a:latin typeface="Arial"/>
                <a:ea typeface="Arial"/>
                <a:cs typeface="Arial"/>
                <a:sym typeface="Arial"/>
              </a:rPr>
              <a:t>trash fidelity F ≈ 1</a:t>
            </a:r>
            <a:br>
              <a:rPr lang="en-US" sz="1600" b="1" i="0" u="none" strike="noStrike" cap="none">
                <a:solidFill>
                  <a:srgbClr val="1A1A1A"/>
                </a:solidFill>
                <a:latin typeface="Arial"/>
                <a:ea typeface="Arial"/>
                <a:cs typeface="Arial"/>
                <a:sym typeface="Arial"/>
              </a:rPr>
            </a:br>
            <a:r>
              <a:rPr lang="en-US" sz="1600" b="1" i="0" u="none" strike="noStrike" cap="none">
                <a:solidFill>
                  <a:srgbClr val="1A1A1A"/>
                </a:solidFill>
                <a:latin typeface="Arial"/>
                <a:ea typeface="Arial"/>
                <a:cs typeface="Arial"/>
                <a:sym typeface="Arial"/>
              </a:rPr>
              <a:t>anomaly score 1−F ≈ 0</a:t>
            </a:r>
            <a:endParaRPr sz="1400" b="0" i="0" u="none" strike="noStrike" cap="none">
              <a:solidFill>
                <a:srgbClr val="000000"/>
              </a:solidFill>
              <a:latin typeface="Arial"/>
              <a:ea typeface="Arial"/>
              <a:cs typeface="Arial"/>
              <a:sym typeface="Arial"/>
            </a:endParaRPr>
          </a:p>
        </p:txBody>
      </p:sp>
      <p:sp>
        <p:nvSpPr>
          <p:cNvPr id="138" name="Google Shape;138;p3"/>
          <p:cNvSpPr txBox="1"/>
          <p:nvPr/>
        </p:nvSpPr>
        <p:spPr>
          <a:xfrm>
            <a:off x="7520873" y="4321298"/>
            <a:ext cx="1005900" cy="42480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2400"/>
              <a:buFont typeface="Arial"/>
              <a:buNone/>
            </a:pPr>
            <a:r>
              <a:rPr lang="en-US" sz="2400" b="1" i="0" u="none" strike="noStrike" cap="none">
                <a:solidFill>
                  <a:srgbClr val="666666"/>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139" name="Google Shape;139;p3"/>
          <p:cNvSpPr txBox="1"/>
          <p:nvPr/>
        </p:nvSpPr>
        <p:spPr>
          <a:xfrm>
            <a:off x="8298113" y="4211570"/>
            <a:ext cx="2926200" cy="56040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1600"/>
              <a:buFont typeface="Arial"/>
              <a:buNone/>
            </a:pPr>
            <a:r>
              <a:rPr lang="en-US" sz="1600" b="1" i="0" u="none" strike="noStrike" cap="none">
                <a:solidFill>
                  <a:srgbClr val="B83C3C"/>
                </a:solidFill>
                <a:latin typeface="Arial"/>
                <a:ea typeface="Arial"/>
                <a:cs typeface="Arial"/>
                <a:sym typeface="Arial"/>
              </a:rPr>
              <a:t>anomalous event</a:t>
            </a:r>
            <a:br>
              <a:rPr lang="en-US" sz="1600" b="1" i="0" u="none" strike="noStrike" cap="none">
                <a:solidFill>
                  <a:srgbClr val="B83C3C"/>
                </a:solidFill>
                <a:latin typeface="Arial"/>
                <a:ea typeface="Arial"/>
                <a:cs typeface="Arial"/>
                <a:sym typeface="Arial"/>
              </a:rPr>
            </a:br>
            <a:r>
              <a:rPr lang="en-US" sz="1600" b="1" i="0" u="none" strike="noStrike" cap="none">
                <a:solidFill>
                  <a:srgbClr val="B83C3C"/>
                </a:solidFill>
                <a:latin typeface="Arial"/>
                <a:ea typeface="Arial"/>
                <a:cs typeface="Arial"/>
                <a:sym typeface="Arial"/>
              </a:rPr>
              <a:t>low F, high 1−F</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3"/>
        <p:cNvGrpSpPr/>
        <p:nvPr/>
      </p:nvGrpSpPr>
      <p:grpSpPr>
        <a:xfrm>
          <a:off x="0" y="0"/>
          <a:ext cx="0" cy="0"/>
          <a:chOff x="0" y="0"/>
          <a:chExt cx="0" cy="0"/>
        </a:xfrm>
      </p:grpSpPr>
      <p:sp>
        <p:nvSpPr>
          <p:cNvPr id="144" name="Google Shape;144;p2"/>
          <p:cNvSpPr/>
          <p:nvPr/>
        </p:nvSpPr>
        <p:spPr>
          <a:xfrm>
            <a:off x="338328" y="256032"/>
            <a:ext cx="50292"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2"/>
          <p:cNvSpPr txBox="1"/>
          <p:nvPr/>
        </p:nvSpPr>
        <p:spPr>
          <a:xfrm>
            <a:off x="448056" y="256032"/>
            <a:ext cx="9784080" cy="201168"/>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1 · MOTIVATION</a:t>
            </a:r>
            <a:endParaRPr sz="1400" b="0" i="0" u="none" strike="noStrike" cap="none">
              <a:solidFill>
                <a:srgbClr val="000000"/>
              </a:solidFill>
              <a:latin typeface="Arial"/>
              <a:ea typeface="Arial"/>
              <a:cs typeface="Arial"/>
              <a:sym typeface="Arial"/>
            </a:endParaRPr>
          </a:p>
        </p:txBody>
      </p:sp>
      <p:sp>
        <p:nvSpPr>
          <p:cNvPr id="146" name="Google Shape;146;p2"/>
          <p:cNvSpPr txBox="1"/>
          <p:nvPr/>
        </p:nvSpPr>
        <p:spPr>
          <a:xfrm>
            <a:off x="448056" y="429768"/>
            <a:ext cx="9784080" cy="210312"/>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100"/>
              <a:buFont typeface="Arial"/>
              <a:buNone/>
            </a:pPr>
            <a:r>
              <a:rPr lang="en-US" sz="1100" b="0" i="0" u="none" strike="noStrike" cap="none">
                <a:solidFill>
                  <a:srgbClr val="666666"/>
                </a:solidFill>
                <a:latin typeface="Arial"/>
                <a:ea typeface="Arial"/>
                <a:cs typeface="Arial"/>
                <a:sym typeface="Arial"/>
              </a:rPr>
              <a:t>Why anomaly detection is needed</a:t>
            </a:r>
            <a:endParaRPr sz="1400" b="0" i="0" u="none" strike="noStrike" cap="none">
              <a:solidFill>
                <a:srgbClr val="000000"/>
              </a:solidFill>
              <a:latin typeface="Arial"/>
              <a:ea typeface="Arial"/>
              <a:cs typeface="Arial"/>
              <a:sym typeface="Arial"/>
            </a:endParaRPr>
          </a:p>
        </p:txBody>
      </p:sp>
      <p:sp>
        <p:nvSpPr>
          <p:cNvPr id="147" name="Google Shape;147;p2"/>
          <p:cNvSpPr txBox="1"/>
          <p:nvPr/>
        </p:nvSpPr>
        <p:spPr>
          <a:xfrm>
            <a:off x="338328" y="803307"/>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2700"/>
              <a:buFont typeface="Arial"/>
              <a:buNone/>
            </a:pPr>
            <a:r>
              <a:rPr lang="en-US" sz="2400" b="1" i="0" u="none" strike="noStrike" cap="none">
                <a:solidFill>
                  <a:srgbClr val="1A1A1A"/>
                </a:solidFill>
                <a:latin typeface="Arial"/>
                <a:ea typeface="Arial"/>
                <a:cs typeface="Arial"/>
                <a:sym typeface="Arial"/>
              </a:rPr>
              <a:t>Searching for new physics without knowing its shape</a:t>
            </a:r>
            <a:endParaRPr sz="2400" b="0" i="0" u="none" strike="noStrike" cap="none">
              <a:solidFill>
                <a:srgbClr val="000000"/>
              </a:solidFill>
              <a:latin typeface="Arial"/>
              <a:ea typeface="Arial"/>
              <a:cs typeface="Arial"/>
              <a:sym typeface="Arial"/>
            </a:endParaRPr>
          </a:p>
        </p:txBody>
      </p:sp>
      <p:cxnSp>
        <p:nvCxnSpPr>
          <p:cNvPr id="148" name="Google Shape;148;p2"/>
          <p:cNvCxnSpPr/>
          <p:nvPr/>
        </p:nvCxnSpPr>
        <p:spPr>
          <a:xfrm>
            <a:off x="347472" y="1234440"/>
            <a:ext cx="11494008"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149" name="Google Shape;149;p2"/>
          <p:cNvSpPr/>
          <p:nvPr/>
        </p:nvSpPr>
        <p:spPr>
          <a:xfrm>
            <a:off x="0" y="6007608"/>
            <a:ext cx="12191695" cy="109728"/>
          </a:xfrm>
          <a:prstGeom prst="rect">
            <a:avLst/>
          </a:prstGeom>
          <a:solidFill>
            <a:srgbClr val="06507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2"/>
          <p:cNvSpPr txBox="1"/>
          <p:nvPr/>
        </p:nvSpPr>
        <p:spPr>
          <a:xfrm>
            <a:off x="347472" y="6190488"/>
            <a:ext cx="2468880" cy="18288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152" name="Google Shape;152;p2"/>
          <p:cNvSpPr txBox="1"/>
          <p:nvPr/>
        </p:nvSpPr>
        <p:spPr>
          <a:xfrm>
            <a:off x="10753344" y="6163056"/>
            <a:ext cx="731520" cy="2011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53" name="Google Shape;153;p2"/>
          <p:cNvSpPr/>
          <p:nvPr/>
        </p:nvSpPr>
        <p:spPr>
          <a:xfrm>
            <a:off x="502920" y="1508760"/>
            <a:ext cx="3657600" cy="1051560"/>
          </a:xfrm>
          <a:prstGeom prst="roundRect">
            <a:avLst>
              <a:gd name="adj" fmla="val 16667"/>
            </a:avLst>
          </a:prstGeom>
          <a:solidFill>
            <a:srgbClr val="FBF8F1"/>
          </a:solidFill>
          <a:ln w="10150" cap="flat" cmpd="sng">
            <a:solidFill>
              <a:srgbClr val="E7E1D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2"/>
          <p:cNvSpPr/>
          <p:nvPr/>
        </p:nvSpPr>
        <p:spPr>
          <a:xfrm>
            <a:off x="502920" y="1508760"/>
            <a:ext cx="64008" cy="105156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2"/>
          <p:cNvSpPr txBox="1"/>
          <p:nvPr/>
        </p:nvSpPr>
        <p:spPr>
          <a:xfrm>
            <a:off x="667512" y="1636776"/>
            <a:ext cx="3364992" cy="256032"/>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1" i="0" u="none" strike="noStrike" cap="none">
                <a:solidFill>
                  <a:srgbClr val="06507A"/>
                </a:solidFill>
                <a:latin typeface="Arial"/>
                <a:ea typeface="Arial"/>
                <a:cs typeface="Arial"/>
                <a:sym typeface="Arial"/>
              </a:rPr>
              <a:t>Observed situation</a:t>
            </a:r>
            <a:endParaRPr sz="1400" b="0" i="0" u="none" strike="noStrike" cap="none">
              <a:solidFill>
                <a:srgbClr val="000000"/>
              </a:solidFill>
              <a:latin typeface="Arial"/>
              <a:ea typeface="Arial"/>
              <a:cs typeface="Arial"/>
              <a:sym typeface="Arial"/>
            </a:endParaRPr>
          </a:p>
        </p:txBody>
      </p:sp>
      <p:sp>
        <p:nvSpPr>
          <p:cNvPr id="156" name="Google Shape;156;p2"/>
          <p:cNvSpPr txBox="1"/>
          <p:nvPr/>
        </p:nvSpPr>
        <p:spPr>
          <a:xfrm>
            <a:off x="667512" y="1965960"/>
            <a:ext cx="3383280" cy="502919"/>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0" i="0" u="none" strike="noStrike" cap="none">
                <a:solidFill>
                  <a:srgbClr val="1A1A1A"/>
                </a:solidFill>
                <a:latin typeface="Arial"/>
                <a:ea typeface="Arial"/>
                <a:cs typeface="Arial"/>
                <a:sym typeface="Arial"/>
              </a:rPr>
              <a:t>No confirmed new interaction or particle has emerged from LHC data.</a:t>
            </a:r>
            <a:endParaRPr sz="1400" b="0" i="0" u="none" strike="noStrike" cap="none">
              <a:solidFill>
                <a:srgbClr val="000000"/>
              </a:solidFill>
              <a:latin typeface="Arial"/>
              <a:ea typeface="Arial"/>
              <a:cs typeface="Arial"/>
              <a:sym typeface="Arial"/>
            </a:endParaRPr>
          </a:p>
        </p:txBody>
      </p:sp>
      <p:sp>
        <p:nvSpPr>
          <p:cNvPr id="157" name="Google Shape;157;p2"/>
          <p:cNvSpPr/>
          <p:nvPr/>
        </p:nvSpPr>
        <p:spPr>
          <a:xfrm>
            <a:off x="502920" y="2697480"/>
            <a:ext cx="3657600" cy="1051560"/>
          </a:xfrm>
          <a:prstGeom prst="roundRect">
            <a:avLst>
              <a:gd name="adj" fmla="val 16667"/>
            </a:avLst>
          </a:prstGeom>
          <a:solidFill>
            <a:srgbClr val="FBF8F1"/>
          </a:solidFill>
          <a:ln w="10150" cap="flat" cmpd="sng">
            <a:solidFill>
              <a:srgbClr val="E7E1D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2"/>
          <p:cNvSpPr/>
          <p:nvPr/>
        </p:nvSpPr>
        <p:spPr>
          <a:xfrm>
            <a:off x="502920" y="2697480"/>
            <a:ext cx="64008" cy="1051560"/>
          </a:xfrm>
          <a:prstGeom prst="rect">
            <a:avLst/>
          </a:prstGeom>
          <a:solidFill>
            <a:srgbClr val="06507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2"/>
          <p:cNvSpPr txBox="1"/>
          <p:nvPr/>
        </p:nvSpPr>
        <p:spPr>
          <a:xfrm>
            <a:off x="667512" y="2825496"/>
            <a:ext cx="3364992" cy="256032"/>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1" i="0" u="none" strike="noStrike" cap="none">
                <a:solidFill>
                  <a:srgbClr val="06507A"/>
                </a:solidFill>
                <a:latin typeface="Arial"/>
                <a:ea typeface="Arial"/>
                <a:cs typeface="Arial"/>
                <a:sym typeface="Arial"/>
              </a:rPr>
              <a:t>Limitation of supervised learning</a:t>
            </a:r>
            <a:endParaRPr sz="1400" b="0" i="0" u="none" strike="noStrike" cap="none">
              <a:solidFill>
                <a:srgbClr val="000000"/>
              </a:solidFill>
              <a:latin typeface="Arial"/>
              <a:ea typeface="Arial"/>
              <a:cs typeface="Arial"/>
              <a:sym typeface="Arial"/>
            </a:endParaRPr>
          </a:p>
        </p:txBody>
      </p:sp>
      <p:sp>
        <p:nvSpPr>
          <p:cNvPr id="160" name="Google Shape;160;p2"/>
          <p:cNvSpPr txBox="1"/>
          <p:nvPr/>
        </p:nvSpPr>
        <p:spPr>
          <a:xfrm>
            <a:off x="667512" y="3154680"/>
            <a:ext cx="3383280" cy="502919"/>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0" i="0" u="none" strike="noStrike" cap="none">
                <a:solidFill>
                  <a:srgbClr val="1A1A1A"/>
                </a:solidFill>
                <a:latin typeface="Arial"/>
                <a:ea typeface="Arial"/>
                <a:cs typeface="Arial"/>
                <a:sym typeface="Arial"/>
              </a:rPr>
              <a:t>A classifier must be trained on a specific simulated signal hypothesis.</a:t>
            </a:r>
            <a:endParaRPr sz="1400" b="0" i="0" u="none" strike="noStrike" cap="none">
              <a:solidFill>
                <a:srgbClr val="000000"/>
              </a:solidFill>
              <a:latin typeface="Arial"/>
              <a:ea typeface="Arial"/>
              <a:cs typeface="Arial"/>
              <a:sym typeface="Arial"/>
            </a:endParaRPr>
          </a:p>
        </p:txBody>
      </p:sp>
      <p:sp>
        <p:nvSpPr>
          <p:cNvPr id="161" name="Google Shape;161;p2"/>
          <p:cNvSpPr/>
          <p:nvPr/>
        </p:nvSpPr>
        <p:spPr>
          <a:xfrm>
            <a:off x="502920" y="3886200"/>
            <a:ext cx="3657600" cy="1051560"/>
          </a:xfrm>
          <a:prstGeom prst="roundRect">
            <a:avLst>
              <a:gd name="adj" fmla="val 16667"/>
            </a:avLst>
          </a:prstGeom>
          <a:solidFill>
            <a:srgbClr val="FBF8F1"/>
          </a:solidFill>
          <a:ln w="10150" cap="flat" cmpd="sng">
            <a:solidFill>
              <a:srgbClr val="E7E1D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2"/>
          <p:cNvSpPr/>
          <p:nvPr/>
        </p:nvSpPr>
        <p:spPr>
          <a:xfrm>
            <a:off x="502920" y="3886200"/>
            <a:ext cx="64008" cy="1051560"/>
          </a:xfrm>
          <a:prstGeom prst="rect">
            <a:avLst/>
          </a:prstGeom>
          <a:solidFill>
            <a:srgbClr val="317A6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2"/>
          <p:cNvSpPr txBox="1"/>
          <p:nvPr/>
        </p:nvSpPr>
        <p:spPr>
          <a:xfrm>
            <a:off x="667512" y="4014215"/>
            <a:ext cx="3364992" cy="256032"/>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1" i="0" u="none" strike="noStrike" cap="none">
                <a:solidFill>
                  <a:srgbClr val="06507A"/>
                </a:solidFill>
                <a:latin typeface="Arial"/>
                <a:ea typeface="Arial"/>
                <a:cs typeface="Arial"/>
                <a:sym typeface="Arial"/>
              </a:rPr>
              <a:t>Paper’s response</a:t>
            </a:r>
            <a:endParaRPr sz="1400" b="0" i="0" u="none" strike="noStrike" cap="none">
              <a:solidFill>
                <a:srgbClr val="000000"/>
              </a:solidFill>
              <a:latin typeface="Arial"/>
              <a:ea typeface="Arial"/>
              <a:cs typeface="Arial"/>
              <a:sym typeface="Arial"/>
            </a:endParaRPr>
          </a:p>
        </p:txBody>
      </p:sp>
      <p:sp>
        <p:nvSpPr>
          <p:cNvPr id="164" name="Google Shape;164;p2"/>
          <p:cNvSpPr txBox="1"/>
          <p:nvPr/>
        </p:nvSpPr>
        <p:spPr>
          <a:xfrm>
            <a:off x="667512" y="4343400"/>
            <a:ext cx="3383280" cy="502919"/>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400"/>
              <a:buFont typeface="Arial"/>
              <a:buNone/>
            </a:pPr>
            <a:r>
              <a:rPr lang="en-US" sz="1400" b="0" i="0" u="none" strike="noStrike" cap="none">
                <a:solidFill>
                  <a:srgbClr val="1A1A1A"/>
                </a:solidFill>
                <a:latin typeface="Arial"/>
                <a:ea typeface="Arial"/>
                <a:cs typeface="Arial"/>
                <a:sym typeface="Arial"/>
              </a:rPr>
              <a:t>Train only on Standard Model background and flag unfamiliar events.</a:t>
            </a:r>
            <a:endParaRPr sz="1400" b="0" i="0" u="none" strike="noStrike" cap="none">
              <a:solidFill>
                <a:srgbClr val="000000"/>
              </a:solidFill>
              <a:latin typeface="Arial"/>
              <a:ea typeface="Arial"/>
              <a:cs typeface="Arial"/>
              <a:sym typeface="Arial"/>
            </a:endParaRPr>
          </a:p>
        </p:txBody>
      </p:sp>
      <p:sp>
        <p:nvSpPr>
          <p:cNvPr id="165" name="Google Shape;165;p2"/>
          <p:cNvSpPr/>
          <p:nvPr/>
        </p:nvSpPr>
        <p:spPr>
          <a:xfrm>
            <a:off x="4572000" y="1920240"/>
            <a:ext cx="3063240" cy="2971800"/>
          </a:xfrm>
          <a:prstGeom prst="roundRect">
            <a:avLst>
              <a:gd name="adj" fmla="val 16667"/>
            </a:avLst>
          </a:prstGeom>
          <a:solidFill>
            <a:srgbClr val="FEEEE7"/>
          </a:solidFill>
          <a:ln w="12700" cap="flat" cmpd="sng">
            <a:solidFill>
              <a:srgbClr val="E7E1D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2"/>
          <p:cNvSpPr txBox="1"/>
          <p:nvPr/>
        </p:nvSpPr>
        <p:spPr>
          <a:xfrm>
            <a:off x="4828032" y="2103120"/>
            <a:ext cx="2560320" cy="32004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1700"/>
              <a:buFont typeface="Arial"/>
              <a:buNone/>
            </a:pPr>
            <a:r>
              <a:rPr lang="en-US" sz="1700" b="1" i="0" u="none" strike="noStrike" cap="none">
                <a:solidFill>
                  <a:srgbClr val="F05519"/>
                </a:solidFill>
                <a:latin typeface="Arial"/>
                <a:ea typeface="Arial"/>
                <a:cs typeface="Arial"/>
                <a:sym typeface="Arial"/>
              </a:rPr>
              <a:t>Supervised</a:t>
            </a:r>
            <a:endParaRPr sz="1400" b="0" i="0" u="none" strike="noStrike" cap="none">
              <a:solidFill>
                <a:srgbClr val="000000"/>
              </a:solidFill>
              <a:latin typeface="Arial"/>
              <a:ea typeface="Arial"/>
              <a:cs typeface="Arial"/>
              <a:sym typeface="Arial"/>
            </a:endParaRPr>
          </a:p>
        </p:txBody>
      </p:sp>
      <p:sp>
        <p:nvSpPr>
          <p:cNvPr id="167" name="Google Shape;167;p2"/>
          <p:cNvSpPr txBox="1"/>
          <p:nvPr/>
        </p:nvSpPr>
        <p:spPr>
          <a:xfrm>
            <a:off x="4770925" y="2818600"/>
            <a:ext cx="2747700" cy="77100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1500"/>
              <a:buFont typeface="Arial"/>
              <a:buNone/>
            </a:pPr>
            <a:r>
              <a:rPr lang="en-US" sz="1500" b="0" i="0" u="none" strike="noStrike" cap="none">
                <a:solidFill>
                  <a:srgbClr val="1A1A1A"/>
                </a:solidFill>
                <a:latin typeface="Arial"/>
                <a:ea typeface="Arial"/>
                <a:cs typeface="Arial"/>
                <a:sym typeface="Arial"/>
              </a:rPr>
              <a:t>Make assumption of a signal model -&gt; Labeled signal data-&gt; Train background vs. signal</a:t>
            </a:r>
            <a:endParaRPr sz="1400" b="0" i="0" u="none" strike="noStrike" cap="none">
              <a:solidFill>
                <a:srgbClr val="000000"/>
              </a:solidFill>
              <a:latin typeface="Arial"/>
              <a:ea typeface="Arial"/>
              <a:cs typeface="Arial"/>
              <a:sym typeface="Arial"/>
            </a:endParaRPr>
          </a:p>
        </p:txBody>
      </p:sp>
      <p:sp>
        <p:nvSpPr>
          <p:cNvPr id="168" name="Google Shape;168;p2"/>
          <p:cNvSpPr/>
          <p:nvPr/>
        </p:nvSpPr>
        <p:spPr>
          <a:xfrm>
            <a:off x="8001000" y="1920240"/>
            <a:ext cx="3063240" cy="2971800"/>
          </a:xfrm>
          <a:prstGeom prst="roundRect">
            <a:avLst>
              <a:gd name="adj" fmla="val 16667"/>
            </a:avLst>
          </a:prstGeom>
          <a:solidFill>
            <a:srgbClr val="E8F2F7"/>
          </a:solidFill>
          <a:ln w="12700" cap="flat" cmpd="sng">
            <a:solidFill>
              <a:srgbClr val="E7E1D5"/>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2"/>
          <p:cNvSpPr txBox="1"/>
          <p:nvPr/>
        </p:nvSpPr>
        <p:spPr>
          <a:xfrm>
            <a:off x="8257094" y="2011695"/>
            <a:ext cx="2560200" cy="59190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1700"/>
              <a:buFont typeface="Arial"/>
              <a:buNone/>
            </a:pPr>
            <a:r>
              <a:rPr lang="en-US" sz="1700" b="1" i="0" u="none" strike="noStrike" cap="none">
                <a:solidFill>
                  <a:srgbClr val="06507A"/>
                </a:solidFill>
                <a:latin typeface="Arial"/>
                <a:ea typeface="Arial"/>
                <a:cs typeface="Arial"/>
                <a:sym typeface="Arial"/>
              </a:rPr>
              <a:t>Model-agnostic (</a:t>
            </a:r>
            <a:r>
              <a:rPr lang="en-US" sz="1600" b="1" i="0" u="none" strike="noStrike" cap="none">
                <a:solidFill>
                  <a:srgbClr val="06507A"/>
                </a:solidFill>
                <a:latin typeface="Arial"/>
                <a:ea typeface="Arial"/>
                <a:cs typeface="Arial"/>
                <a:sym typeface="Arial"/>
              </a:rPr>
              <a:t>Unsupervised) </a:t>
            </a:r>
            <a:endParaRPr sz="1400" b="0" i="0" u="none" strike="noStrike" cap="none">
              <a:solidFill>
                <a:srgbClr val="000000"/>
              </a:solidFill>
              <a:latin typeface="Arial"/>
              <a:ea typeface="Arial"/>
              <a:cs typeface="Arial"/>
              <a:sym typeface="Arial"/>
            </a:endParaRPr>
          </a:p>
        </p:txBody>
      </p:sp>
      <p:sp>
        <p:nvSpPr>
          <p:cNvPr id="170" name="Google Shape;170;p2"/>
          <p:cNvSpPr txBox="1"/>
          <p:nvPr/>
        </p:nvSpPr>
        <p:spPr>
          <a:xfrm>
            <a:off x="8238756" y="2773515"/>
            <a:ext cx="2560200" cy="125610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1500"/>
              <a:buFont typeface="Arial"/>
              <a:buNone/>
            </a:pPr>
            <a:r>
              <a:rPr lang="en-US" sz="1500" b="0" i="0" u="none" strike="noStrike" cap="none">
                <a:solidFill>
                  <a:srgbClr val="1A1A1A"/>
                </a:solidFill>
                <a:latin typeface="Arial"/>
                <a:ea typeface="Arial"/>
                <a:cs typeface="Arial"/>
                <a:sym typeface="Arial"/>
              </a:rPr>
              <a:t>Train on background only -&gt;</a:t>
            </a:r>
            <a:endParaRPr sz="1500" b="0" i="0" u="none" strike="noStrike" cap="none">
              <a:solidFill>
                <a:srgbClr val="1A1A1A"/>
              </a:solidFill>
              <a:latin typeface="Arial"/>
              <a:ea typeface="Arial"/>
              <a:cs typeface="Arial"/>
              <a:sym typeface="Arial"/>
            </a:endParaRPr>
          </a:p>
          <a:p>
            <a:pPr marL="0" marR="0" lvl="0" indent="0" algn="ctr" rtl="0">
              <a:lnSpc>
                <a:spcPct val="105000"/>
              </a:lnSpc>
              <a:spcBef>
                <a:spcPts val="0"/>
              </a:spcBef>
              <a:spcAft>
                <a:spcPts val="0"/>
              </a:spcAft>
              <a:buClr>
                <a:srgbClr val="000000"/>
              </a:buClr>
              <a:buSzPts val="1500"/>
              <a:buFont typeface="Arial"/>
              <a:buNone/>
            </a:pPr>
            <a:r>
              <a:rPr lang="en-US" sz="1500" b="0" i="0" u="none" strike="noStrike" cap="none">
                <a:solidFill>
                  <a:srgbClr val="1A1A1A"/>
                </a:solidFill>
                <a:latin typeface="Arial"/>
                <a:ea typeface="Arial"/>
                <a:cs typeface="Arial"/>
                <a:sym typeface="Arial"/>
              </a:rPr>
              <a:t> Learn its kinematic structure</a:t>
            </a:r>
            <a:endParaRPr sz="1500" b="0" i="0" u="none" strike="noStrike" cap="none">
              <a:solidFill>
                <a:srgbClr val="1A1A1A"/>
              </a:solidFill>
              <a:latin typeface="Arial"/>
              <a:ea typeface="Arial"/>
              <a:cs typeface="Arial"/>
              <a:sym typeface="Arial"/>
            </a:endParaRPr>
          </a:p>
          <a:p>
            <a:pPr marL="0" marR="0" lvl="0" indent="0" algn="ctr" rtl="0">
              <a:lnSpc>
                <a:spcPct val="105000"/>
              </a:lnSpc>
              <a:spcBef>
                <a:spcPts val="0"/>
              </a:spcBef>
              <a:spcAft>
                <a:spcPts val="0"/>
              </a:spcAft>
              <a:buClr>
                <a:srgbClr val="000000"/>
              </a:buClr>
              <a:buSzPts val="1500"/>
              <a:buFont typeface="Arial"/>
              <a:buNone/>
            </a:pPr>
            <a:br>
              <a:rPr lang="en-US" sz="1500" b="0" i="0" u="none" strike="noStrike" cap="none">
                <a:solidFill>
                  <a:srgbClr val="1A1A1A"/>
                </a:solidFill>
                <a:latin typeface="Arial"/>
                <a:ea typeface="Arial"/>
                <a:cs typeface="Arial"/>
                <a:sym typeface="Arial"/>
              </a:rPr>
            </a:br>
            <a:r>
              <a:rPr lang="en-US" sz="1500" b="0" i="0" u="none" strike="noStrike" cap="none">
                <a:solidFill>
                  <a:srgbClr val="1A1A1A"/>
                </a:solidFill>
                <a:latin typeface="Arial"/>
                <a:ea typeface="Arial"/>
                <a:cs typeface="Arial"/>
                <a:sym typeface="Arial"/>
              </a:rPr>
              <a:t>High anomaly score means “unlike background”</a:t>
            </a:r>
            <a:endParaRPr sz="1400" b="0" i="0" u="none" strike="noStrike" cap="none">
              <a:solidFill>
                <a:srgbClr val="000000"/>
              </a:solidFill>
              <a:latin typeface="Arial"/>
              <a:ea typeface="Arial"/>
              <a:cs typeface="Arial"/>
              <a:sym typeface="Arial"/>
            </a:endParaRPr>
          </a:p>
        </p:txBody>
      </p:sp>
      <p:sp>
        <p:nvSpPr>
          <p:cNvPr id="171" name="Google Shape;171;p2"/>
          <p:cNvSpPr txBox="1"/>
          <p:nvPr/>
        </p:nvSpPr>
        <p:spPr>
          <a:xfrm>
            <a:off x="4227350" y="5173775"/>
            <a:ext cx="7556400" cy="30180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1600"/>
              <a:buFont typeface="Arial"/>
              <a:buNone/>
            </a:pPr>
            <a:r>
              <a:rPr lang="en-US" sz="1600" b="1" i="0" u="none" strike="noStrike" cap="none">
                <a:solidFill>
                  <a:srgbClr val="B83C3C"/>
                </a:solidFill>
                <a:latin typeface="Arial"/>
                <a:ea typeface="Arial"/>
                <a:cs typeface="Arial"/>
                <a:sym typeface="Arial"/>
              </a:rPr>
              <a:t>We just want to find anomalous part; anomaly doesn't stand for new physics.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5"/>
        <p:cNvGrpSpPr/>
        <p:nvPr/>
      </p:nvGrpSpPr>
      <p:grpSpPr>
        <a:xfrm>
          <a:off x="0" y="0"/>
          <a:ext cx="0" cy="0"/>
          <a:chOff x="0" y="0"/>
          <a:chExt cx="0" cy="0"/>
        </a:xfrm>
      </p:grpSpPr>
      <p:sp>
        <p:nvSpPr>
          <p:cNvPr id="176" name="Google Shape;176;p4"/>
          <p:cNvSpPr/>
          <p:nvPr/>
        </p:nvSpPr>
        <p:spPr>
          <a:xfrm>
            <a:off x="338328" y="256032"/>
            <a:ext cx="50292"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4"/>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2 · ENCODER</a:t>
            </a:r>
            <a:endParaRPr sz="1400" b="0" i="0" u="none" strike="noStrike" cap="none">
              <a:solidFill>
                <a:srgbClr val="000000"/>
              </a:solidFill>
              <a:latin typeface="Arial"/>
              <a:ea typeface="Arial"/>
              <a:cs typeface="Arial"/>
              <a:sym typeface="Arial"/>
            </a:endParaRPr>
          </a:p>
        </p:txBody>
      </p:sp>
      <p:sp>
        <p:nvSpPr>
          <p:cNvPr id="178" name="Google Shape;178;p4"/>
          <p:cNvSpPr txBox="1"/>
          <p:nvPr/>
        </p:nvSpPr>
        <p:spPr>
          <a:xfrm>
            <a:off x="448056" y="429768"/>
            <a:ext cx="9784200" cy="2103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100"/>
              <a:buFont typeface="Arial"/>
              <a:buNone/>
            </a:pPr>
            <a:r>
              <a:rPr lang="en-US" sz="1100" b="0" i="0" u="none" strike="noStrike" cap="none">
                <a:solidFill>
                  <a:srgbClr val="666666"/>
                </a:solidFill>
                <a:latin typeface="Arial"/>
                <a:ea typeface="Arial"/>
                <a:cs typeface="Arial"/>
                <a:sym typeface="Arial"/>
              </a:rPr>
              <a:t>Classical concept and quantum counterpart</a:t>
            </a:r>
            <a:endParaRPr sz="1400" b="0" i="0" u="none" strike="noStrike" cap="none">
              <a:solidFill>
                <a:srgbClr val="000000"/>
              </a:solidFill>
              <a:latin typeface="Arial"/>
              <a:ea typeface="Arial"/>
              <a:cs typeface="Arial"/>
              <a:sym typeface="Arial"/>
            </a:endParaRPr>
          </a:p>
        </p:txBody>
      </p:sp>
      <p:sp>
        <p:nvSpPr>
          <p:cNvPr id="179" name="Google Shape;179;p4"/>
          <p:cNvSpPr txBox="1"/>
          <p:nvPr/>
        </p:nvSpPr>
        <p:spPr>
          <a:xfrm>
            <a:off x="338328" y="803307"/>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2700"/>
              <a:buFont typeface="Arial"/>
              <a:buNone/>
            </a:pPr>
            <a:r>
              <a:rPr lang="en-US" sz="2400" b="1" i="0" u="none" strike="noStrike" cap="none">
                <a:solidFill>
                  <a:srgbClr val="1A1A1A"/>
                </a:solidFill>
                <a:latin typeface="Arial"/>
                <a:ea typeface="Arial"/>
                <a:cs typeface="Arial"/>
                <a:sym typeface="Arial"/>
              </a:rPr>
              <a:t>How an autoencoder becomes an anomaly detector</a:t>
            </a:r>
            <a:endParaRPr sz="2400" b="0" i="0" u="none" strike="noStrike" cap="none">
              <a:solidFill>
                <a:srgbClr val="000000"/>
              </a:solidFill>
              <a:latin typeface="Arial"/>
              <a:ea typeface="Arial"/>
              <a:cs typeface="Arial"/>
              <a:sym typeface="Arial"/>
            </a:endParaRPr>
          </a:p>
        </p:txBody>
      </p:sp>
      <p:cxnSp>
        <p:nvCxnSpPr>
          <p:cNvPr id="180" name="Google Shape;180;p4"/>
          <p:cNvCxnSpPr/>
          <p:nvPr/>
        </p:nvCxnSpPr>
        <p:spPr>
          <a:xfrm>
            <a:off x="347472" y="1234440"/>
            <a:ext cx="11494008"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181" name="Google Shape;181;p4"/>
          <p:cNvSpPr/>
          <p:nvPr/>
        </p:nvSpPr>
        <p:spPr>
          <a:xfrm>
            <a:off x="0" y="6007608"/>
            <a:ext cx="12191695" cy="109728"/>
          </a:xfrm>
          <a:prstGeom prst="rect">
            <a:avLst/>
          </a:prstGeom>
          <a:solidFill>
            <a:srgbClr val="06507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4"/>
          <p:cNvSpPr txBox="1"/>
          <p:nvPr/>
        </p:nvSpPr>
        <p:spPr>
          <a:xfrm>
            <a:off x="347472" y="6190488"/>
            <a:ext cx="2468880" cy="18288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184" name="Google Shape;184;p4"/>
          <p:cNvSpPr txBox="1"/>
          <p:nvPr/>
        </p:nvSpPr>
        <p:spPr>
          <a:xfrm>
            <a:off x="10753344" y="6163056"/>
            <a:ext cx="731520" cy="2011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pic>
        <p:nvPicPr>
          <p:cNvPr id="185" name="Google Shape;185;p4" descr="fig1.png"/>
          <p:cNvPicPr preferRelativeResize="0"/>
          <p:nvPr/>
        </p:nvPicPr>
        <p:blipFill rotWithShape="1">
          <a:blip r:embed="rId3">
            <a:alphaModFix/>
          </a:blip>
          <a:srcRect/>
          <a:stretch/>
        </p:blipFill>
        <p:spPr>
          <a:xfrm>
            <a:off x="1344418" y="1324193"/>
            <a:ext cx="9052074" cy="2475787"/>
          </a:xfrm>
          <a:prstGeom prst="rect">
            <a:avLst/>
          </a:prstGeom>
          <a:noFill/>
          <a:ln>
            <a:noFill/>
          </a:ln>
        </p:spPr>
      </p:pic>
      <p:sp>
        <p:nvSpPr>
          <p:cNvPr id="186" name="Google Shape;186;p4"/>
          <p:cNvSpPr/>
          <p:nvPr/>
        </p:nvSpPr>
        <p:spPr>
          <a:xfrm>
            <a:off x="277876" y="4291012"/>
            <a:ext cx="5649300" cy="1232700"/>
          </a:xfrm>
          <a:prstGeom prst="roundRect">
            <a:avLst>
              <a:gd name="adj" fmla="val 16667"/>
            </a:avLst>
          </a:prstGeom>
          <a:solidFill>
            <a:srgbClr val="FBF8F1"/>
          </a:solidFill>
          <a:ln w="11400" cap="flat" cmpd="sng">
            <a:solidFill>
              <a:srgbClr val="E7E1D5"/>
            </a:solidFill>
            <a:prstDash val="solid"/>
            <a:round/>
            <a:headEnd type="none" w="sm" len="sm"/>
            <a:tailEnd type="none" w="sm" len="sm"/>
          </a:ln>
          <a:effectLst>
            <a:outerShdw blurRad="44934" dist="25837" dir="5400000" rotWithShape="0">
              <a:srgbClr val="000000">
                <a:alpha val="34902"/>
              </a:srgbClr>
            </a:outerShdw>
          </a:effectLst>
        </p:spPr>
        <p:txBody>
          <a:bodyPr spcFirstLastPara="1" wrap="square" lIns="102700" tIns="51325" rIns="102700" bIns="51325" anchor="ctr" anchorCtr="0">
            <a:noAutofit/>
          </a:bodyPr>
          <a:lstStyle/>
          <a:p>
            <a:pPr marL="0" marR="0" lvl="0" indent="0" algn="ctr" rtl="0">
              <a:lnSpc>
                <a:spcPct val="100000"/>
              </a:lnSpc>
              <a:spcBef>
                <a:spcPts val="0"/>
              </a:spcBef>
              <a:spcAft>
                <a:spcPts val="0"/>
              </a:spcAft>
              <a:buClr>
                <a:srgbClr val="000000"/>
              </a:buClr>
              <a:buSzPts val="1573"/>
              <a:buFont typeface="Arial"/>
              <a:buNone/>
            </a:pPr>
            <a:endParaRPr sz="1573" b="0" i="0" u="none" strike="noStrike" cap="none">
              <a:solidFill>
                <a:srgbClr val="000000"/>
              </a:solidFill>
              <a:latin typeface="Arial"/>
              <a:ea typeface="Arial"/>
              <a:cs typeface="Arial"/>
              <a:sym typeface="Arial"/>
            </a:endParaRPr>
          </a:p>
        </p:txBody>
      </p:sp>
      <p:sp>
        <p:nvSpPr>
          <p:cNvPr id="187" name="Google Shape;187;p4"/>
          <p:cNvSpPr/>
          <p:nvPr/>
        </p:nvSpPr>
        <p:spPr>
          <a:xfrm>
            <a:off x="277876" y="4291025"/>
            <a:ext cx="71700" cy="1232700"/>
          </a:xfrm>
          <a:prstGeom prst="rect">
            <a:avLst/>
          </a:prstGeom>
          <a:solidFill>
            <a:srgbClr val="F05519"/>
          </a:solidFill>
          <a:ln>
            <a:noFill/>
          </a:ln>
          <a:effectLst>
            <a:outerShdw blurRad="44934" dist="25837" dir="5400000" rotWithShape="0">
              <a:srgbClr val="000000">
                <a:alpha val="34902"/>
              </a:srgbClr>
            </a:outerShdw>
          </a:effectLst>
        </p:spPr>
        <p:txBody>
          <a:bodyPr spcFirstLastPara="1" wrap="square" lIns="102700" tIns="51325" rIns="102700" bIns="51325" anchor="ctr" anchorCtr="0">
            <a:noAutofit/>
          </a:bodyPr>
          <a:lstStyle/>
          <a:p>
            <a:pPr marL="0" marR="0" lvl="0" indent="0" algn="ctr" rtl="0">
              <a:lnSpc>
                <a:spcPct val="100000"/>
              </a:lnSpc>
              <a:spcBef>
                <a:spcPts val="0"/>
              </a:spcBef>
              <a:spcAft>
                <a:spcPts val="0"/>
              </a:spcAft>
              <a:buClr>
                <a:srgbClr val="000000"/>
              </a:buClr>
              <a:buSzPts val="1573"/>
              <a:buFont typeface="Arial"/>
              <a:buNone/>
            </a:pPr>
            <a:endParaRPr sz="1573" b="0" i="0" u="none" strike="noStrike" cap="none">
              <a:solidFill>
                <a:srgbClr val="000000"/>
              </a:solidFill>
              <a:latin typeface="Arial"/>
              <a:ea typeface="Arial"/>
              <a:cs typeface="Arial"/>
              <a:sym typeface="Arial"/>
            </a:endParaRPr>
          </a:p>
        </p:txBody>
      </p:sp>
      <p:sp>
        <p:nvSpPr>
          <p:cNvPr id="188" name="Google Shape;188;p4"/>
          <p:cNvSpPr txBox="1"/>
          <p:nvPr/>
        </p:nvSpPr>
        <p:spPr>
          <a:xfrm>
            <a:off x="462771" y="4434819"/>
            <a:ext cx="5321100" cy="304200"/>
          </a:xfrm>
          <a:prstGeom prst="rect">
            <a:avLst/>
          </a:prstGeom>
          <a:noFill/>
          <a:ln>
            <a:noFill/>
          </a:ln>
        </p:spPr>
        <p:txBody>
          <a:bodyPr spcFirstLastPara="1" wrap="square" lIns="30825" tIns="30825" rIns="30825" bIns="30825" anchor="t" anchorCtr="0">
            <a:spAutoFit/>
          </a:bodyPr>
          <a:lstStyle/>
          <a:p>
            <a:pPr marL="0" marR="0" lvl="0" indent="0" algn="l" rtl="0">
              <a:lnSpc>
                <a:spcPct val="105000"/>
              </a:lnSpc>
              <a:spcBef>
                <a:spcPts val="0"/>
              </a:spcBef>
              <a:spcAft>
                <a:spcPts val="0"/>
              </a:spcAft>
              <a:buClr>
                <a:srgbClr val="000000"/>
              </a:buClr>
              <a:buSzPts val="1573"/>
              <a:buFont typeface="Arial"/>
              <a:buNone/>
            </a:pPr>
            <a:r>
              <a:rPr lang="en-US" sz="1573" b="1" i="0" u="none" strike="noStrike" cap="none">
                <a:solidFill>
                  <a:srgbClr val="06507A"/>
                </a:solidFill>
                <a:latin typeface="Arial"/>
                <a:ea typeface="Arial"/>
                <a:cs typeface="Arial"/>
                <a:sym typeface="Arial"/>
              </a:rPr>
              <a:t>Classical autoencoder</a:t>
            </a:r>
            <a:endParaRPr sz="1573" b="0" i="0" u="none" strike="noStrike" cap="none">
              <a:solidFill>
                <a:srgbClr val="000000"/>
              </a:solidFill>
              <a:latin typeface="Arial"/>
              <a:ea typeface="Arial"/>
              <a:cs typeface="Arial"/>
              <a:sym typeface="Arial"/>
            </a:endParaRPr>
          </a:p>
        </p:txBody>
      </p:sp>
      <p:sp>
        <p:nvSpPr>
          <p:cNvPr id="189" name="Google Shape;189;p4"/>
          <p:cNvSpPr txBox="1"/>
          <p:nvPr/>
        </p:nvSpPr>
        <p:spPr>
          <a:xfrm>
            <a:off x="462771" y="4804608"/>
            <a:ext cx="5341500" cy="594000"/>
          </a:xfrm>
          <a:prstGeom prst="rect">
            <a:avLst/>
          </a:prstGeom>
          <a:noFill/>
          <a:ln>
            <a:noFill/>
          </a:ln>
        </p:spPr>
        <p:txBody>
          <a:bodyPr spcFirstLastPara="1" wrap="square" lIns="30825" tIns="30825" rIns="30825" bIns="30825" anchor="t" anchorCtr="0">
            <a:spAutoFit/>
          </a:bodyPr>
          <a:lstStyle/>
          <a:p>
            <a:pPr marL="0" marR="0" lvl="0" indent="0" algn="l" rtl="0">
              <a:lnSpc>
                <a:spcPct val="105000"/>
              </a:lnSpc>
              <a:spcBef>
                <a:spcPts val="0"/>
              </a:spcBef>
              <a:spcAft>
                <a:spcPts val="0"/>
              </a:spcAft>
              <a:buClr>
                <a:srgbClr val="000000"/>
              </a:buClr>
              <a:buSzPts val="1685"/>
              <a:buFont typeface="Arial"/>
              <a:buNone/>
            </a:pPr>
            <a:r>
              <a:rPr lang="en-US" sz="1685" b="0" i="0" u="none" strike="noStrike" cap="none">
                <a:solidFill>
                  <a:srgbClr val="1A1A1A"/>
                </a:solidFill>
                <a:latin typeface="Arial"/>
                <a:ea typeface="Arial"/>
                <a:cs typeface="Arial"/>
                <a:sym typeface="Arial"/>
              </a:rPr>
              <a:t>x → encoder → low-dimensional latent z → decoder → reconstructed x̂</a:t>
            </a:r>
            <a:endParaRPr sz="1573" b="0" i="0" u="none" strike="noStrike" cap="none">
              <a:solidFill>
                <a:srgbClr val="000000"/>
              </a:solidFill>
              <a:latin typeface="Arial"/>
              <a:ea typeface="Arial"/>
              <a:cs typeface="Arial"/>
              <a:sym typeface="Arial"/>
            </a:endParaRPr>
          </a:p>
        </p:txBody>
      </p:sp>
      <p:sp>
        <p:nvSpPr>
          <p:cNvPr id="190" name="Google Shape;190;p4"/>
          <p:cNvSpPr/>
          <p:nvPr/>
        </p:nvSpPr>
        <p:spPr>
          <a:xfrm>
            <a:off x="6261775" y="4283852"/>
            <a:ext cx="5649300" cy="1232700"/>
          </a:xfrm>
          <a:prstGeom prst="roundRect">
            <a:avLst>
              <a:gd name="adj" fmla="val 16667"/>
            </a:avLst>
          </a:prstGeom>
          <a:solidFill>
            <a:srgbClr val="FBF8F1"/>
          </a:solidFill>
          <a:ln w="11400" cap="flat" cmpd="sng">
            <a:solidFill>
              <a:srgbClr val="E7E1D5"/>
            </a:solidFill>
            <a:prstDash val="solid"/>
            <a:round/>
            <a:headEnd type="none" w="sm" len="sm"/>
            <a:tailEnd type="none" w="sm" len="sm"/>
          </a:ln>
          <a:effectLst>
            <a:outerShdw blurRad="44933" dist="25836" dir="5400000" rotWithShape="0">
              <a:srgbClr val="000000">
                <a:alpha val="34902"/>
              </a:srgbClr>
            </a:outerShdw>
          </a:effectLst>
        </p:spPr>
        <p:txBody>
          <a:bodyPr spcFirstLastPara="1" wrap="square" lIns="102700" tIns="51325" rIns="102700" bIns="51325" anchor="ctr" anchorCtr="0">
            <a:noAutofit/>
          </a:bodyPr>
          <a:lstStyle/>
          <a:p>
            <a:pPr marL="0" marR="0" lvl="0" indent="0" algn="ctr" rtl="0">
              <a:lnSpc>
                <a:spcPct val="100000"/>
              </a:lnSpc>
              <a:spcBef>
                <a:spcPts val="0"/>
              </a:spcBef>
              <a:spcAft>
                <a:spcPts val="0"/>
              </a:spcAft>
              <a:buClr>
                <a:srgbClr val="000000"/>
              </a:buClr>
              <a:buSzPts val="1573"/>
              <a:buFont typeface="Arial"/>
              <a:buNone/>
            </a:pPr>
            <a:endParaRPr sz="1573" b="0" i="0" u="none" strike="noStrike" cap="none">
              <a:solidFill>
                <a:srgbClr val="000000"/>
              </a:solidFill>
              <a:latin typeface="Arial"/>
              <a:ea typeface="Arial"/>
              <a:cs typeface="Arial"/>
              <a:sym typeface="Arial"/>
            </a:endParaRPr>
          </a:p>
        </p:txBody>
      </p:sp>
      <p:sp>
        <p:nvSpPr>
          <p:cNvPr id="191" name="Google Shape;191;p4"/>
          <p:cNvSpPr txBox="1"/>
          <p:nvPr/>
        </p:nvSpPr>
        <p:spPr>
          <a:xfrm>
            <a:off x="6446666" y="4427652"/>
            <a:ext cx="5320800" cy="304200"/>
          </a:xfrm>
          <a:prstGeom prst="rect">
            <a:avLst/>
          </a:prstGeom>
          <a:noFill/>
          <a:ln>
            <a:noFill/>
          </a:ln>
        </p:spPr>
        <p:txBody>
          <a:bodyPr spcFirstLastPara="1" wrap="square" lIns="30800" tIns="30800" rIns="30800" bIns="30800" anchor="t" anchorCtr="0">
            <a:spAutoFit/>
          </a:bodyPr>
          <a:lstStyle/>
          <a:p>
            <a:pPr marL="0" marR="0" lvl="0" indent="0" algn="l" rtl="0">
              <a:lnSpc>
                <a:spcPct val="105000"/>
              </a:lnSpc>
              <a:spcBef>
                <a:spcPts val="0"/>
              </a:spcBef>
              <a:spcAft>
                <a:spcPts val="0"/>
              </a:spcAft>
              <a:buClr>
                <a:srgbClr val="000000"/>
              </a:buClr>
              <a:buSzPts val="1573"/>
              <a:buFont typeface="Arial"/>
              <a:buNone/>
            </a:pPr>
            <a:r>
              <a:rPr lang="en-US" sz="1573" b="1" i="0" u="none" strike="noStrike" cap="none">
                <a:solidFill>
                  <a:srgbClr val="06507A"/>
                </a:solidFill>
                <a:latin typeface="Arial"/>
                <a:ea typeface="Arial"/>
                <a:cs typeface="Arial"/>
                <a:sym typeface="Arial"/>
              </a:rPr>
              <a:t>Quantum complication</a:t>
            </a:r>
            <a:endParaRPr sz="1573" b="0" i="0" u="none" strike="noStrike" cap="none">
              <a:solidFill>
                <a:srgbClr val="000000"/>
              </a:solidFill>
              <a:latin typeface="Arial"/>
              <a:ea typeface="Arial"/>
              <a:cs typeface="Arial"/>
              <a:sym typeface="Arial"/>
            </a:endParaRPr>
          </a:p>
        </p:txBody>
      </p:sp>
      <p:sp>
        <p:nvSpPr>
          <p:cNvPr id="192" name="Google Shape;192;p4"/>
          <p:cNvSpPr txBox="1"/>
          <p:nvPr/>
        </p:nvSpPr>
        <p:spPr>
          <a:xfrm>
            <a:off x="6446666" y="4797428"/>
            <a:ext cx="5341500" cy="594000"/>
          </a:xfrm>
          <a:prstGeom prst="rect">
            <a:avLst/>
          </a:prstGeom>
          <a:noFill/>
          <a:ln>
            <a:noFill/>
          </a:ln>
        </p:spPr>
        <p:txBody>
          <a:bodyPr spcFirstLastPara="1" wrap="square" lIns="30800" tIns="30800" rIns="30800" bIns="30800" anchor="t" anchorCtr="0">
            <a:spAutoFit/>
          </a:bodyPr>
          <a:lstStyle/>
          <a:p>
            <a:pPr marL="0" marR="0" lvl="0" indent="0" algn="l" rtl="0">
              <a:lnSpc>
                <a:spcPct val="105000"/>
              </a:lnSpc>
              <a:spcBef>
                <a:spcPts val="0"/>
              </a:spcBef>
              <a:spcAft>
                <a:spcPts val="0"/>
              </a:spcAft>
              <a:buClr>
                <a:srgbClr val="000000"/>
              </a:buClr>
              <a:buSzPts val="1685"/>
              <a:buFont typeface="Arial"/>
              <a:buNone/>
            </a:pPr>
            <a:r>
              <a:rPr lang="en-US" sz="1685" b="0" i="0" u="none" strike="noStrike" cap="none">
                <a:solidFill>
                  <a:srgbClr val="1A1A1A"/>
                </a:solidFill>
                <a:latin typeface="Arial"/>
                <a:ea typeface="Arial"/>
                <a:cs typeface="Arial"/>
                <a:sym typeface="Arial"/>
              </a:rPr>
              <a:t>Unitary evolution preserves dimension, so a QAE must explicitly discard and replace trash qubits.</a:t>
            </a:r>
            <a:endParaRPr sz="1573" b="0" i="0" u="none" strike="noStrike" cap="none">
              <a:solidFill>
                <a:srgbClr val="000000"/>
              </a:solidFill>
              <a:latin typeface="Arial"/>
              <a:ea typeface="Arial"/>
              <a:cs typeface="Arial"/>
              <a:sym typeface="Arial"/>
            </a:endParaRPr>
          </a:p>
        </p:txBody>
      </p:sp>
      <p:sp>
        <p:nvSpPr>
          <p:cNvPr id="193" name="Google Shape;193;p4"/>
          <p:cNvSpPr txBox="1"/>
          <p:nvPr/>
        </p:nvSpPr>
        <p:spPr>
          <a:xfrm>
            <a:off x="2964530" y="3799968"/>
            <a:ext cx="5440800" cy="240000"/>
          </a:xfrm>
          <a:prstGeom prst="rect">
            <a:avLst/>
          </a:prstGeom>
          <a:noFill/>
          <a:ln>
            <a:noFill/>
          </a:ln>
        </p:spPr>
        <p:txBody>
          <a:bodyPr spcFirstLastPara="1" wrap="square" lIns="27425" tIns="27425" rIns="27425" bIns="27425" anchor="t" anchorCtr="0">
            <a:spAutoFit/>
          </a:bodyPr>
          <a:lstStyle/>
          <a:p>
            <a:pPr marL="0" marR="0" lvl="0" indent="0" algn="ctr" rtl="0">
              <a:lnSpc>
                <a:spcPct val="105000"/>
              </a:lnSpc>
              <a:spcBef>
                <a:spcPts val="0"/>
              </a:spcBef>
              <a:spcAft>
                <a:spcPts val="0"/>
              </a:spcAft>
              <a:buClr>
                <a:srgbClr val="000000"/>
              </a:buClr>
              <a:buSzPts val="1200"/>
              <a:buFont typeface="Arial"/>
              <a:buNone/>
            </a:pPr>
            <a:r>
              <a:rPr lang="en-US" sz="1200" b="0" i="1" u="none" strike="noStrike" cap="none">
                <a:solidFill>
                  <a:srgbClr val="666666"/>
                </a:solidFill>
                <a:latin typeface="Arial"/>
                <a:ea typeface="Arial"/>
                <a:cs typeface="Arial"/>
                <a:sym typeface="Arial"/>
              </a:rPr>
              <a:t>Figure 1 compares the CAE and QAE bottlenecks.</a:t>
            </a:r>
            <a:endParaRPr sz="1400" b="0" i="0" u="none" strike="noStrike" cap="none">
              <a:solidFill>
                <a:srgbClr val="000000"/>
              </a:solidFill>
              <a:latin typeface="Arial"/>
              <a:ea typeface="Arial"/>
              <a:cs typeface="Arial"/>
              <a:sym typeface="Arial"/>
            </a:endParaRPr>
          </a:p>
        </p:txBody>
      </p:sp>
      <p:sp>
        <p:nvSpPr>
          <p:cNvPr id="194" name="Google Shape;194;p4"/>
          <p:cNvSpPr/>
          <p:nvPr/>
        </p:nvSpPr>
        <p:spPr>
          <a:xfrm>
            <a:off x="6261770" y="4283860"/>
            <a:ext cx="71700" cy="1232700"/>
          </a:xfrm>
          <a:prstGeom prst="rect">
            <a:avLst/>
          </a:prstGeom>
          <a:solidFill>
            <a:srgbClr val="06507A"/>
          </a:solidFill>
          <a:ln>
            <a:noFill/>
          </a:ln>
          <a:effectLst>
            <a:outerShdw blurRad="44933" dist="25836" dir="5400000" rotWithShape="0">
              <a:srgbClr val="000000">
                <a:alpha val="34902"/>
              </a:srgbClr>
            </a:outerShdw>
          </a:effectLst>
        </p:spPr>
        <p:txBody>
          <a:bodyPr spcFirstLastPara="1" wrap="square" lIns="102700" tIns="51325" rIns="102700" bIns="51325" anchor="ctr" anchorCtr="0">
            <a:noAutofit/>
          </a:bodyPr>
          <a:lstStyle/>
          <a:p>
            <a:pPr marL="0" marR="0" lvl="0" indent="0" algn="ctr" rtl="0">
              <a:lnSpc>
                <a:spcPct val="100000"/>
              </a:lnSpc>
              <a:spcBef>
                <a:spcPts val="0"/>
              </a:spcBef>
              <a:spcAft>
                <a:spcPts val="0"/>
              </a:spcAft>
              <a:buClr>
                <a:srgbClr val="000000"/>
              </a:buClr>
              <a:buSzPts val="1573"/>
              <a:buFont typeface="Arial"/>
              <a:buNone/>
            </a:pPr>
            <a:endParaRPr sz="1573"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8"/>
        <p:cNvGrpSpPr/>
        <p:nvPr/>
      </p:nvGrpSpPr>
      <p:grpSpPr>
        <a:xfrm>
          <a:off x="0" y="0"/>
          <a:ext cx="0" cy="0"/>
          <a:chOff x="0" y="0"/>
          <a:chExt cx="0" cy="0"/>
        </a:xfrm>
      </p:grpSpPr>
      <p:sp>
        <p:nvSpPr>
          <p:cNvPr id="199" name="Google Shape;199;g3f82550f26e_1_1"/>
          <p:cNvSpPr txBox="1"/>
          <p:nvPr/>
        </p:nvSpPr>
        <p:spPr>
          <a:xfrm>
            <a:off x="338328" y="803307"/>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2700"/>
              <a:buFont typeface="Arial"/>
              <a:buNone/>
            </a:pPr>
            <a:r>
              <a:rPr lang="en-US" sz="2400" b="1" i="0" u="none" strike="noStrike" cap="none">
                <a:solidFill>
                  <a:srgbClr val="1A1A1A"/>
                </a:solidFill>
                <a:latin typeface="Arial"/>
                <a:ea typeface="Arial"/>
                <a:cs typeface="Arial"/>
                <a:sym typeface="Arial"/>
              </a:rPr>
              <a:t>How the classical autoencoder actually works</a:t>
            </a:r>
            <a:endParaRPr sz="2400" b="1" i="0" u="none" strike="noStrike" cap="none">
              <a:solidFill>
                <a:srgbClr val="1A1A1A"/>
              </a:solidFill>
              <a:latin typeface="Arial"/>
              <a:ea typeface="Arial"/>
              <a:cs typeface="Arial"/>
              <a:sym typeface="Arial"/>
            </a:endParaRPr>
          </a:p>
        </p:txBody>
      </p:sp>
      <p:cxnSp>
        <p:nvCxnSpPr>
          <p:cNvPr id="200" name="Google Shape;200;g3f82550f26e_1_1"/>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201" name="Google Shape;201;g3f82550f26e_1_1"/>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g3f82550f26e_1_1"/>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204" name="Google Shape;204;g3f82550f26e_1_1"/>
          <p:cNvSpPr txBox="1"/>
          <p:nvPr/>
        </p:nvSpPr>
        <p:spPr>
          <a:xfrm>
            <a:off x="10753344" y="6163056"/>
            <a:ext cx="731400" cy="209400"/>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205" name="Google Shape;205;g3f82550f26e_1_1"/>
          <p:cNvSpPr/>
          <p:nvPr/>
        </p:nvSpPr>
        <p:spPr>
          <a:xfrm>
            <a:off x="710044" y="1796833"/>
            <a:ext cx="1234500" cy="676800"/>
          </a:xfrm>
          <a:prstGeom prst="roundRect">
            <a:avLst>
              <a:gd name="adj" fmla="val 16667"/>
            </a:avLst>
          </a:prstGeom>
          <a:solidFill>
            <a:srgbClr val="E7F2F7"/>
          </a:solidFill>
          <a:ln w="2030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g3f82550f26e_1_1"/>
          <p:cNvSpPr/>
          <p:nvPr/>
        </p:nvSpPr>
        <p:spPr>
          <a:xfrm>
            <a:off x="783199" y="1906561"/>
            <a:ext cx="1088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577F"/>
              </a:buClr>
              <a:buSzPts val="1100"/>
              <a:buFont typeface="Arial"/>
              <a:buNone/>
            </a:pPr>
            <a:r>
              <a:rPr lang="en-US" sz="1100" b="1" i="0" u="none" strike="noStrike" cap="none">
                <a:solidFill>
                  <a:srgbClr val="00577F"/>
                </a:solidFill>
                <a:latin typeface="Arial"/>
                <a:ea typeface="Arial"/>
                <a:cs typeface="Arial"/>
                <a:sym typeface="Arial"/>
              </a:rPr>
              <a:t>Input vector</a:t>
            </a:r>
            <a:endParaRPr sz="1100" b="0" i="0" u="none" strike="noStrike" cap="none">
              <a:solidFill>
                <a:schemeClr val="dk1"/>
              </a:solidFill>
              <a:latin typeface="Arial"/>
              <a:ea typeface="Arial"/>
              <a:cs typeface="Arial"/>
              <a:sym typeface="Arial"/>
            </a:endParaRPr>
          </a:p>
        </p:txBody>
      </p:sp>
      <p:sp>
        <p:nvSpPr>
          <p:cNvPr id="207" name="Google Shape;207;g3f82550f26e_1_1"/>
          <p:cNvSpPr/>
          <p:nvPr/>
        </p:nvSpPr>
        <p:spPr>
          <a:xfrm>
            <a:off x="783199" y="2162593"/>
            <a:ext cx="1088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1111"/>
              </a:buClr>
              <a:buSzPts val="1000"/>
              <a:buFont typeface="Arial"/>
              <a:buNone/>
            </a:pPr>
            <a:r>
              <a:rPr lang="en-US" sz="1000" b="0" i="0" u="none" strike="noStrike" cap="none">
                <a:solidFill>
                  <a:srgbClr val="111111"/>
                </a:solidFill>
                <a:latin typeface="Arial"/>
                <a:ea typeface="Arial"/>
                <a:cs typeface="Arial"/>
                <a:sym typeface="Arial"/>
              </a:rPr>
              <a:t>x = physics features</a:t>
            </a:r>
            <a:endParaRPr sz="1000" b="0" i="0" u="none" strike="noStrike" cap="none">
              <a:solidFill>
                <a:schemeClr val="dk1"/>
              </a:solidFill>
              <a:latin typeface="Arial"/>
              <a:ea typeface="Arial"/>
              <a:cs typeface="Arial"/>
              <a:sym typeface="Arial"/>
            </a:endParaRPr>
          </a:p>
        </p:txBody>
      </p:sp>
      <p:sp>
        <p:nvSpPr>
          <p:cNvPr id="208" name="Google Shape;208;g3f82550f26e_1_1"/>
          <p:cNvSpPr/>
          <p:nvPr/>
        </p:nvSpPr>
        <p:spPr>
          <a:xfrm>
            <a:off x="2511475" y="1796833"/>
            <a:ext cx="1234500" cy="676800"/>
          </a:xfrm>
          <a:prstGeom prst="roundRect">
            <a:avLst>
              <a:gd name="adj" fmla="val 16667"/>
            </a:avLst>
          </a:prstGeom>
          <a:solidFill>
            <a:srgbClr val="E7F2F7"/>
          </a:solidFill>
          <a:ln w="2030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g3f82550f26e_1_1"/>
          <p:cNvSpPr/>
          <p:nvPr/>
        </p:nvSpPr>
        <p:spPr>
          <a:xfrm>
            <a:off x="2584630" y="1906561"/>
            <a:ext cx="1088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577F"/>
              </a:buClr>
              <a:buSzPts val="1100"/>
              <a:buFont typeface="Arial"/>
              <a:buNone/>
            </a:pPr>
            <a:r>
              <a:rPr lang="en-US" sz="1100" b="1" i="0" u="none" strike="noStrike" cap="none">
                <a:solidFill>
                  <a:srgbClr val="00577F"/>
                </a:solidFill>
                <a:latin typeface="Arial"/>
                <a:ea typeface="Arial"/>
                <a:cs typeface="Arial"/>
                <a:sym typeface="Arial"/>
              </a:rPr>
              <a:t>Encoder</a:t>
            </a:r>
            <a:endParaRPr sz="1100" b="0" i="0" u="none" strike="noStrike" cap="none">
              <a:solidFill>
                <a:schemeClr val="dk1"/>
              </a:solidFill>
              <a:latin typeface="Arial"/>
              <a:ea typeface="Arial"/>
              <a:cs typeface="Arial"/>
              <a:sym typeface="Arial"/>
            </a:endParaRPr>
          </a:p>
        </p:txBody>
      </p:sp>
      <p:sp>
        <p:nvSpPr>
          <p:cNvPr id="210" name="Google Shape;210;g3f82550f26e_1_1"/>
          <p:cNvSpPr/>
          <p:nvPr/>
        </p:nvSpPr>
        <p:spPr>
          <a:xfrm>
            <a:off x="2584630" y="2162593"/>
            <a:ext cx="1088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1111"/>
              </a:buClr>
              <a:buSzPts val="1000"/>
              <a:buFont typeface="Arial"/>
              <a:buNone/>
            </a:pPr>
            <a:r>
              <a:rPr lang="en-US" sz="1000" b="0" i="0" u="none" strike="noStrike" cap="none">
                <a:solidFill>
                  <a:srgbClr val="111111"/>
                </a:solidFill>
                <a:latin typeface="Arial"/>
                <a:ea typeface="Arial"/>
                <a:cs typeface="Arial"/>
                <a:sym typeface="Arial"/>
              </a:rPr>
              <a:t>E(ΘE, x)</a:t>
            </a:r>
            <a:endParaRPr sz="1000" b="0" i="0" u="none" strike="noStrike" cap="none">
              <a:solidFill>
                <a:schemeClr val="dk1"/>
              </a:solidFill>
              <a:latin typeface="Arial"/>
              <a:ea typeface="Arial"/>
              <a:cs typeface="Arial"/>
              <a:sym typeface="Arial"/>
            </a:endParaRPr>
          </a:p>
        </p:txBody>
      </p:sp>
      <p:sp>
        <p:nvSpPr>
          <p:cNvPr id="211" name="Google Shape;211;g3f82550f26e_1_1"/>
          <p:cNvSpPr/>
          <p:nvPr/>
        </p:nvSpPr>
        <p:spPr>
          <a:xfrm>
            <a:off x="4404349" y="1796833"/>
            <a:ext cx="1234500" cy="676800"/>
          </a:xfrm>
          <a:prstGeom prst="roundRect">
            <a:avLst>
              <a:gd name="adj" fmla="val 16667"/>
            </a:avLst>
          </a:prstGeom>
          <a:solidFill>
            <a:srgbClr val="FFF2EA"/>
          </a:solidFill>
          <a:ln w="20300" cap="flat" cmpd="sng">
            <a:solidFill>
              <a:srgbClr val="F05A2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g3f82550f26e_1_1"/>
          <p:cNvSpPr/>
          <p:nvPr/>
        </p:nvSpPr>
        <p:spPr>
          <a:xfrm>
            <a:off x="4477504" y="1906561"/>
            <a:ext cx="1088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5A24"/>
              </a:buClr>
              <a:buSzPts val="1100"/>
              <a:buFont typeface="Arial"/>
              <a:buNone/>
            </a:pPr>
            <a:r>
              <a:rPr lang="en-US" sz="1100" b="1" i="0" u="none" strike="noStrike" cap="none">
                <a:solidFill>
                  <a:srgbClr val="F05A24"/>
                </a:solidFill>
                <a:latin typeface="Arial"/>
                <a:ea typeface="Arial"/>
                <a:cs typeface="Arial"/>
                <a:sym typeface="Arial"/>
              </a:rPr>
              <a:t>Latent code</a:t>
            </a:r>
            <a:endParaRPr sz="1100" b="0" i="0" u="none" strike="noStrike" cap="none">
              <a:solidFill>
                <a:schemeClr val="dk1"/>
              </a:solidFill>
              <a:latin typeface="Arial"/>
              <a:ea typeface="Arial"/>
              <a:cs typeface="Arial"/>
              <a:sym typeface="Arial"/>
            </a:endParaRPr>
          </a:p>
        </p:txBody>
      </p:sp>
      <p:sp>
        <p:nvSpPr>
          <p:cNvPr id="213" name="Google Shape;213;g3f82550f26e_1_1"/>
          <p:cNvSpPr/>
          <p:nvPr/>
        </p:nvSpPr>
        <p:spPr>
          <a:xfrm>
            <a:off x="4477504" y="2162593"/>
            <a:ext cx="1088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1111"/>
              </a:buClr>
              <a:buSzPts val="1000"/>
              <a:buFont typeface="Arial"/>
              <a:buNone/>
            </a:pPr>
            <a:r>
              <a:rPr lang="en-US" sz="1000" b="0" i="1" u="none" strike="noStrike" cap="none">
                <a:solidFill>
                  <a:srgbClr val="111111"/>
                </a:solidFill>
                <a:latin typeface="Arial"/>
                <a:ea typeface="Arial"/>
                <a:cs typeface="Arial"/>
                <a:sym typeface="Arial"/>
              </a:rPr>
              <a:t>z,  k &lt; n</a:t>
            </a:r>
            <a:endParaRPr sz="1000" b="0" i="0" u="none" strike="noStrike" cap="none">
              <a:solidFill>
                <a:schemeClr val="dk1"/>
              </a:solidFill>
              <a:latin typeface="Arial"/>
              <a:ea typeface="Arial"/>
              <a:cs typeface="Arial"/>
              <a:sym typeface="Arial"/>
            </a:endParaRPr>
          </a:p>
        </p:txBody>
      </p:sp>
      <p:sp>
        <p:nvSpPr>
          <p:cNvPr id="214" name="Google Shape;214;g3f82550f26e_1_1"/>
          <p:cNvSpPr/>
          <p:nvPr/>
        </p:nvSpPr>
        <p:spPr>
          <a:xfrm>
            <a:off x="6352089" y="1796833"/>
            <a:ext cx="1234500" cy="676800"/>
          </a:xfrm>
          <a:prstGeom prst="roundRect">
            <a:avLst>
              <a:gd name="adj" fmla="val 16667"/>
            </a:avLst>
          </a:prstGeom>
          <a:solidFill>
            <a:srgbClr val="E7F2F7"/>
          </a:solidFill>
          <a:ln w="2030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g3f82550f26e_1_1"/>
          <p:cNvSpPr/>
          <p:nvPr/>
        </p:nvSpPr>
        <p:spPr>
          <a:xfrm>
            <a:off x="6425244" y="1906561"/>
            <a:ext cx="1088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577F"/>
              </a:buClr>
              <a:buSzPts val="1100"/>
              <a:buFont typeface="Arial"/>
              <a:buNone/>
            </a:pPr>
            <a:r>
              <a:rPr lang="en-US" sz="1100" b="1" i="0" u="none" strike="noStrike" cap="none">
                <a:solidFill>
                  <a:srgbClr val="00577F"/>
                </a:solidFill>
                <a:latin typeface="Arial"/>
                <a:ea typeface="Arial"/>
                <a:cs typeface="Arial"/>
                <a:sym typeface="Arial"/>
              </a:rPr>
              <a:t>Decoder</a:t>
            </a:r>
            <a:endParaRPr sz="1100" b="0" i="0" u="none" strike="noStrike" cap="none">
              <a:solidFill>
                <a:schemeClr val="dk1"/>
              </a:solidFill>
              <a:latin typeface="Arial"/>
              <a:ea typeface="Arial"/>
              <a:cs typeface="Arial"/>
              <a:sym typeface="Arial"/>
            </a:endParaRPr>
          </a:p>
        </p:txBody>
      </p:sp>
      <p:sp>
        <p:nvSpPr>
          <p:cNvPr id="216" name="Google Shape;216;g3f82550f26e_1_1"/>
          <p:cNvSpPr/>
          <p:nvPr/>
        </p:nvSpPr>
        <p:spPr>
          <a:xfrm>
            <a:off x="6425244" y="2162593"/>
            <a:ext cx="1088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1111"/>
              </a:buClr>
              <a:buSzPts val="1000"/>
              <a:buFont typeface="Arial"/>
              <a:buNone/>
            </a:pPr>
            <a:r>
              <a:rPr lang="en-US" sz="1000" b="0" i="0" u="none" strike="noStrike" cap="none">
                <a:solidFill>
                  <a:srgbClr val="111111"/>
                </a:solidFill>
                <a:latin typeface="Arial"/>
                <a:ea typeface="Arial"/>
                <a:cs typeface="Arial"/>
                <a:sym typeface="Arial"/>
              </a:rPr>
              <a:t>D(ΘD, z)</a:t>
            </a:r>
            <a:endParaRPr sz="1000" b="0" i="0" u="none" strike="noStrike" cap="none">
              <a:solidFill>
                <a:schemeClr val="dk1"/>
              </a:solidFill>
              <a:latin typeface="Arial"/>
              <a:ea typeface="Arial"/>
              <a:cs typeface="Arial"/>
              <a:sym typeface="Arial"/>
            </a:endParaRPr>
          </a:p>
        </p:txBody>
      </p:sp>
      <p:sp>
        <p:nvSpPr>
          <p:cNvPr id="217" name="Google Shape;217;g3f82550f26e_1_1"/>
          <p:cNvSpPr/>
          <p:nvPr/>
        </p:nvSpPr>
        <p:spPr>
          <a:xfrm>
            <a:off x="8272396" y="1796833"/>
            <a:ext cx="1234500" cy="676800"/>
          </a:xfrm>
          <a:prstGeom prst="roundRect">
            <a:avLst>
              <a:gd name="adj" fmla="val 16667"/>
            </a:avLst>
          </a:prstGeom>
          <a:solidFill>
            <a:srgbClr val="E7F2F7"/>
          </a:solidFill>
          <a:ln w="2030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g3f82550f26e_1_1"/>
          <p:cNvSpPr/>
          <p:nvPr/>
        </p:nvSpPr>
        <p:spPr>
          <a:xfrm>
            <a:off x="8345551" y="1906561"/>
            <a:ext cx="1088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577F"/>
              </a:buClr>
              <a:buSzPts val="1100"/>
              <a:buFont typeface="Arial"/>
              <a:buNone/>
            </a:pPr>
            <a:r>
              <a:rPr lang="en-US" sz="1100" b="1" i="0" u="none" strike="noStrike" cap="none">
                <a:solidFill>
                  <a:srgbClr val="00577F"/>
                </a:solidFill>
                <a:latin typeface="Arial"/>
                <a:ea typeface="Arial"/>
                <a:cs typeface="Arial"/>
                <a:sym typeface="Arial"/>
              </a:rPr>
              <a:t>Reconstruction</a:t>
            </a:r>
            <a:endParaRPr sz="1100" b="0" i="0" u="none" strike="noStrike" cap="none">
              <a:solidFill>
                <a:schemeClr val="dk1"/>
              </a:solidFill>
              <a:latin typeface="Arial"/>
              <a:ea typeface="Arial"/>
              <a:cs typeface="Arial"/>
              <a:sym typeface="Arial"/>
            </a:endParaRPr>
          </a:p>
        </p:txBody>
      </p:sp>
      <p:sp>
        <p:nvSpPr>
          <p:cNvPr id="219" name="Google Shape;219;g3f82550f26e_1_1"/>
          <p:cNvSpPr/>
          <p:nvPr/>
        </p:nvSpPr>
        <p:spPr>
          <a:xfrm>
            <a:off x="8345551" y="2162593"/>
            <a:ext cx="10881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11111"/>
              </a:buClr>
              <a:buSzPts val="1000"/>
              <a:buFont typeface="Arial"/>
              <a:buNone/>
            </a:pPr>
            <a:r>
              <a:rPr lang="en-US" sz="1000" b="0" i="0" u="none" strike="noStrike" cap="none">
                <a:solidFill>
                  <a:srgbClr val="111111"/>
                </a:solidFill>
                <a:latin typeface="Arial"/>
                <a:ea typeface="Arial"/>
                <a:cs typeface="Arial"/>
                <a:sym typeface="Arial"/>
              </a:rPr>
              <a:t>x̂</a:t>
            </a:r>
            <a:endParaRPr sz="1000" b="0" i="0" u="none" strike="noStrike" cap="none">
              <a:solidFill>
                <a:schemeClr val="dk1"/>
              </a:solidFill>
              <a:latin typeface="Arial"/>
              <a:ea typeface="Arial"/>
              <a:cs typeface="Arial"/>
              <a:sym typeface="Arial"/>
            </a:endParaRPr>
          </a:p>
        </p:txBody>
      </p:sp>
      <p:cxnSp>
        <p:nvCxnSpPr>
          <p:cNvPr id="220" name="Google Shape;220;g3f82550f26e_1_1"/>
          <p:cNvCxnSpPr/>
          <p:nvPr/>
        </p:nvCxnSpPr>
        <p:spPr>
          <a:xfrm>
            <a:off x="2035971" y="2135161"/>
            <a:ext cx="384000" cy="0"/>
          </a:xfrm>
          <a:prstGeom prst="straightConnector1">
            <a:avLst/>
          </a:prstGeom>
          <a:noFill/>
          <a:ln w="25400" cap="flat" cmpd="sng">
            <a:solidFill>
              <a:srgbClr val="00577F"/>
            </a:solidFill>
            <a:prstDash val="solid"/>
            <a:round/>
            <a:headEnd type="none" w="sm" len="sm"/>
            <a:tailEnd type="triangle" w="med" len="med"/>
          </a:ln>
        </p:spPr>
      </p:cxnSp>
      <p:cxnSp>
        <p:nvCxnSpPr>
          <p:cNvPr id="221" name="Google Shape;221;g3f82550f26e_1_1"/>
          <p:cNvCxnSpPr/>
          <p:nvPr/>
        </p:nvCxnSpPr>
        <p:spPr>
          <a:xfrm>
            <a:off x="3837401" y="2135161"/>
            <a:ext cx="475500" cy="0"/>
          </a:xfrm>
          <a:prstGeom prst="straightConnector1">
            <a:avLst/>
          </a:prstGeom>
          <a:noFill/>
          <a:ln w="25400" cap="flat" cmpd="sng">
            <a:solidFill>
              <a:srgbClr val="00577F"/>
            </a:solidFill>
            <a:prstDash val="solid"/>
            <a:round/>
            <a:headEnd type="none" w="sm" len="sm"/>
            <a:tailEnd type="triangle" w="med" len="med"/>
          </a:ln>
        </p:spPr>
      </p:cxnSp>
      <p:cxnSp>
        <p:nvCxnSpPr>
          <p:cNvPr id="222" name="Google Shape;222;g3f82550f26e_1_1"/>
          <p:cNvCxnSpPr/>
          <p:nvPr/>
        </p:nvCxnSpPr>
        <p:spPr>
          <a:xfrm>
            <a:off x="5730275" y="2135161"/>
            <a:ext cx="530400" cy="0"/>
          </a:xfrm>
          <a:prstGeom prst="straightConnector1">
            <a:avLst/>
          </a:prstGeom>
          <a:noFill/>
          <a:ln w="25400" cap="flat" cmpd="sng">
            <a:solidFill>
              <a:srgbClr val="00577F"/>
            </a:solidFill>
            <a:prstDash val="solid"/>
            <a:round/>
            <a:headEnd type="none" w="sm" len="sm"/>
            <a:tailEnd type="triangle" w="med" len="med"/>
          </a:ln>
        </p:spPr>
      </p:cxnSp>
      <p:cxnSp>
        <p:nvCxnSpPr>
          <p:cNvPr id="223" name="Google Shape;223;g3f82550f26e_1_1"/>
          <p:cNvCxnSpPr/>
          <p:nvPr/>
        </p:nvCxnSpPr>
        <p:spPr>
          <a:xfrm>
            <a:off x="7678015" y="2135161"/>
            <a:ext cx="502800" cy="0"/>
          </a:xfrm>
          <a:prstGeom prst="straightConnector1">
            <a:avLst/>
          </a:prstGeom>
          <a:noFill/>
          <a:ln w="25400" cap="flat" cmpd="sng">
            <a:solidFill>
              <a:srgbClr val="00577F"/>
            </a:solidFill>
            <a:prstDash val="solid"/>
            <a:round/>
            <a:headEnd type="none" w="sm" len="sm"/>
            <a:tailEnd type="triangle" w="med" len="med"/>
          </a:ln>
        </p:spPr>
      </p:cxnSp>
      <p:sp>
        <p:nvSpPr>
          <p:cNvPr id="224" name="Google Shape;224;g3f82550f26e_1_1"/>
          <p:cNvSpPr/>
          <p:nvPr/>
        </p:nvSpPr>
        <p:spPr>
          <a:xfrm>
            <a:off x="774055" y="2738665"/>
            <a:ext cx="5303700" cy="502800"/>
          </a:xfrm>
          <a:prstGeom prst="roundRect">
            <a:avLst>
              <a:gd name="adj" fmla="val 16667"/>
            </a:avLst>
          </a:prstGeom>
          <a:solidFill>
            <a:srgbClr val="FFFFFF"/>
          </a:solidFill>
          <a:ln w="12700" cap="flat" cmpd="sng">
            <a:solidFill>
              <a:srgbClr val="D7D3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g3f82550f26e_1_1"/>
          <p:cNvSpPr/>
          <p:nvPr/>
        </p:nvSpPr>
        <p:spPr>
          <a:xfrm>
            <a:off x="6443532" y="2683800"/>
            <a:ext cx="63900" cy="841200"/>
          </a:xfrm>
          <a:prstGeom prst="rect">
            <a:avLst/>
          </a:prstGeom>
          <a:solidFill>
            <a:srgbClr val="F05A24"/>
          </a:solidFill>
          <a:ln w="12700" cap="flat" cmpd="sng">
            <a:solidFill>
              <a:srgbClr val="F05A2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g3f82550f26e_1_1"/>
          <p:cNvSpPr/>
          <p:nvPr/>
        </p:nvSpPr>
        <p:spPr>
          <a:xfrm>
            <a:off x="6653852" y="2651373"/>
            <a:ext cx="45723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100"/>
              <a:buFont typeface="Arial"/>
              <a:buNone/>
            </a:pPr>
            <a:r>
              <a:rPr lang="en-US" sz="1100" b="1" i="0" u="none" strike="noStrike" cap="none">
                <a:solidFill>
                  <a:srgbClr val="00577F"/>
                </a:solidFill>
                <a:latin typeface="Arial"/>
                <a:ea typeface="Arial"/>
                <a:cs typeface="Arial"/>
                <a:sym typeface="Arial"/>
              </a:rPr>
              <a:t>Minimize reconstruction error RMSE</a:t>
            </a:r>
            <a:endParaRPr sz="1100" b="1" i="0" u="none" strike="noStrike" cap="none">
              <a:solidFill>
                <a:srgbClr val="00577F"/>
              </a:solidFill>
              <a:latin typeface="Arial"/>
              <a:ea typeface="Arial"/>
              <a:cs typeface="Arial"/>
              <a:sym typeface="Arial"/>
            </a:endParaRPr>
          </a:p>
        </p:txBody>
      </p:sp>
      <p:sp>
        <p:nvSpPr>
          <p:cNvPr id="227" name="Google Shape;227;g3f82550f26e_1_1"/>
          <p:cNvSpPr/>
          <p:nvPr/>
        </p:nvSpPr>
        <p:spPr>
          <a:xfrm>
            <a:off x="6653852" y="3095281"/>
            <a:ext cx="4572300" cy="274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0B0B"/>
              </a:buClr>
              <a:buSzPts val="1300"/>
              <a:buFont typeface="Arial"/>
              <a:buNone/>
            </a:pPr>
            <a:endParaRPr sz="1300" b="0" i="0" u="none" strike="noStrike" cap="none">
              <a:solidFill>
                <a:schemeClr val="dk1"/>
              </a:solidFill>
              <a:latin typeface="Arial"/>
              <a:ea typeface="Arial"/>
              <a:cs typeface="Arial"/>
              <a:sym typeface="Arial"/>
            </a:endParaRPr>
          </a:p>
        </p:txBody>
      </p:sp>
      <p:sp>
        <p:nvSpPr>
          <p:cNvPr id="228" name="Google Shape;228;g3f82550f26e_1_1"/>
          <p:cNvSpPr/>
          <p:nvPr/>
        </p:nvSpPr>
        <p:spPr>
          <a:xfrm>
            <a:off x="399138" y="3899953"/>
            <a:ext cx="3612000" cy="9327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21961"/>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g3f82550f26e_1_1"/>
          <p:cNvSpPr/>
          <p:nvPr/>
        </p:nvSpPr>
        <p:spPr>
          <a:xfrm>
            <a:off x="399138" y="3899953"/>
            <a:ext cx="63900" cy="932700"/>
          </a:xfrm>
          <a:prstGeom prst="rect">
            <a:avLst/>
          </a:prstGeom>
          <a:solidFill>
            <a:srgbClr val="00577F"/>
          </a:solidFill>
          <a:ln w="1270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g3f82550f26e_1_1"/>
          <p:cNvSpPr/>
          <p:nvPr/>
        </p:nvSpPr>
        <p:spPr>
          <a:xfrm>
            <a:off x="609457" y="4082833"/>
            <a:ext cx="31548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200"/>
              <a:buFont typeface="Arial"/>
              <a:buNone/>
            </a:pPr>
            <a:r>
              <a:rPr lang="en-US" sz="1200" b="1" i="0" u="none" strike="noStrike" cap="none">
                <a:solidFill>
                  <a:srgbClr val="00577F"/>
                </a:solidFill>
                <a:latin typeface="Arial"/>
                <a:ea typeface="Arial"/>
                <a:cs typeface="Arial"/>
                <a:sym typeface="Arial"/>
              </a:rPr>
              <a:t>1  Train on background only</a:t>
            </a:r>
            <a:endParaRPr sz="1200" b="0" i="0" u="none" strike="noStrike" cap="none">
              <a:solidFill>
                <a:schemeClr val="dk1"/>
              </a:solidFill>
              <a:latin typeface="Arial"/>
              <a:ea typeface="Arial"/>
              <a:cs typeface="Arial"/>
              <a:sym typeface="Arial"/>
            </a:endParaRPr>
          </a:p>
        </p:txBody>
      </p:sp>
      <p:sp>
        <p:nvSpPr>
          <p:cNvPr id="231" name="Google Shape;231;g3f82550f26e_1_1"/>
          <p:cNvSpPr/>
          <p:nvPr/>
        </p:nvSpPr>
        <p:spPr>
          <a:xfrm>
            <a:off x="609457" y="4366297"/>
            <a:ext cx="31548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100"/>
              <a:buFont typeface="Arial"/>
              <a:buNone/>
            </a:pPr>
            <a:r>
              <a:rPr lang="en-US" sz="1100" b="0" i="0" u="none" strike="noStrike" cap="none">
                <a:solidFill>
                  <a:srgbClr val="111111"/>
                </a:solidFill>
                <a:latin typeface="Arial"/>
                <a:ea typeface="Arial"/>
                <a:cs typeface="Arial"/>
                <a:sym typeface="Arial"/>
              </a:rPr>
              <a:t>The model learns the kinematic distribution of Standard Model events.</a:t>
            </a:r>
            <a:endParaRPr sz="1100" b="0" i="0" u="none" strike="noStrike" cap="none">
              <a:solidFill>
                <a:schemeClr val="dk1"/>
              </a:solidFill>
              <a:latin typeface="Arial"/>
              <a:ea typeface="Arial"/>
              <a:cs typeface="Arial"/>
              <a:sym typeface="Arial"/>
            </a:endParaRPr>
          </a:p>
        </p:txBody>
      </p:sp>
      <p:sp>
        <p:nvSpPr>
          <p:cNvPr id="232" name="Google Shape;232;g3f82550f26e_1_1"/>
          <p:cNvSpPr/>
          <p:nvPr/>
        </p:nvSpPr>
        <p:spPr>
          <a:xfrm>
            <a:off x="4294617" y="3899953"/>
            <a:ext cx="3612000" cy="9327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21961"/>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g3f82550f26e_1_1"/>
          <p:cNvSpPr/>
          <p:nvPr/>
        </p:nvSpPr>
        <p:spPr>
          <a:xfrm>
            <a:off x="4294617" y="3899953"/>
            <a:ext cx="63900" cy="932700"/>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g3f82550f26e_1_1"/>
          <p:cNvSpPr/>
          <p:nvPr/>
        </p:nvSpPr>
        <p:spPr>
          <a:xfrm>
            <a:off x="4504937" y="4082833"/>
            <a:ext cx="31548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E7D32"/>
              </a:buClr>
              <a:buSzPts val="1200"/>
              <a:buFont typeface="Arial"/>
              <a:buNone/>
            </a:pPr>
            <a:r>
              <a:rPr lang="en-US" sz="1200" b="1" i="0" u="none" strike="noStrike" cap="none">
                <a:solidFill>
                  <a:srgbClr val="2E7D32"/>
                </a:solidFill>
                <a:latin typeface="Arial"/>
                <a:ea typeface="Arial"/>
                <a:cs typeface="Arial"/>
                <a:sym typeface="Arial"/>
              </a:rPr>
              <a:t>2  Background reconstructs well</a:t>
            </a:r>
            <a:endParaRPr sz="1200" b="0" i="0" u="none" strike="noStrike" cap="none">
              <a:solidFill>
                <a:schemeClr val="dk1"/>
              </a:solidFill>
              <a:latin typeface="Arial"/>
              <a:ea typeface="Arial"/>
              <a:cs typeface="Arial"/>
              <a:sym typeface="Arial"/>
            </a:endParaRPr>
          </a:p>
        </p:txBody>
      </p:sp>
      <p:sp>
        <p:nvSpPr>
          <p:cNvPr id="235" name="Google Shape;235;g3f82550f26e_1_1"/>
          <p:cNvSpPr/>
          <p:nvPr/>
        </p:nvSpPr>
        <p:spPr>
          <a:xfrm>
            <a:off x="4504937" y="4366297"/>
            <a:ext cx="31548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100"/>
              <a:buFont typeface="Arial"/>
              <a:buNone/>
            </a:pPr>
            <a:r>
              <a:rPr lang="en-US" sz="1100" b="0" i="0" u="none" strike="noStrike" cap="none">
                <a:solidFill>
                  <a:srgbClr val="111111"/>
                </a:solidFill>
                <a:latin typeface="Arial"/>
                <a:ea typeface="Arial"/>
                <a:cs typeface="Arial"/>
                <a:sym typeface="Arial"/>
              </a:rPr>
              <a:t>If x follows the learned distribution, x̂ ≈ x and the loss is small.</a:t>
            </a:r>
            <a:endParaRPr sz="1100" b="0" i="0" u="none" strike="noStrike" cap="none">
              <a:solidFill>
                <a:schemeClr val="dk1"/>
              </a:solidFill>
              <a:latin typeface="Arial"/>
              <a:ea typeface="Arial"/>
              <a:cs typeface="Arial"/>
              <a:sym typeface="Arial"/>
            </a:endParaRPr>
          </a:p>
        </p:txBody>
      </p:sp>
      <p:sp>
        <p:nvSpPr>
          <p:cNvPr id="236" name="Google Shape;236;g3f82550f26e_1_1"/>
          <p:cNvSpPr/>
          <p:nvPr/>
        </p:nvSpPr>
        <p:spPr>
          <a:xfrm>
            <a:off x="8180953" y="3899953"/>
            <a:ext cx="3612000" cy="9327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21961"/>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g3f82550f26e_1_1"/>
          <p:cNvSpPr/>
          <p:nvPr/>
        </p:nvSpPr>
        <p:spPr>
          <a:xfrm>
            <a:off x="8180953" y="3899953"/>
            <a:ext cx="63900" cy="932700"/>
          </a:xfrm>
          <a:prstGeom prst="rect">
            <a:avLst/>
          </a:prstGeom>
          <a:solidFill>
            <a:srgbClr val="B42318"/>
          </a:solidFill>
          <a:ln w="12700" cap="flat" cmpd="sng">
            <a:solidFill>
              <a:srgbClr val="B4231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g3f82550f26e_1_1"/>
          <p:cNvSpPr/>
          <p:nvPr/>
        </p:nvSpPr>
        <p:spPr>
          <a:xfrm>
            <a:off x="8391272" y="4082833"/>
            <a:ext cx="31548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42318"/>
              </a:buClr>
              <a:buSzPts val="1200"/>
              <a:buFont typeface="Arial"/>
              <a:buNone/>
            </a:pPr>
            <a:r>
              <a:rPr lang="en-US" sz="1200" b="1" i="0" u="none" strike="noStrike" cap="none">
                <a:solidFill>
                  <a:srgbClr val="B42318"/>
                </a:solidFill>
                <a:latin typeface="Arial"/>
                <a:ea typeface="Arial"/>
                <a:cs typeface="Arial"/>
                <a:sym typeface="Arial"/>
              </a:rPr>
              <a:t>3  Signal-like events fail</a:t>
            </a:r>
            <a:endParaRPr sz="1200" b="0" i="0" u="none" strike="noStrike" cap="none">
              <a:solidFill>
                <a:schemeClr val="dk1"/>
              </a:solidFill>
              <a:latin typeface="Arial"/>
              <a:ea typeface="Arial"/>
              <a:cs typeface="Arial"/>
              <a:sym typeface="Arial"/>
            </a:endParaRPr>
          </a:p>
        </p:txBody>
      </p:sp>
      <p:sp>
        <p:nvSpPr>
          <p:cNvPr id="239" name="Google Shape;239;g3f82550f26e_1_1"/>
          <p:cNvSpPr/>
          <p:nvPr/>
        </p:nvSpPr>
        <p:spPr>
          <a:xfrm>
            <a:off x="8391272" y="4338865"/>
            <a:ext cx="3154800" cy="37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060"/>
              <a:buFont typeface="Arial"/>
              <a:buNone/>
            </a:pPr>
            <a:r>
              <a:rPr lang="en-US" sz="1060" b="0" i="0" u="none" strike="noStrike" cap="none">
                <a:solidFill>
                  <a:srgbClr val="111111"/>
                </a:solidFill>
                <a:latin typeface="Arial"/>
                <a:ea typeface="Arial"/>
                <a:cs typeface="Arial"/>
                <a:sym typeface="Arial"/>
              </a:rPr>
              <a:t>A kinematically different event is reconstructed poorly, so loss becomes the anomaly score.</a:t>
            </a:r>
            <a:endParaRPr sz="1060" b="0" i="0" u="none" strike="noStrike" cap="none">
              <a:solidFill>
                <a:schemeClr val="dk1"/>
              </a:solidFill>
              <a:latin typeface="Arial"/>
              <a:ea typeface="Arial"/>
              <a:cs typeface="Arial"/>
              <a:sym typeface="Arial"/>
            </a:endParaRPr>
          </a:p>
        </p:txBody>
      </p:sp>
      <p:sp>
        <p:nvSpPr>
          <p:cNvPr id="240" name="Google Shape;240;g3f82550f26e_1_1"/>
          <p:cNvSpPr/>
          <p:nvPr/>
        </p:nvSpPr>
        <p:spPr>
          <a:xfrm>
            <a:off x="1368435" y="5244121"/>
            <a:ext cx="9464400" cy="384000"/>
          </a:xfrm>
          <a:prstGeom prst="roundRect">
            <a:avLst>
              <a:gd name="adj" fmla="val 16667"/>
            </a:avLst>
          </a:prstGeom>
          <a:solidFill>
            <a:srgbClr val="FFF7E6"/>
          </a:solidFill>
          <a:ln w="12700" cap="flat" cmpd="sng">
            <a:solidFill>
              <a:srgbClr val="E8B85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g3f82550f26e_1_1"/>
          <p:cNvSpPr/>
          <p:nvPr/>
        </p:nvSpPr>
        <p:spPr>
          <a:xfrm>
            <a:off x="2831525" y="5335676"/>
            <a:ext cx="65382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7A4B00"/>
              </a:buClr>
              <a:buSzPts val="1100"/>
              <a:buFont typeface="Arial"/>
              <a:buNone/>
            </a:pPr>
            <a:r>
              <a:rPr lang="en-US" sz="1100" b="1" i="0" u="none" strike="noStrike" cap="none">
                <a:solidFill>
                  <a:srgbClr val="7A4B00"/>
                </a:solidFill>
                <a:latin typeface="Arial"/>
                <a:ea typeface="Arial"/>
                <a:cs typeface="Arial"/>
                <a:sym typeface="Arial"/>
              </a:rPr>
              <a:t>Many signals have a higher intrinsic dimension than background data due to their complexity</a:t>
            </a:r>
            <a:endParaRPr sz="1100" b="1" i="0" u="none" strike="noStrike" cap="none">
              <a:solidFill>
                <a:srgbClr val="7A4B00"/>
              </a:solidFill>
              <a:latin typeface="Arial"/>
              <a:ea typeface="Arial"/>
              <a:cs typeface="Arial"/>
              <a:sym typeface="Arial"/>
            </a:endParaRPr>
          </a:p>
        </p:txBody>
      </p:sp>
      <p:pic>
        <p:nvPicPr>
          <p:cNvPr id="242" name="Google Shape;242;g3f82550f26e_1_1"/>
          <p:cNvPicPr preferRelativeResize="0"/>
          <p:nvPr/>
        </p:nvPicPr>
        <p:blipFill rotWithShape="1">
          <a:blip r:embed="rId3">
            <a:alphaModFix/>
          </a:blip>
          <a:srcRect/>
          <a:stretch/>
        </p:blipFill>
        <p:spPr>
          <a:xfrm>
            <a:off x="1326563" y="2802750"/>
            <a:ext cx="4198663" cy="384000"/>
          </a:xfrm>
          <a:prstGeom prst="rect">
            <a:avLst/>
          </a:prstGeom>
          <a:noFill/>
          <a:ln>
            <a:noFill/>
          </a:ln>
        </p:spPr>
      </p:pic>
      <p:pic>
        <p:nvPicPr>
          <p:cNvPr id="243" name="Google Shape;243;g3f82550f26e_1_1"/>
          <p:cNvPicPr preferRelativeResize="0"/>
          <p:nvPr/>
        </p:nvPicPr>
        <p:blipFill rotWithShape="1">
          <a:blip r:embed="rId4">
            <a:alphaModFix/>
          </a:blip>
          <a:srcRect/>
          <a:stretch/>
        </p:blipFill>
        <p:spPr>
          <a:xfrm>
            <a:off x="6670925" y="2861237"/>
            <a:ext cx="2516999" cy="651100"/>
          </a:xfrm>
          <a:prstGeom prst="rect">
            <a:avLst/>
          </a:prstGeom>
          <a:noFill/>
          <a:ln>
            <a:noFill/>
          </a:ln>
        </p:spPr>
      </p:pic>
      <p:sp>
        <p:nvSpPr>
          <p:cNvPr id="244" name="Google Shape;244;g3f82550f26e_1_1"/>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g3f82550f26e_1_1"/>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2 · ENCODER</a:t>
            </a:r>
            <a:endParaRPr sz="1400" b="0" i="0" u="none" strike="noStrike" cap="none">
              <a:solidFill>
                <a:srgbClr val="000000"/>
              </a:solidFill>
              <a:latin typeface="Arial"/>
              <a:ea typeface="Arial"/>
              <a:cs typeface="Arial"/>
              <a:sym typeface="Arial"/>
            </a:endParaRPr>
          </a:p>
        </p:txBody>
      </p:sp>
      <p:sp>
        <p:nvSpPr>
          <p:cNvPr id="246" name="Google Shape;246;g3f82550f26e_1_1"/>
          <p:cNvSpPr txBox="1"/>
          <p:nvPr/>
        </p:nvSpPr>
        <p:spPr>
          <a:xfrm>
            <a:off x="448056" y="429768"/>
            <a:ext cx="9784200" cy="2247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100"/>
              <a:buFont typeface="Arial"/>
              <a:buNone/>
            </a:pPr>
            <a:r>
              <a:rPr lang="en-US" sz="1100" b="0" i="0" u="none" strike="noStrike" cap="none">
                <a:solidFill>
                  <a:srgbClr val="666666"/>
                </a:solidFill>
                <a:latin typeface="Arial"/>
                <a:ea typeface="Arial"/>
                <a:cs typeface="Arial"/>
                <a:sym typeface="Arial"/>
              </a:rPr>
              <a:t>Classical concept and quantum counterpart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1"/>
        <p:cNvGrpSpPr/>
        <p:nvPr/>
      </p:nvGrpSpPr>
      <p:grpSpPr>
        <a:xfrm>
          <a:off x="0" y="0"/>
          <a:ext cx="0" cy="0"/>
          <a:chOff x="0" y="0"/>
          <a:chExt cx="0" cy="0"/>
        </a:xfrm>
      </p:grpSpPr>
      <p:sp>
        <p:nvSpPr>
          <p:cNvPr id="252" name="Google Shape;252;g3f82550f26e_6_2"/>
          <p:cNvSpPr/>
          <p:nvPr/>
        </p:nvSpPr>
        <p:spPr>
          <a:xfrm>
            <a:off x="658391" y="1965008"/>
            <a:ext cx="1874700" cy="658500"/>
          </a:xfrm>
          <a:prstGeom prst="roundRect">
            <a:avLst>
              <a:gd name="adj" fmla="val 16667"/>
            </a:avLst>
          </a:prstGeom>
          <a:solidFill>
            <a:srgbClr val="E7F2F7"/>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accent5"/>
              </a:solidFill>
              <a:latin typeface="Arial"/>
              <a:ea typeface="Arial"/>
              <a:cs typeface="Arial"/>
              <a:sym typeface="Arial"/>
            </a:endParaRPr>
          </a:p>
        </p:txBody>
      </p:sp>
      <p:sp>
        <p:nvSpPr>
          <p:cNvPr id="253" name="Google Shape;253;g3f82550f26e_6_2"/>
          <p:cNvSpPr/>
          <p:nvPr/>
        </p:nvSpPr>
        <p:spPr>
          <a:xfrm>
            <a:off x="749834" y="2056448"/>
            <a:ext cx="2286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577F"/>
              </a:buClr>
              <a:buSzPts val="1200"/>
              <a:buFont typeface="Arial"/>
              <a:buNone/>
            </a:pPr>
            <a:r>
              <a:rPr lang="en-US" sz="1200" b="1" i="0" u="none" strike="noStrike" cap="none">
                <a:solidFill>
                  <a:schemeClr val="accent5"/>
                </a:solidFill>
                <a:latin typeface="Arial"/>
                <a:ea typeface="Arial"/>
                <a:cs typeface="Arial"/>
                <a:sym typeface="Arial"/>
              </a:rPr>
              <a:t>1</a:t>
            </a:r>
            <a:endParaRPr sz="1200" b="0" i="0" u="none" strike="noStrike" cap="none">
              <a:solidFill>
                <a:schemeClr val="accent5"/>
              </a:solidFill>
              <a:latin typeface="Arial"/>
              <a:ea typeface="Arial"/>
              <a:cs typeface="Arial"/>
              <a:sym typeface="Arial"/>
            </a:endParaRPr>
          </a:p>
        </p:txBody>
      </p:sp>
      <p:sp>
        <p:nvSpPr>
          <p:cNvPr id="254" name="Google Shape;254;g3f82550f26e_6_2"/>
          <p:cNvSpPr/>
          <p:nvPr/>
        </p:nvSpPr>
        <p:spPr>
          <a:xfrm>
            <a:off x="1042452" y="2065592"/>
            <a:ext cx="1399200" cy="183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100"/>
              <a:buFont typeface="Arial"/>
              <a:buNone/>
            </a:pPr>
            <a:r>
              <a:rPr lang="en-US" sz="1100" b="1" i="0" u="none" strike="noStrike" cap="none">
                <a:solidFill>
                  <a:schemeClr val="accent5"/>
                </a:solidFill>
                <a:latin typeface="Arial"/>
                <a:ea typeface="Arial"/>
                <a:cs typeface="Arial"/>
                <a:sym typeface="Arial"/>
              </a:rPr>
              <a:t>Classical input</a:t>
            </a:r>
            <a:endParaRPr sz="1100" b="0" i="0" u="none" strike="noStrike" cap="none">
              <a:solidFill>
                <a:schemeClr val="accent5"/>
              </a:solidFill>
              <a:latin typeface="Arial"/>
              <a:ea typeface="Arial"/>
              <a:cs typeface="Arial"/>
              <a:sym typeface="Arial"/>
            </a:endParaRPr>
          </a:p>
        </p:txBody>
      </p:sp>
      <p:sp>
        <p:nvSpPr>
          <p:cNvPr id="255" name="Google Shape;255;g3f82550f26e_6_2"/>
          <p:cNvSpPr/>
          <p:nvPr/>
        </p:nvSpPr>
        <p:spPr>
          <a:xfrm>
            <a:off x="1042452" y="2321624"/>
            <a:ext cx="13992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950"/>
              <a:buFont typeface="Arial"/>
              <a:buNone/>
            </a:pPr>
            <a:r>
              <a:rPr lang="en-US" sz="950" b="0" i="0" u="none" strike="noStrike" cap="none">
                <a:solidFill>
                  <a:srgbClr val="111111"/>
                </a:solidFill>
                <a:latin typeface="Arial"/>
                <a:ea typeface="Arial"/>
                <a:cs typeface="Arial"/>
                <a:sym typeface="Arial"/>
              </a:rPr>
              <a:t>x = selected features</a:t>
            </a:r>
            <a:endParaRPr sz="950" b="0" i="0" u="none" strike="noStrike" cap="none">
              <a:solidFill>
                <a:schemeClr val="dk1"/>
              </a:solidFill>
              <a:latin typeface="Arial"/>
              <a:ea typeface="Arial"/>
              <a:cs typeface="Arial"/>
              <a:sym typeface="Arial"/>
            </a:endParaRPr>
          </a:p>
        </p:txBody>
      </p:sp>
      <p:cxnSp>
        <p:nvCxnSpPr>
          <p:cNvPr id="256" name="Google Shape;256;g3f82550f26e_6_2"/>
          <p:cNvCxnSpPr/>
          <p:nvPr/>
        </p:nvCxnSpPr>
        <p:spPr>
          <a:xfrm>
            <a:off x="2606131" y="2294192"/>
            <a:ext cx="155400" cy="0"/>
          </a:xfrm>
          <a:prstGeom prst="straightConnector1">
            <a:avLst/>
          </a:prstGeom>
          <a:noFill/>
          <a:ln w="25400" cap="flat" cmpd="sng">
            <a:solidFill>
              <a:srgbClr val="F05A24"/>
            </a:solidFill>
            <a:prstDash val="solid"/>
            <a:round/>
            <a:headEnd type="none" w="sm" len="sm"/>
            <a:tailEnd type="triangle" w="med" len="med"/>
          </a:ln>
        </p:spPr>
      </p:cxnSp>
      <p:sp>
        <p:nvSpPr>
          <p:cNvPr id="257" name="Google Shape;257;g3f82550f26e_6_2"/>
          <p:cNvSpPr/>
          <p:nvPr/>
        </p:nvSpPr>
        <p:spPr>
          <a:xfrm>
            <a:off x="2834739" y="1965008"/>
            <a:ext cx="1874700" cy="658500"/>
          </a:xfrm>
          <a:prstGeom prst="roundRect">
            <a:avLst>
              <a:gd name="adj" fmla="val 16667"/>
            </a:avLst>
          </a:prstGeom>
          <a:solidFill>
            <a:srgbClr val="FFF2EA"/>
          </a:solidFill>
          <a:ln w="19050" cap="flat" cmpd="sng">
            <a:solidFill>
              <a:srgbClr val="F05A2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g3f82550f26e_6_2"/>
          <p:cNvSpPr/>
          <p:nvPr/>
        </p:nvSpPr>
        <p:spPr>
          <a:xfrm>
            <a:off x="2926182" y="2056448"/>
            <a:ext cx="2286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5A24"/>
              </a:buClr>
              <a:buSzPts val="1200"/>
              <a:buFont typeface="Arial"/>
              <a:buNone/>
            </a:pPr>
            <a:r>
              <a:rPr lang="en-US" sz="1200" b="1" i="0" u="none" strike="noStrike" cap="none">
                <a:solidFill>
                  <a:srgbClr val="F05A24"/>
                </a:solidFill>
                <a:latin typeface="Arial"/>
                <a:ea typeface="Arial"/>
                <a:cs typeface="Arial"/>
                <a:sym typeface="Arial"/>
              </a:rPr>
              <a:t>2</a:t>
            </a:r>
            <a:endParaRPr sz="1200" b="0" i="0" u="none" strike="noStrike" cap="none">
              <a:solidFill>
                <a:schemeClr val="dk1"/>
              </a:solidFill>
              <a:latin typeface="Arial"/>
              <a:ea typeface="Arial"/>
              <a:cs typeface="Arial"/>
              <a:sym typeface="Arial"/>
            </a:endParaRPr>
          </a:p>
        </p:txBody>
      </p:sp>
      <p:sp>
        <p:nvSpPr>
          <p:cNvPr id="259" name="Google Shape;259;g3f82550f26e_6_2"/>
          <p:cNvSpPr/>
          <p:nvPr/>
        </p:nvSpPr>
        <p:spPr>
          <a:xfrm>
            <a:off x="3218800" y="2065592"/>
            <a:ext cx="1399200" cy="183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5A24"/>
              </a:buClr>
              <a:buSzPts val="1100"/>
              <a:buFont typeface="Arial"/>
              <a:buNone/>
            </a:pPr>
            <a:r>
              <a:rPr lang="en-US" sz="1100" b="1" i="0" u="none" strike="noStrike" cap="none">
                <a:solidFill>
                  <a:srgbClr val="F05A24"/>
                </a:solidFill>
                <a:latin typeface="Arial"/>
                <a:ea typeface="Arial"/>
                <a:cs typeface="Arial"/>
                <a:sym typeface="Arial"/>
              </a:rPr>
              <a:t>State prep.</a:t>
            </a:r>
            <a:endParaRPr sz="1100" b="0" i="0" u="none" strike="noStrike" cap="none">
              <a:solidFill>
                <a:schemeClr val="dk1"/>
              </a:solidFill>
              <a:latin typeface="Arial"/>
              <a:ea typeface="Arial"/>
              <a:cs typeface="Arial"/>
              <a:sym typeface="Arial"/>
            </a:endParaRPr>
          </a:p>
        </p:txBody>
      </p:sp>
      <p:sp>
        <p:nvSpPr>
          <p:cNvPr id="260" name="Google Shape;260;g3f82550f26e_6_2"/>
          <p:cNvSpPr/>
          <p:nvPr/>
        </p:nvSpPr>
        <p:spPr>
          <a:xfrm>
            <a:off x="3218800" y="2321624"/>
            <a:ext cx="13992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950"/>
              <a:buFont typeface="Arial"/>
              <a:buNone/>
            </a:pPr>
            <a:r>
              <a:rPr lang="en-US" sz="950" b="0" i="0" u="none" strike="noStrike" cap="none">
                <a:solidFill>
                  <a:srgbClr val="111111"/>
                </a:solidFill>
                <a:latin typeface="Arial"/>
                <a:ea typeface="Arial"/>
                <a:cs typeface="Arial"/>
                <a:sym typeface="Arial"/>
              </a:rPr>
              <a:t>angle encoding</a:t>
            </a:r>
            <a:endParaRPr sz="950" b="0" i="0" u="none" strike="noStrike" cap="none">
              <a:solidFill>
                <a:schemeClr val="dk1"/>
              </a:solidFill>
              <a:latin typeface="Arial"/>
              <a:ea typeface="Arial"/>
              <a:cs typeface="Arial"/>
              <a:sym typeface="Arial"/>
            </a:endParaRPr>
          </a:p>
        </p:txBody>
      </p:sp>
      <p:cxnSp>
        <p:nvCxnSpPr>
          <p:cNvPr id="261" name="Google Shape;261;g3f82550f26e_6_2"/>
          <p:cNvCxnSpPr/>
          <p:nvPr/>
        </p:nvCxnSpPr>
        <p:spPr>
          <a:xfrm>
            <a:off x="4782479" y="2294192"/>
            <a:ext cx="155400" cy="0"/>
          </a:xfrm>
          <a:prstGeom prst="straightConnector1">
            <a:avLst/>
          </a:prstGeom>
          <a:noFill/>
          <a:ln w="25400" cap="flat" cmpd="sng">
            <a:solidFill>
              <a:srgbClr val="F05A24"/>
            </a:solidFill>
            <a:prstDash val="solid"/>
            <a:round/>
            <a:headEnd type="none" w="sm" len="sm"/>
            <a:tailEnd type="triangle" w="med" len="med"/>
          </a:ln>
        </p:spPr>
      </p:cxnSp>
      <p:sp>
        <p:nvSpPr>
          <p:cNvPr id="262" name="Google Shape;262;g3f82550f26e_6_2"/>
          <p:cNvSpPr/>
          <p:nvPr/>
        </p:nvSpPr>
        <p:spPr>
          <a:xfrm>
            <a:off x="5011087" y="1965008"/>
            <a:ext cx="1874700" cy="658500"/>
          </a:xfrm>
          <a:prstGeom prst="roundRect">
            <a:avLst>
              <a:gd name="adj" fmla="val 16667"/>
            </a:avLst>
          </a:prstGeom>
          <a:solidFill>
            <a:srgbClr val="F1ECFA"/>
          </a:solidFill>
          <a:ln w="19050" cap="flat" cmpd="sng">
            <a:solidFill>
              <a:srgbClr val="6A3FB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g3f82550f26e_6_2"/>
          <p:cNvSpPr/>
          <p:nvPr/>
        </p:nvSpPr>
        <p:spPr>
          <a:xfrm>
            <a:off x="5102530" y="2056448"/>
            <a:ext cx="2286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A3FB5"/>
              </a:buClr>
              <a:buSzPts val="1200"/>
              <a:buFont typeface="Arial"/>
              <a:buNone/>
            </a:pPr>
            <a:r>
              <a:rPr lang="en-US" sz="1200" b="1" i="0" u="none" strike="noStrike" cap="none">
                <a:solidFill>
                  <a:srgbClr val="6A3FB5"/>
                </a:solidFill>
                <a:latin typeface="Arial"/>
                <a:ea typeface="Arial"/>
                <a:cs typeface="Arial"/>
                <a:sym typeface="Arial"/>
              </a:rPr>
              <a:t>3</a:t>
            </a:r>
            <a:endParaRPr sz="1200" b="0" i="0" u="none" strike="noStrike" cap="none">
              <a:solidFill>
                <a:schemeClr val="dk1"/>
              </a:solidFill>
              <a:latin typeface="Arial"/>
              <a:ea typeface="Arial"/>
              <a:cs typeface="Arial"/>
              <a:sym typeface="Arial"/>
            </a:endParaRPr>
          </a:p>
        </p:txBody>
      </p:sp>
      <p:sp>
        <p:nvSpPr>
          <p:cNvPr id="264" name="Google Shape;264;g3f82550f26e_6_2"/>
          <p:cNvSpPr/>
          <p:nvPr/>
        </p:nvSpPr>
        <p:spPr>
          <a:xfrm>
            <a:off x="5395148" y="2065592"/>
            <a:ext cx="1399200" cy="183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3FB5"/>
              </a:buClr>
              <a:buSzPts val="1100"/>
              <a:buFont typeface="Arial"/>
              <a:buNone/>
            </a:pPr>
            <a:r>
              <a:rPr lang="en-US" sz="1100" b="1" i="0" u="none" strike="noStrike" cap="none">
                <a:solidFill>
                  <a:srgbClr val="6A3FB5"/>
                </a:solidFill>
                <a:latin typeface="Arial"/>
                <a:ea typeface="Arial"/>
                <a:cs typeface="Arial"/>
                <a:sym typeface="Arial"/>
              </a:rPr>
              <a:t>Unitary circuit</a:t>
            </a:r>
            <a:endParaRPr sz="1100" b="0" i="0" u="none" strike="noStrike" cap="none">
              <a:solidFill>
                <a:schemeClr val="dk1"/>
              </a:solidFill>
              <a:latin typeface="Arial"/>
              <a:ea typeface="Arial"/>
              <a:cs typeface="Arial"/>
              <a:sym typeface="Arial"/>
            </a:endParaRPr>
          </a:p>
        </p:txBody>
      </p:sp>
      <p:sp>
        <p:nvSpPr>
          <p:cNvPr id="265" name="Google Shape;265;g3f82550f26e_6_2"/>
          <p:cNvSpPr/>
          <p:nvPr/>
        </p:nvSpPr>
        <p:spPr>
          <a:xfrm>
            <a:off x="5395148" y="2321624"/>
            <a:ext cx="13992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950"/>
              <a:buFont typeface="Arial"/>
              <a:buNone/>
            </a:pPr>
            <a:r>
              <a:rPr lang="en-US" sz="950" b="0" i="0" u="none" strike="noStrike" cap="none">
                <a:solidFill>
                  <a:srgbClr val="111111"/>
                </a:solidFill>
                <a:latin typeface="Arial"/>
                <a:ea typeface="Arial"/>
                <a:cs typeface="Arial"/>
                <a:sym typeface="Arial"/>
              </a:rPr>
              <a:t>U(theta) evolves state</a:t>
            </a:r>
            <a:endParaRPr sz="950" b="0" i="0" u="none" strike="noStrike" cap="none">
              <a:solidFill>
                <a:schemeClr val="dk1"/>
              </a:solidFill>
              <a:latin typeface="Arial"/>
              <a:ea typeface="Arial"/>
              <a:cs typeface="Arial"/>
              <a:sym typeface="Arial"/>
            </a:endParaRPr>
          </a:p>
        </p:txBody>
      </p:sp>
      <p:cxnSp>
        <p:nvCxnSpPr>
          <p:cNvPr id="266" name="Google Shape;266;g3f82550f26e_6_2"/>
          <p:cNvCxnSpPr/>
          <p:nvPr/>
        </p:nvCxnSpPr>
        <p:spPr>
          <a:xfrm>
            <a:off x="6958827" y="2294192"/>
            <a:ext cx="155400" cy="0"/>
          </a:xfrm>
          <a:prstGeom prst="straightConnector1">
            <a:avLst/>
          </a:prstGeom>
          <a:noFill/>
          <a:ln w="25400" cap="flat" cmpd="sng">
            <a:solidFill>
              <a:srgbClr val="F05A24"/>
            </a:solidFill>
            <a:prstDash val="solid"/>
            <a:round/>
            <a:headEnd type="none" w="sm" len="sm"/>
            <a:tailEnd type="triangle" w="med" len="med"/>
          </a:ln>
        </p:spPr>
      </p:cxnSp>
      <p:sp>
        <p:nvSpPr>
          <p:cNvPr id="267" name="Google Shape;267;g3f82550f26e_6_2"/>
          <p:cNvSpPr/>
          <p:nvPr/>
        </p:nvSpPr>
        <p:spPr>
          <a:xfrm>
            <a:off x="7187435" y="1965008"/>
            <a:ext cx="1874700" cy="658500"/>
          </a:xfrm>
          <a:prstGeom prst="roundRect">
            <a:avLst>
              <a:gd name="adj" fmla="val 16667"/>
            </a:avLst>
          </a:prstGeom>
          <a:solidFill>
            <a:srgbClr val="E7F2F7"/>
          </a:solidFill>
          <a:ln w="1905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g3f82550f26e_6_2"/>
          <p:cNvSpPr/>
          <p:nvPr/>
        </p:nvSpPr>
        <p:spPr>
          <a:xfrm>
            <a:off x="7278878" y="2056448"/>
            <a:ext cx="2286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577F"/>
              </a:buClr>
              <a:buSzPts val="1200"/>
              <a:buFont typeface="Arial"/>
              <a:buNone/>
            </a:pPr>
            <a:r>
              <a:rPr lang="en-US" sz="1200" b="1" i="0" u="none" strike="noStrike" cap="none">
                <a:solidFill>
                  <a:srgbClr val="00577F"/>
                </a:solidFill>
                <a:latin typeface="Arial"/>
                <a:ea typeface="Arial"/>
                <a:cs typeface="Arial"/>
                <a:sym typeface="Arial"/>
              </a:rPr>
              <a:t>4</a:t>
            </a:r>
            <a:endParaRPr sz="1200" b="0" i="0" u="none" strike="noStrike" cap="none">
              <a:solidFill>
                <a:schemeClr val="dk1"/>
              </a:solidFill>
              <a:latin typeface="Arial"/>
              <a:ea typeface="Arial"/>
              <a:cs typeface="Arial"/>
              <a:sym typeface="Arial"/>
            </a:endParaRPr>
          </a:p>
        </p:txBody>
      </p:sp>
      <p:sp>
        <p:nvSpPr>
          <p:cNvPr id="269" name="Google Shape;269;g3f82550f26e_6_2"/>
          <p:cNvSpPr/>
          <p:nvPr/>
        </p:nvSpPr>
        <p:spPr>
          <a:xfrm>
            <a:off x="7571496" y="2065592"/>
            <a:ext cx="1399200" cy="183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100"/>
              <a:buFont typeface="Arial"/>
              <a:buNone/>
            </a:pPr>
            <a:r>
              <a:rPr lang="en-US" sz="1100" b="1" i="0" u="none" strike="noStrike" cap="none">
                <a:solidFill>
                  <a:srgbClr val="00577F"/>
                </a:solidFill>
                <a:latin typeface="Arial"/>
                <a:ea typeface="Arial"/>
                <a:cs typeface="Arial"/>
                <a:sym typeface="Arial"/>
              </a:rPr>
              <a:t>Measure</a:t>
            </a:r>
            <a:endParaRPr sz="1100" b="0" i="0" u="none" strike="noStrike" cap="none">
              <a:solidFill>
                <a:schemeClr val="dk1"/>
              </a:solidFill>
              <a:latin typeface="Arial"/>
              <a:ea typeface="Arial"/>
              <a:cs typeface="Arial"/>
              <a:sym typeface="Arial"/>
            </a:endParaRPr>
          </a:p>
        </p:txBody>
      </p:sp>
      <p:sp>
        <p:nvSpPr>
          <p:cNvPr id="270" name="Google Shape;270;g3f82550f26e_6_2"/>
          <p:cNvSpPr/>
          <p:nvPr/>
        </p:nvSpPr>
        <p:spPr>
          <a:xfrm>
            <a:off x="7571496" y="2321624"/>
            <a:ext cx="13992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950"/>
              <a:buFont typeface="Arial"/>
              <a:buNone/>
            </a:pPr>
            <a:r>
              <a:rPr lang="en-US" sz="950" b="0" i="0" u="none" strike="noStrike" cap="none">
                <a:solidFill>
                  <a:srgbClr val="111111"/>
                </a:solidFill>
                <a:latin typeface="Arial"/>
                <a:ea typeface="Arial"/>
                <a:cs typeface="Arial"/>
                <a:sym typeface="Arial"/>
              </a:rPr>
              <a:t>probabilistic shots</a:t>
            </a:r>
            <a:endParaRPr sz="950" b="0" i="0" u="none" strike="noStrike" cap="none">
              <a:solidFill>
                <a:schemeClr val="dk1"/>
              </a:solidFill>
              <a:latin typeface="Arial"/>
              <a:ea typeface="Arial"/>
              <a:cs typeface="Arial"/>
              <a:sym typeface="Arial"/>
            </a:endParaRPr>
          </a:p>
        </p:txBody>
      </p:sp>
      <p:cxnSp>
        <p:nvCxnSpPr>
          <p:cNvPr id="271" name="Google Shape;271;g3f82550f26e_6_2"/>
          <p:cNvCxnSpPr/>
          <p:nvPr/>
        </p:nvCxnSpPr>
        <p:spPr>
          <a:xfrm>
            <a:off x="9135174" y="2294192"/>
            <a:ext cx="155400" cy="0"/>
          </a:xfrm>
          <a:prstGeom prst="straightConnector1">
            <a:avLst/>
          </a:prstGeom>
          <a:noFill/>
          <a:ln w="25400" cap="flat" cmpd="sng">
            <a:solidFill>
              <a:srgbClr val="F05A24"/>
            </a:solidFill>
            <a:prstDash val="solid"/>
            <a:round/>
            <a:headEnd type="none" w="sm" len="sm"/>
            <a:tailEnd type="triangle" w="med" len="med"/>
          </a:ln>
        </p:spPr>
      </p:cxnSp>
      <p:sp>
        <p:nvSpPr>
          <p:cNvPr id="272" name="Google Shape;272;g3f82550f26e_6_2"/>
          <p:cNvSpPr/>
          <p:nvPr/>
        </p:nvSpPr>
        <p:spPr>
          <a:xfrm>
            <a:off x="9363782" y="1965008"/>
            <a:ext cx="1874700" cy="658500"/>
          </a:xfrm>
          <a:prstGeom prst="roundRect">
            <a:avLst>
              <a:gd name="adj" fmla="val 16667"/>
            </a:avLst>
          </a:prstGeom>
          <a:solidFill>
            <a:srgbClr val="D9EAD3"/>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g3f82550f26e_6_2"/>
          <p:cNvSpPr/>
          <p:nvPr/>
        </p:nvSpPr>
        <p:spPr>
          <a:xfrm>
            <a:off x="9455226" y="2056448"/>
            <a:ext cx="228600" cy="201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577F"/>
              </a:buClr>
              <a:buSzPts val="1200"/>
              <a:buFont typeface="Arial"/>
              <a:buNone/>
            </a:pPr>
            <a:r>
              <a:rPr lang="en-US" sz="1200" b="1" i="0" u="none" strike="noStrike" cap="none">
                <a:solidFill>
                  <a:srgbClr val="2E7D32"/>
                </a:solidFill>
                <a:latin typeface="Arial"/>
                <a:ea typeface="Arial"/>
                <a:cs typeface="Arial"/>
                <a:sym typeface="Arial"/>
              </a:rPr>
              <a:t>5</a:t>
            </a:r>
            <a:endParaRPr sz="1200" b="0" i="0" u="none" strike="noStrike" cap="none">
              <a:solidFill>
                <a:srgbClr val="2E7D32"/>
              </a:solidFill>
              <a:latin typeface="Arial"/>
              <a:ea typeface="Arial"/>
              <a:cs typeface="Arial"/>
              <a:sym typeface="Arial"/>
            </a:endParaRPr>
          </a:p>
        </p:txBody>
      </p:sp>
      <p:sp>
        <p:nvSpPr>
          <p:cNvPr id="274" name="Google Shape;274;g3f82550f26e_6_2"/>
          <p:cNvSpPr/>
          <p:nvPr/>
        </p:nvSpPr>
        <p:spPr>
          <a:xfrm>
            <a:off x="9747844" y="2065592"/>
            <a:ext cx="1399200" cy="183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100"/>
              <a:buFont typeface="Arial"/>
              <a:buNone/>
            </a:pPr>
            <a:r>
              <a:rPr lang="en-US" sz="1100" b="1" i="0" u="none" strike="noStrike" cap="none">
                <a:solidFill>
                  <a:srgbClr val="2E7D32"/>
                </a:solidFill>
                <a:latin typeface="Arial"/>
                <a:ea typeface="Arial"/>
                <a:cs typeface="Arial"/>
                <a:sym typeface="Arial"/>
              </a:rPr>
              <a:t>Update</a:t>
            </a:r>
            <a:endParaRPr sz="1100" b="0" i="0" u="none" strike="noStrike" cap="none">
              <a:solidFill>
                <a:srgbClr val="2E7D32"/>
              </a:solidFill>
              <a:latin typeface="Arial"/>
              <a:ea typeface="Arial"/>
              <a:cs typeface="Arial"/>
              <a:sym typeface="Arial"/>
            </a:endParaRPr>
          </a:p>
        </p:txBody>
      </p:sp>
      <p:sp>
        <p:nvSpPr>
          <p:cNvPr id="275" name="Google Shape;275;g3f82550f26e_6_2"/>
          <p:cNvSpPr/>
          <p:nvPr/>
        </p:nvSpPr>
        <p:spPr>
          <a:xfrm>
            <a:off x="9747844" y="2321624"/>
            <a:ext cx="13992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950"/>
              <a:buFont typeface="Arial"/>
              <a:buNone/>
            </a:pPr>
            <a:r>
              <a:rPr lang="en-US" sz="950" b="0" i="0" u="none" strike="noStrike" cap="none">
                <a:solidFill>
                  <a:srgbClr val="111111"/>
                </a:solidFill>
                <a:latin typeface="Arial"/>
                <a:ea typeface="Arial"/>
                <a:cs typeface="Arial"/>
                <a:sym typeface="Arial"/>
              </a:rPr>
              <a:t>quantum gradient descent</a:t>
            </a:r>
            <a:endParaRPr sz="950" b="0" i="0" u="none" strike="noStrike" cap="none">
              <a:solidFill>
                <a:schemeClr val="dk1"/>
              </a:solidFill>
              <a:latin typeface="Arial"/>
              <a:ea typeface="Arial"/>
              <a:cs typeface="Arial"/>
              <a:sym typeface="Arial"/>
            </a:endParaRPr>
          </a:p>
        </p:txBody>
      </p:sp>
      <p:sp>
        <p:nvSpPr>
          <p:cNvPr id="276" name="Google Shape;276;g3f82550f26e_6_2"/>
          <p:cNvSpPr/>
          <p:nvPr/>
        </p:nvSpPr>
        <p:spPr>
          <a:xfrm>
            <a:off x="566948" y="3089720"/>
            <a:ext cx="3795000" cy="17832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2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g3f82550f26e_6_2"/>
          <p:cNvSpPr/>
          <p:nvPr/>
        </p:nvSpPr>
        <p:spPr>
          <a:xfrm>
            <a:off x="566948" y="3089720"/>
            <a:ext cx="63900" cy="1783200"/>
          </a:xfrm>
          <a:prstGeom prst="rect">
            <a:avLst/>
          </a:prstGeom>
          <a:solidFill>
            <a:srgbClr val="F05A24"/>
          </a:solidFill>
          <a:ln w="12700" cap="flat" cmpd="sng">
            <a:solidFill>
              <a:srgbClr val="F05A2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g3f82550f26e_6_2"/>
          <p:cNvSpPr/>
          <p:nvPr/>
        </p:nvSpPr>
        <p:spPr>
          <a:xfrm>
            <a:off x="786411" y="3272599"/>
            <a:ext cx="3291900" cy="210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200"/>
              <a:buFont typeface="Arial"/>
              <a:buNone/>
            </a:pPr>
            <a:r>
              <a:rPr lang="en-US" sz="1200" b="1" i="0" u="none" strike="noStrike" cap="none">
                <a:solidFill>
                  <a:srgbClr val="00577F"/>
                </a:solidFill>
                <a:latin typeface="Arial"/>
                <a:ea typeface="Arial"/>
                <a:cs typeface="Arial"/>
                <a:sym typeface="Arial"/>
              </a:rPr>
              <a:t>Angle encoding: one feature → one qubit</a:t>
            </a:r>
            <a:endParaRPr sz="1200" b="0" i="0" u="none" strike="noStrike" cap="none">
              <a:solidFill>
                <a:schemeClr val="dk1"/>
              </a:solidFill>
              <a:latin typeface="Arial"/>
              <a:ea typeface="Arial"/>
              <a:cs typeface="Arial"/>
              <a:sym typeface="Arial"/>
            </a:endParaRPr>
          </a:p>
        </p:txBody>
      </p:sp>
      <p:sp>
        <p:nvSpPr>
          <p:cNvPr id="279" name="Google Shape;279;g3f82550f26e_6_2"/>
          <p:cNvSpPr/>
          <p:nvPr/>
        </p:nvSpPr>
        <p:spPr>
          <a:xfrm>
            <a:off x="786411" y="3565207"/>
            <a:ext cx="3273600" cy="320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050"/>
              <a:buFont typeface="Arial"/>
              <a:buNone/>
            </a:pPr>
            <a:r>
              <a:rPr lang="en-US" sz="1050" b="0" i="0" u="none" strike="noStrike" cap="none">
                <a:solidFill>
                  <a:srgbClr val="111111"/>
                </a:solidFill>
                <a:latin typeface="Arial"/>
                <a:ea typeface="Arial"/>
                <a:cs typeface="Arial"/>
                <a:sym typeface="Arial"/>
              </a:rPr>
              <a:t>Real-valued observable φj becomes an Rx rotation angle on the Bloch sphere.</a:t>
            </a:r>
            <a:endParaRPr sz="1050" b="0" i="0" u="none" strike="noStrike" cap="none">
              <a:solidFill>
                <a:schemeClr val="dk1"/>
              </a:solidFill>
              <a:latin typeface="Arial"/>
              <a:ea typeface="Arial"/>
              <a:cs typeface="Arial"/>
              <a:sym typeface="Arial"/>
            </a:endParaRPr>
          </a:p>
        </p:txBody>
      </p:sp>
      <p:sp>
        <p:nvSpPr>
          <p:cNvPr id="280" name="Google Shape;280;g3f82550f26e_6_2"/>
          <p:cNvSpPr/>
          <p:nvPr/>
        </p:nvSpPr>
        <p:spPr>
          <a:xfrm>
            <a:off x="786411" y="4635056"/>
            <a:ext cx="32463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5A24"/>
              </a:buClr>
              <a:buSzPts val="1030"/>
              <a:buFont typeface="Arial"/>
              <a:buNone/>
            </a:pPr>
            <a:r>
              <a:rPr lang="en-US" sz="1030" b="1" i="0" u="none" strike="noStrike" cap="none">
                <a:solidFill>
                  <a:srgbClr val="F05A24"/>
                </a:solidFill>
                <a:latin typeface="Arial"/>
                <a:ea typeface="Arial"/>
                <a:cs typeface="Arial"/>
                <a:sym typeface="Arial"/>
              </a:rPr>
              <a:t>n-dimensional input needs n qubits.</a:t>
            </a:r>
            <a:endParaRPr sz="1030" b="0" i="0" u="none" strike="noStrike" cap="none">
              <a:solidFill>
                <a:schemeClr val="dk1"/>
              </a:solidFill>
              <a:latin typeface="Arial"/>
              <a:ea typeface="Arial"/>
              <a:cs typeface="Arial"/>
              <a:sym typeface="Arial"/>
            </a:endParaRPr>
          </a:p>
        </p:txBody>
      </p:sp>
      <p:sp>
        <p:nvSpPr>
          <p:cNvPr id="281" name="Google Shape;281;g3f82550f26e_6_2"/>
          <p:cNvSpPr/>
          <p:nvPr/>
        </p:nvSpPr>
        <p:spPr>
          <a:xfrm>
            <a:off x="4535582" y="3089720"/>
            <a:ext cx="3520500" cy="17832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2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g3f82550f26e_6_2"/>
          <p:cNvSpPr/>
          <p:nvPr/>
        </p:nvSpPr>
        <p:spPr>
          <a:xfrm>
            <a:off x="4535582" y="3089720"/>
            <a:ext cx="63900" cy="1783200"/>
          </a:xfrm>
          <a:prstGeom prst="rect">
            <a:avLst/>
          </a:prstGeom>
          <a:solidFill>
            <a:srgbClr val="6A3FB5"/>
          </a:solidFill>
          <a:ln w="12700" cap="flat" cmpd="sng">
            <a:solidFill>
              <a:srgbClr val="6A3FB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g3f82550f26e_6_2"/>
          <p:cNvSpPr/>
          <p:nvPr/>
        </p:nvSpPr>
        <p:spPr>
          <a:xfrm>
            <a:off x="4755046" y="3272599"/>
            <a:ext cx="3063300" cy="210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200"/>
              <a:buFont typeface="Arial"/>
              <a:buNone/>
            </a:pPr>
            <a:r>
              <a:rPr lang="en-US" sz="1200" b="1" i="0" u="none" strike="noStrike" cap="none">
                <a:solidFill>
                  <a:srgbClr val="00577F"/>
                </a:solidFill>
                <a:latin typeface="Arial"/>
                <a:ea typeface="Arial"/>
                <a:cs typeface="Arial"/>
                <a:sym typeface="Arial"/>
              </a:rPr>
              <a:t>Trainable evolution U(theta)</a:t>
            </a:r>
            <a:endParaRPr sz="1200" b="0" i="0" u="none" strike="noStrike" cap="none">
              <a:solidFill>
                <a:schemeClr val="dk1"/>
              </a:solidFill>
              <a:latin typeface="Arial"/>
              <a:ea typeface="Arial"/>
              <a:cs typeface="Arial"/>
              <a:sym typeface="Arial"/>
            </a:endParaRPr>
          </a:p>
        </p:txBody>
      </p:sp>
      <p:sp>
        <p:nvSpPr>
          <p:cNvPr id="284" name="Google Shape;284;g3f82550f26e_6_2"/>
          <p:cNvSpPr/>
          <p:nvPr/>
        </p:nvSpPr>
        <p:spPr>
          <a:xfrm>
            <a:off x="4755046" y="3565207"/>
            <a:ext cx="29994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050"/>
              <a:buFont typeface="Arial"/>
              <a:buNone/>
            </a:pPr>
            <a:r>
              <a:rPr lang="en-US" sz="1050" b="0" i="0" u="none" strike="noStrike" cap="none">
                <a:solidFill>
                  <a:srgbClr val="111111"/>
                </a:solidFill>
                <a:latin typeface="Arial"/>
                <a:ea typeface="Arial"/>
                <a:cs typeface="Arial"/>
                <a:sym typeface="Arial"/>
              </a:rPr>
              <a:t>After preparation, the parameterized circuit evolves the state:</a:t>
            </a:r>
            <a:endParaRPr sz="1050" b="0" i="0" u="none" strike="noStrike" cap="none">
              <a:solidFill>
                <a:schemeClr val="dk1"/>
              </a:solidFill>
              <a:latin typeface="Arial"/>
              <a:ea typeface="Arial"/>
              <a:cs typeface="Arial"/>
              <a:sym typeface="Arial"/>
            </a:endParaRPr>
          </a:p>
        </p:txBody>
      </p:sp>
      <p:sp>
        <p:nvSpPr>
          <p:cNvPr id="285" name="Google Shape;285;g3f82550f26e_6_2"/>
          <p:cNvSpPr/>
          <p:nvPr/>
        </p:nvSpPr>
        <p:spPr>
          <a:xfrm>
            <a:off x="4755046" y="4296728"/>
            <a:ext cx="2999400" cy="384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020"/>
              <a:buFont typeface="Arial"/>
              <a:buNone/>
            </a:pPr>
            <a:r>
              <a:rPr lang="en-US" sz="1020" b="0" i="0" u="none" strike="noStrike" cap="none">
                <a:solidFill>
                  <a:srgbClr val="111111"/>
                </a:solidFill>
                <a:latin typeface="Arial"/>
                <a:ea typeface="Arial"/>
                <a:cs typeface="Arial"/>
                <a:sym typeface="Arial"/>
              </a:rPr>
              <a:t>Input qubits are initially separable. CNOT gates create entanglement.</a:t>
            </a:r>
            <a:endParaRPr sz="1020" b="0" i="0" u="none" strike="noStrike" cap="none">
              <a:solidFill>
                <a:schemeClr val="dk1"/>
              </a:solidFill>
              <a:latin typeface="Arial"/>
              <a:ea typeface="Arial"/>
              <a:cs typeface="Arial"/>
              <a:sym typeface="Arial"/>
            </a:endParaRPr>
          </a:p>
        </p:txBody>
      </p:sp>
      <p:sp>
        <p:nvSpPr>
          <p:cNvPr id="286" name="Google Shape;286;g3f82550f26e_6_2"/>
          <p:cNvSpPr/>
          <p:nvPr/>
        </p:nvSpPr>
        <p:spPr>
          <a:xfrm>
            <a:off x="8229887" y="3089720"/>
            <a:ext cx="3401700" cy="17832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2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g3f82550f26e_6_2"/>
          <p:cNvSpPr/>
          <p:nvPr/>
        </p:nvSpPr>
        <p:spPr>
          <a:xfrm>
            <a:off x="8229887" y="3089720"/>
            <a:ext cx="63900" cy="1783200"/>
          </a:xfrm>
          <a:prstGeom prst="rect">
            <a:avLst/>
          </a:prstGeom>
          <a:solidFill>
            <a:srgbClr val="00577F"/>
          </a:solidFill>
          <a:ln w="1270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g3f82550f26e_6_2"/>
          <p:cNvSpPr/>
          <p:nvPr/>
        </p:nvSpPr>
        <p:spPr>
          <a:xfrm>
            <a:off x="8449351" y="3272599"/>
            <a:ext cx="2971800" cy="210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200"/>
              <a:buFont typeface="Arial"/>
              <a:buNone/>
            </a:pPr>
            <a:r>
              <a:rPr lang="en-US" sz="1200" b="1" i="0" u="none" strike="noStrike" cap="none">
                <a:solidFill>
                  <a:srgbClr val="00577F"/>
                </a:solidFill>
                <a:latin typeface="Arial"/>
                <a:ea typeface="Arial"/>
                <a:cs typeface="Arial"/>
                <a:sym typeface="Arial"/>
              </a:rPr>
              <a:t>Measurement + training loop</a:t>
            </a:r>
            <a:endParaRPr sz="1200" b="0" i="0" u="none" strike="noStrike" cap="none">
              <a:solidFill>
                <a:schemeClr val="dk1"/>
              </a:solidFill>
              <a:latin typeface="Arial"/>
              <a:ea typeface="Arial"/>
              <a:cs typeface="Arial"/>
              <a:sym typeface="Arial"/>
            </a:endParaRPr>
          </a:p>
        </p:txBody>
      </p:sp>
      <p:sp>
        <p:nvSpPr>
          <p:cNvPr id="289" name="Google Shape;289;g3f82550f26e_6_2"/>
          <p:cNvSpPr/>
          <p:nvPr/>
        </p:nvSpPr>
        <p:spPr>
          <a:xfrm>
            <a:off x="8449351" y="3565207"/>
            <a:ext cx="29445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050"/>
              <a:buFont typeface="Arial"/>
              <a:buNone/>
            </a:pPr>
            <a:r>
              <a:rPr lang="en-US" sz="1050" b="0" i="0" u="none" strike="noStrike" cap="none">
                <a:solidFill>
                  <a:srgbClr val="111111"/>
                </a:solidFill>
                <a:latin typeface="Arial"/>
                <a:ea typeface="Arial"/>
                <a:cs typeface="Arial"/>
                <a:sym typeface="Arial"/>
              </a:rPr>
              <a:t>Quantum measurement is probabilistic, so the same circuit is run many times.</a:t>
            </a:r>
            <a:endParaRPr sz="1050" b="0" i="0" u="none" strike="noStrike" cap="none">
              <a:solidFill>
                <a:schemeClr val="dk1"/>
              </a:solidFill>
              <a:latin typeface="Arial"/>
              <a:ea typeface="Arial"/>
              <a:cs typeface="Arial"/>
              <a:sym typeface="Arial"/>
            </a:endParaRPr>
          </a:p>
        </p:txBody>
      </p:sp>
      <p:sp>
        <p:nvSpPr>
          <p:cNvPr id="290" name="Google Shape;290;g3f82550f26e_6_2"/>
          <p:cNvSpPr/>
          <p:nvPr/>
        </p:nvSpPr>
        <p:spPr>
          <a:xfrm>
            <a:off x="8449351" y="4031552"/>
            <a:ext cx="29262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0B0B"/>
              </a:buClr>
              <a:buSzPts val="1150"/>
              <a:buFont typeface="Arial"/>
              <a:buNone/>
            </a:pPr>
            <a:r>
              <a:rPr lang="en-US" sz="1150" b="1" i="0" u="none" strike="noStrike" cap="none">
                <a:solidFill>
                  <a:srgbClr val="0B0B0B"/>
                </a:solidFill>
                <a:latin typeface="Arial"/>
                <a:ea typeface="Arial"/>
                <a:cs typeface="Arial"/>
                <a:sym typeface="Arial"/>
              </a:rPr>
              <a:t>shots -&gt; estimate observable -&gt; cost -&gt; update theta</a:t>
            </a:r>
            <a:endParaRPr sz="1150" b="0" i="0" u="none" strike="noStrike" cap="none">
              <a:solidFill>
                <a:schemeClr val="dk1"/>
              </a:solidFill>
              <a:latin typeface="Arial"/>
              <a:ea typeface="Arial"/>
              <a:cs typeface="Arial"/>
              <a:sym typeface="Arial"/>
            </a:endParaRPr>
          </a:p>
        </p:txBody>
      </p:sp>
      <p:sp>
        <p:nvSpPr>
          <p:cNvPr id="291" name="Google Shape;291;g3f82550f26e_6_2"/>
          <p:cNvSpPr/>
          <p:nvPr/>
        </p:nvSpPr>
        <p:spPr>
          <a:xfrm>
            <a:off x="8449351" y="4369880"/>
            <a:ext cx="2944500" cy="347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980"/>
              <a:buFont typeface="Arial"/>
              <a:buNone/>
            </a:pPr>
            <a:r>
              <a:rPr lang="en-US" sz="980" b="0" i="0" u="none" strike="noStrike" cap="none">
                <a:solidFill>
                  <a:srgbClr val="111111"/>
                </a:solidFill>
                <a:latin typeface="Arial"/>
                <a:ea typeface="Arial"/>
                <a:cs typeface="Arial"/>
                <a:sym typeface="Arial"/>
              </a:rPr>
              <a:t>We use </a:t>
            </a:r>
            <a:r>
              <a:rPr lang="en-US" sz="980" b="1" i="0" u="none" strike="noStrike" cap="none">
                <a:solidFill>
                  <a:srgbClr val="111111"/>
                </a:solidFill>
                <a:latin typeface="Arial"/>
                <a:ea typeface="Arial"/>
                <a:cs typeface="Arial"/>
                <a:sym typeface="Arial"/>
              </a:rPr>
              <a:t>gradient descent</a:t>
            </a:r>
            <a:r>
              <a:rPr lang="en-US" sz="980" b="0" i="0" u="none" strike="noStrike" cap="none">
                <a:solidFill>
                  <a:srgbClr val="111111"/>
                </a:solidFill>
                <a:latin typeface="Arial"/>
                <a:ea typeface="Arial"/>
                <a:cs typeface="Arial"/>
                <a:sym typeface="Arial"/>
              </a:rPr>
              <a:t> to update parameters theta, with </a:t>
            </a:r>
            <a:r>
              <a:rPr lang="en-US" sz="980" b="1" i="0" u="none" strike="noStrike" cap="none">
                <a:solidFill>
                  <a:srgbClr val="111111"/>
                </a:solidFill>
                <a:latin typeface="Arial"/>
                <a:ea typeface="Arial"/>
                <a:cs typeface="Arial"/>
                <a:sym typeface="Arial"/>
              </a:rPr>
              <a:t>Fubini–Study metric</a:t>
            </a:r>
            <a:r>
              <a:rPr lang="en-US" sz="980" b="0" i="0" u="none" strike="noStrike" cap="none">
                <a:solidFill>
                  <a:srgbClr val="111111"/>
                </a:solidFill>
                <a:latin typeface="Arial"/>
                <a:ea typeface="Arial"/>
                <a:cs typeface="Arial"/>
                <a:sym typeface="Arial"/>
              </a:rPr>
              <a:t> according to quantum-state geometry.</a:t>
            </a:r>
            <a:endParaRPr sz="980" b="0" i="0" u="none" strike="noStrike" cap="none">
              <a:solidFill>
                <a:schemeClr val="dk1"/>
              </a:solidFill>
              <a:latin typeface="Arial"/>
              <a:ea typeface="Arial"/>
              <a:cs typeface="Arial"/>
              <a:sym typeface="Arial"/>
            </a:endParaRPr>
          </a:p>
        </p:txBody>
      </p:sp>
      <p:sp>
        <p:nvSpPr>
          <p:cNvPr id="292" name="Google Shape;292;g3f82550f26e_6_2"/>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g3f82550f26e_6_2"/>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2 · ENCODER</a:t>
            </a:r>
            <a:endParaRPr sz="1400" b="0" i="0" u="none" strike="noStrike" cap="none">
              <a:solidFill>
                <a:srgbClr val="000000"/>
              </a:solidFill>
              <a:latin typeface="Arial"/>
              <a:ea typeface="Arial"/>
              <a:cs typeface="Arial"/>
              <a:sym typeface="Arial"/>
            </a:endParaRPr>
          </a:p>
        </p:txBody>
      </p:sp>
      <p:sp>
        <p:nvSpPr>
          <p:cNvPr id="294" name="Google Shape;294;g3f82550f26e_6_2"/>
          <p:cNvSpPr txBox="1"/>
          <p:nvPr/>
        </p:nvSpPr>
        <p:spPr>
          <a:xfrm>
            <a:off x="448056" y="429768"/>
            <a:ext cx="9784200" cy="2247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100"/>
              <a:buFont typeface="Arial"/>
              <a:buNone/>
            </a:pPr>
            <a:r>
              <a:rPr lang="en-US" sz="1100" b="0" i="0" u="none" strike="noStrike" cap="none">
                <a:solidFill>
                  <a:srgbClr val="666666"/>
                </a:solidFill>
                <a:latin typeface="Arial"/>
                <a:ea typeface="Arial"/>
                <a:cs typeface="Arial"/>
                <a:sym typeface="Arial"/>
              </a:rPr>
              <a:t>Classical concept and quantum counterpart</a:t>
            </a:r>
            <a:endParaRPr sz="1400" b="0" i="0" u="none" strike="noStrike" cap="none">
              <a:solidFill>
                <a:srgbClr val="000000"/>
              </a:solidFill>
              <a:latin typeface="Arial"/>
              <a:ea typeface="Arial"/>
              <a:cs typeface="Arial"/>
              <a:sym typeface="Arial"/>
            </a:endParaRPr>
          </a:p>
        </p:txBody>
      </p:sp>
      <p:cxnSp>
        <p:nvCxnSpPr>
          <p:cNvPr id="295" name="Google Shape;295;g3f82550f26e_6_2"/>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296" name="Google Shape;296;g3f82550f26e_6_2"/>
          <p:cNvSpPr txBox="1"/>
          <p:nvPr/>
        </p:nvSpPr>
        <p:spPr>
          <a:xfrm>
            <a:off x="338328" y="791869"/>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2700"/>
              <a:buFont typeface="Arial"/>
              <a:buNone/>
            </a:pPr>
            <a:r>
              <a:rPr lang="en-US" sz="2400" b="1" i="0" u="none" strike="noStrike" cap="none">
                <a:solidFill>
                  <a:srgbClr val="1A1A1A"/>
                </a:solidFill>
                <a:latin typeface="Arial"/>
                <a:ea typeface="Arial"/>
                <a:cs typeface="Arial"/>
                <a:sym typeface="Arial"/>
              </a:rPr>
              <a:t>How the quantum autoencoder actually works</a:t>
            </a:r>
            <a:endParaRPr sz="2400" b="1" i="0" u="none" strike="noStrike" cap="none">
              <a:solidFill>
                <a:srgbClr val="1A1A1A"/>
              </a:solidFill>
              <a:latin typeface="Arial"/>
              <a:ea typeface="Arial"/>
              <a:cs typeface="Arial"/>
              <a:sym typeface="Arial"/>
            </a:endParaRPr>
          </a:p>
        </p:txBody>
      </p:sp>
      <p:pic>
        <p:nvPicPr>
          <p:cNvPr id="297" name="Google Shape;297;g3f82550f26e_6_2"/>
          <p:cNvPicPr preferRelativeResize="0"/>
          <p:nvPr/>
        </p:nvPicPr>
        <p:blipFill rotWithShape="1">
          <a:blip r:embed="rId3">
            <a:alphaModFix/>
          </a:blip>
          <a:srcRect/>
          <a:stretch/>
        </p:blipFill>
        <p:spPr>
          <a:xfrm>
            <a:off x="4773325" y="3876112"/>
            <a:ext cx="1852732" cy="347475"/>
          </a:xfrm>
          <a:prstGeom prst="rect">
            <a:avLst/>
          </a:prstGeom>
          <a:noFill/>
          <a:ln>
            <a:noFill/>
          </a:ln>
        </p:spPr>
      </p:pic>
      <p:pic>
        <p:nvPicPr>
          <p:cNvPr id="298" name="Google Shape;298;g3f82550f26e_6_2" title="螢幕擷取畫面 2026-07-15 173638.png"/>
          <p:cNvPicPr preferRelativeResize="0"/>
          <p:nvPr/>
        </p:nvPicPr>
        <p:blipFill rotWithShape="1">
          <a:blip r:embed="rId4">
            <a:alphaModFix/>
          </a:blip>
          <a:srcRect/>
          <a:stretch/>
        </p:blipFill>
        <p:spPr>
          <a:xfrm>
            <a:off x="786400" y="3986813"/>
            <a:ext cx="3401700" cy="446092"/>
          </a:xfrm>
          <a:prstGeom prst="rect">
            <a:avLst/>
          </a:prstGeom>
          <a:noFill/>
          <a:ln>
            <a:noFill/>
          </a:ln>
        </p:spPr>
      </p:pic>
      <p:sp>
        <p:nvSpPr>
          <p:cNvPr id="299" name="Google Shape;299;g3f82550f26e_6_2"/>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g3f82550f26e_6_2"/>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302" name="Google Shape;302;g3f82550f26e_6_2"/>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altLang="zh-TW" sz="1000" b="1" i="0" u="none" strike="noStrike" cap="none" dirty="0">
                <a:solidFill>
                  <a:srgbClr val="06507A"/>
                </a:solidFill>
                <a:latin typeface="Arial"/>
                <a:ea typeface="Arial"/>
                <a:cs typeface="Arial"/>
                <a:sym typeface="Arial"/>
              </a:rPr>
              <a:t>6</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7"/>
        <p:cNvGrpSpPr/>
        <p:nvPr/>
      </p:nvGrpSpPr>
      <p:grpSpPr>
        <a:xfrm>
          <a:off x="0" y="0"/>
          <a:ext cx="0" cy="0"/>
          <a:chOff x="0" y="0"/>
          <a:chExt cx="0" cy="0"/>
        </a:xfrm>
      </p:grpSpPr>
      <p:sp>
        <p:nvSpPr>
          <p:cNvPr id="308" name="Google Shape;308;g3f5366b50d3_1_0"/>
          <p:cNvSpPr/>
          <p:nvPr/>
        </p:nvSpPr>
        <p:spPr>
          <a:xfrm>
            <a:off x="585236" y="1371600"/>
            <a:ext cx="3858903" cy="18288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g3f5366b50d3_1_0"/>
          <p:cNvSpPr/>
          <p:nvPr/>
        </p:nvSpPr>
        <p:spPr>
          <a:xfrm>
            <a:off x="585236" y="1371600"/>
            <a:ext cx="64010" cy="1828800"/>
          </a:xfrm>
          <a:prstGeom prst="rect">
            <a:avLst/>
          </a:prstGeom>
          <a:solidFill>
            <a:srgbClr val="F05A24"/>
          </a:solidFill>
          <a:ln w="12700" cap="flat" cmpd="sng">
            <a:solidFill>
              <a:srgbClr val="F05A2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g3f5366b50d3_1_0"/>
          <p:cNvSpPr/>
          <p:nvPr/>
        </p:nvSpPr>
        <p:spPr>
          <a:xfrm>
            <a:off x="841277" y="1572768"/>
            <a:ext cx="2194637"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300"/>
              <a:buFont typeface="Arial"/>
              <a:buNone/>
            </a:pPr>
            <a:r>
              <a:rPr lang="en-US" sz="1300" b="1" i="0" u="none" strike="noStrike" cap="none">
                <a:solidFill>
                  <a:srgbClr val="00577F"/>
                </a:solidFill>
                <a:latin typeface="Arial"/>
                <a:ea typeface="Arial"/>
                <a:cs typeface="Arial"/>
                <a:sym typeface="Arial"/>
              </a:rPr>
              <a:t>Classical event vector</a:t>
            </a:r>
            <a:endParaRPr sz="1300" b="0" i="0" u="none" strike="noStrike" cap="none">
              <a:solidFill>
                <a:schemeClr val="dk1"/>
              </a:solidFill>
              <a:latin typeface="Arial"/>
              <a:ea typeface="Arial"/>
              <a:cs typeface="Arial"/>
              <a:sym typeface="Arial"/>
            </a:endParaRPr>
          </a:p>
        </p:txBody>
      </p:sp>
      <p:sp>
        <p:nvSpPr>
          <p:cNvPr id="311" name="Google Shape;311;g3f5366b50d3_1_0"/>
          <p:cNvSpPr/>
          <p:nvPr/>
        </p:nvSpPr>
        <p:spPr>
          <a:xfrm>
            <a:off x="841277" y="1874520"/>
            <a:ext cx="3246233" cy="23774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0B0B"/>
              </a:buClr>
              <a:buSzPts val="1500"/>
              <a:buFont typeface="Arial"/>
              <a:buNone/>
            </a:pPr>
            <a:r>
              <a:rPr lang="en-US" sz="1500" b="1" i="0" u="none" strike="noStrike" cap="none">
                <a:solidFill>
                  <a:srgbClr val="0B0B0B"/>
                </a:solidFill>
                <a:latin typeface="Arial"/>
                <a:ea typeface="Arial"/>
                <a:cs typeface="Arial"/>
                <a:sym typeface="Arial"/>
              </a:rPr>
              <a:t>x = </a:t>
            </a:r>
            <a:endParaRPr sz="1500" b="0" i="0" u="none" strike="noStrike" cap="none">
              <a:solidFill>
                <a:schemeClr val="dk1"/>
              </a:solidFill>
              <a:latin typeface="Arial"/>
              <a:ea typeface="Arial"/>
              <a:cs typeface="Arial"/>
              <a:sym typeface="Arial"/>
            </a:endParaRPr>
          </a:p>
        </p:txBody>
      </p:sp>
      <p:sp>
        <p:nvSpPr>
          <p:cNvPr id="312" name="Google Shape;312;g3f5366b50d3_1_0"/>
          <p:cNvSpPr/>
          <p:nvPr/>
        </p:nvSpPr>
        <p:spPr>
          <a:xfrm>
            <a:off x="841277" y="2231136"/>
            <a:ext cx="3246233"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070"/>
              <a:buFont typeface="Arial"/>
              <a:buNone/>
            </a:pPr>
            <a:r>
              <a:rPr lang="en-US" sz="1070" b="0" i="0" u="none" strike="noStrike" cap="none">
                <a:solidFill>
                  <a:srgbClr val="111111"/>
                </a:solidFill>
                <a:latin typeface="Arial"/>
                <a:ea typeface="Arial"/>
                <a:cs typeface="Arial"/>
                <a:sym typeface="Arial"/>
              </a:rPr>
              <a:t>After rescaling: each component becomes an angle     in [0, pi].</a:t>
            </a:r>
            <a:endParaRPr sz="1070" b="0" i="0" u="none" strike="noStrike" cap="none">
              <a:solidFill>
                <a:schemeClr val="dk1"/>
              </a:solidFill>
              <a:latin typeface="Arial"/>
              <a:ea typeface="Arial"/>
              <a:cs typeface="Arial"/>
              <a:sym typeface="Arial"/>
            </a:endParaRPr>
          </a:p>
        </p:txBody>
      </p:sp>
      <p:cxnSp>
        <p:nvCxnSpPr>
          <p:cNvPr id="313" name="Google Shape;313;g3f5366b50d3_1_0"/>
          <p:cNvCxnSpPr/>
          <p:nvPr/>
        </p:nvCxnSpPr>
        <p:spPr>
          <a:xfrm>
            <a:off x="4553871" y="2267712"/>
            <a:ext cx="566948" cy="0"/>
          </a:xfrm>
          <a:prstGeom prst="straightConnector1">
            <a:avLst/>
          </a:prstGeom>
          <a:noFill/>
          <a:ln w="25400" cap="flat" cmpd="sng">
            <a:solidFill>
              <a:srgbClr val="F05A24"/>
            </a:solidFill>
            <a:prstDash val="solid"/>
            <a:round/>
            <a:headEnd type="none" w="sm" len="sm"/>
            <a:tailEnd type="triangle" w="med" len="med"/>
          </a:ln>
        </p:spPr>
      </p:cxnSp>
      <p:sp>
        <p:nvSpPr>
          <p:cNvPr id="314" name="Google Shape;314;g3f5366b50d3_1_0"/>
          <p:cNvSpPr/>
          <p:nvPr/>
        </p:nvSpPr>
        <p:spPr>
          <a:xfrm>
            <a:off x="5230550" y="1371600"/>
            <a:ext cx="6364446" cy="18288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g3f5366b50d3_1_0"/>
          <p:cNvSpPr/>
          <p:nvPr/>
        </p:nvSpPr>
        <p:spPr>
          <a:xfrm>
            <a:off x="5230550" y="1371600"/>
            <a:ext cx="64010" cy="1828800"/>
          </a:xfrm>
          <a:prstGeom prst="rect">
            <a:avLst/>
          </a:prstGeom>
          <a:solidFill>
            <a:srgbClr val="00577F"/>
          </a:solidFill>
          <a:ln w="1270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g3f5366b50d3_1_0"/>
          <p:cNvSpPr/>
          <p:nvPr/>
        </p:nvSpPr>
        <p:spPr>
          <a:xfrm>
            <a:off x="5486591" y="1572768"/>
            <a:ext cx="1920307"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300"/>
              <a:buFont typeface="Arial"/>
              <a:buNone/>
            </a:pPr>
            <a:r>
              <a:rPr lang="en-US" sz="1300" b="1" i="0" u="none" strike="noStrike" cap="none">
                <a:solidFill>
                  <a:srgbClr val="00577F"/>
                </a:solidFill>
                <a:latin typeface="Arial"/>
                <a:ea typeface="Arial"/>
                <a:cs typeface="Arial"/>
                <a:sym typeface="Arial"/>
              </a:rPr>
              <a:t>Angle encoding</a:t>
            </a:r>
            <a:endParaRPr sz="1300" b="0" i="0" u="none" strike="noStrike" cap="none">
              <a:solidFill>
                <a:schemeClr val="dk1"/>
              </a:solidFill>
              <a:latin typeface="Arial"/>
              <a:ea typeface="Arial"/>
              <a:cs typeface="Arial"/>
              <a:sym typeface="Arial"/>
            </a:endParaRPr>
          </a:p>
        </p:txBody>
      </p:sp>
      <p:sp>
        <p:nvSpPr>
          <p:cNvPr id="317" name="Google Shape;317;g3f5366b50d3_1_0"/>
          <p:cNvSpPr/>
          <p:nvPr/>
        </p:nvSpPr>
        <p:spPr>
          <a:xfrm>
            <a:off x="5486591" y="2697480"/>
            <a:ext cx="4800767" cy="21031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5A24"/>
              </a:buClr>
              <a:buSzPts val="1050"/>
              <a:buFont typeface="Arial"/>
              <a:buNone/>
            </a:pPr>
            <a:r>
              <a:rPr lang="en-US" sz="1050" b="1" i="0" u="none" strike="noStrike" cap="none">
                <a:solidFill>
                  <a:srgbClr val="F05A24"/>
                </a:solidFill>
                <a:latin typeface="Arial"/>
                <a:ea typeface="Arial"/>
                <a:cs typeface="Arial"/>
                <a:sym typeface="Arial"/>
              </a:rPr>
              <a:t>n input dimensions require n qubits. , 4 features -&gt; 4 input qubits.</a:t>
            </a:r>
            <a:endParaRPr sz="1050" b="0" i="0" u="none" strike="noStrike" cap="none">
              <a:solidFill>
                <a:schemeClr val="dk1"/>
              </a:solidFill>
              <a:latin typeface="Arial"/>
              <a:ea typeface="Arial"/>
              <a:cs typeface="Arial"/>
              <a:sym typeface="Arial"/>
            </a:endParaRPr>
          </a:p>
        </p:txBody>
      </p:sp>
      <p:sp>
        <p:nvSpPr>
          <p:cNvPr id="318" name="Google Shape;318;g3f5366b50d3_1_0"/>
          <p:cNvSpPr/>
          <p:nvPr/>
        </p:nvSpPr>
        <p:spPr>
          <a:xfrm>
            <a:off x="658403" y="3639302"/>
            <a:ext cx="37071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400"/>
              <a:buFont typeface="Arial"/>
              <a:buNone/>
            </a:pPr>
            <a:r>
              <a:rPr lang="en-US" sz="1400" b="1" i="0" u="none" strike="noStrike" cap="none">
                <a:solidFill>
                  <a:srgbClr val="00577F"/>
                </a:solidFill>
                <a:latin typeface="Arial"/>
                <a:ea typeface="Arial"/>
                <a:cs typeface="Arial"/>
                <a:sym typeface="Arial"/>
              </a:rPr>
              <a:t>Physical meaning of the quantum state</a:t>
            </a:r>
            <a:endParaRPr sz="1400" b="0" i="0" u="none" strike="noStrike" cap="none">
              <a:solidFill>
                <a:schemeClr val="dk1"/>
              </a:solidFill>
              <a:latin typeface="Arial"/>
              <a:ea typeface="Arial"/>
              <a:cs typeface="Arial"/>
              <a:sym typeface="Arial"/>
            </a:endParaRPr>
          </a:p>
        </p:txBody>
      </p:sp>
      <p:sp>
        <p:nvSpPr>
          <p:cNvPr id="319" name="Google Shape;319;g3f5366b50d3_1_0"/>
          <p:cNvSpPr/>
          <p:nvPr/>
        </p:nvSpPr>
        <p:spPr>
          <a:xfrm>
            <a:off x="713257" y="3968496"/>
            <a:ext cx="10735430" cy="1115568"/>
          </a:xfrm>
          <a:prstGeom prst="roundRect">
            <a:avLst>
              <a:gd name="adj" fmla="val 16667"/>
            </a:avLst>
          </a:prstGeom>
          <a:solidFill>
            <a:srgbClr val="F9F7F2"/>
          </a:solidFill>
          <a:ln w="13950" cap="flat" cmpd="sng">
            <a:solidFill>
              <a:srgbClr val="D7D3C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g3f5366b50d3_1_0"/>
          <p:cNvSpPr/>
          <p:nvPr/>
        </p:nvSpPr>
        <p:spPr>
          <a:xfrm>
            <a:off x="969298" y="4215384"/>
            <a:ext cx="329195"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5A24"/>
              </a:buClr>
              <a:buSzPts val="1500"/>
              <a:buFont typeface="Arial"/>
              <a:buNone/>
            </a:pPr>
            <a:r>
              <a:rPr lang="en-US" sz="1500" b="1" i="0" u="none" strike="noStrike" cap="none">
                <a:solidFill>
                  <a:srgbClr val="F05A24"/>
                </a:solidFill>
                <a:latin typeface="Arial"/>
                <a:ea typeface="Arial"/>
                <a:cs typeface="Arial"/>
                <a:sym typeface="Arial"/>
              </a:rPr>
              <a:t>q0</a:t>
            </a:r>
            <a:endParaRPr sz="1500" b="0" i="0" u="none" strike="noStrike" cap="none">
              <a:solidFill>
                <a:schemeClr val="dk1"/>
              </a:solidFill>
              <a:latin typeface="Arial"/>
              <a:ea typeface="Arial"/>
              <a:cs typeface="Arial"/>
              <a:sym typeface="Arial"/>
            </a:endParaRPr>
          </a:p>
        </p:txBody>
      </p:sp>
      <p:sp>
        <p:nvSpPr>
          <p:cNvPr id="321" name="Google Shape;321;g3f5366b50d3_1_0"/>
          <p:cNvSpPr/>
          <p:nvPr/>
        </p:nvSpPr>
        <p:spPr>
          <a:xfrm>
            <a:off x="1408225" y="4160520"/>
            <a:ext cx="1051597"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850"/>
              <a:buFont typeface="Arial"/>
              <a:buNone/>
            </a:pPr>
            <a:r>
              <a:rPr lang="en-US" sz="850" b="0" i="0" u="none" strike="noStrike" cap="none">
                <a:solidFill>
                  <a:srgbClr val="666666"/>
                </a:solidFill>
                <a:latin typeface="Arial"/>
                <a:ea typeface="Arial"/>
                <a:cs typeface="Arial"/>
                <a:sym typeface="Arial"/>
              </a:rPr>
              <a:t>stores angle of</a:t>
            </a:r>
            <a:endParaRPr sz="850" b="0" i="0" u="none" strike="noStrike" cap="none">
              <a:solidFill>
                <a:schemeClr val="dk1"/>
              </a:solidFill>
              <a:latin typeface="Arial"/>
              <a:ea typeface="Arial"/>
              <a:cs typeface="Arial"/>
              <a:sym typeface="Arial"/>
            </a:endParaRPr>
          </a:p>
        </p:txBody>
      </p:sp>
      <p:sp>
        <p:nvSpPr>
          <p:cNvPr id="322" name="Google Shape;322;g3f5366b50d3_1_0"/>
          <p:cNvSpPr/>
          <p:nvPr/>
        </p:nvSpPr>
        <p:spPr>
          <a:xfrm>
            <a:off x="1408225" y="4370832"/>
            <a:ext cx="914432"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0B0B"/>
              </a:buClr>
              <a:buSzPts val="1200"/>
              <a:buFont typeface="Arial"/>
              <a:buNone/>
            </a:pPr>
            <a:r>
              <a:rPr lang="en-US" sz="1200" b="1" i="0" u="none" strike="noStrike" cap="none">
                <a:solidFill>
                  <a:srgbClr val="0B0B0B"/>
                </a:solidFill>
                <a:latin typeface="Arial"/>
                <a:ea typeface="Arial"/>
                <a:cs typeface="Arial"/>
                <a:sym typeface="Arial"/>
              </a:rPr>
              <a:t>pT(b1)</a:t>
            </a:r>
            <a:endParaRPr sz="1200" b="0" i="0" u="none" strike="noStrike" cap="none">
              <a:solidFill>
                <a:schemeClr val="dk1"/>
              </a:solidFill>
              <a:latin typeface="Arial"/>
              <a:ea typeface="Arial"/>
              <a:cs typeface="Arial"/>
              <a:sym typeface="Arial"/>
            </a:endParaRPr>
          </a:p>
        </p:txBody>
      </p:sp>
      <p:sp>
        <p:nvSpPr>
          <p:cNvPr id="323" name="Google Shape;323;g3f5366b50d3_1_0"/>
          <p:cNvSpPr/>
          <p:nvPr/>
        </p:nvSpPr>
        <p:spPr>
          <a:xfrm>
            <a:off x="1408225" y="4645152"/>
            <a:ext cx="1051597"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850"/>
              <a:buFont typeface="Arial"/>
              <a:buNone/>
            </a:pPr>
            <a:r>
              <a:rPr lang="en-US" sz="850" b="1" i="0" u="none" strike="noStrike" cap="none">
                <a:solidFill>
                  <a:srgbClr val="00577F"/>
                </a:solidFill>
                <a:latin typeface="Arial"/>
                <a:ea typeface="Arial"/>
                <a:cs typeface="Arial"/>
                <a:sym typeface="Arial"/>
              </a:rPr>
              <a:t>R_x(phi_1)|0&gt;</a:t>
            </a:r>
            <a:endParaRPr sz="850" b="0" i="0" u="none" strike="noStrike" cap="none">
              <a:solidFill>
                <a:schemeClr val="dk1"/>
              </a:solidFill>
              <a:latin typeface="Arial"/>
              <a:ea typeface="Arial"/>
              <a:cs typeface="Arial"/>
              <a:sym typeface="Arial"/>
            </a:endParaRPr>
          </a:p>
        </p:txBody>
      </p:sp>
      <p:cxnSp>
        <p:nvCxnSpPr>
          <p:cNvPr id="324" name="Google Shape;324;g3f5366b50d3_1_0"/>
          <p:cNvCxnSpPr/>
          <p:nvPr/>
        </p:nvCxnSpPr>
        <p:spPr>
          <a:xfrm>
            <a:off x="2798162" y="4526280"/>
            <a:ext cx="630958" cy="0"/>
          </a:xfrm>
          <a:prstGeom prst="straightConnector1">
            <a:avLst/>
          </a:prstGeom>
          <a:noFill/>
          <a:ln w="25400" cap="flat" cmpd="sng">
            <a:solidFill>
              <a:srgbClr val="E5E1D8"/>
            </a:solidFill>
            <a:prstDash val="solid"/>
            <a:round/>
            <a:headEnd type="none" w="sm" len="sm"/>
            <a:tailEnd type="triangle" w="med" len="med"/>
          </a:ln>
        </p:spPr>
      </p:cxnSp>
      <p:sp>
        <p:nvSpPr>
          <p:cNvPr id="325" name="Google Shape;325;g3f5366b50d3_1_0"/>
          <p:cNvSpPr/>
          <p:nvPr/>
        </p:nvSpPr>
        <p:spPr>
          <a:xfrm>
            <a:off x="3566284" y="4215384"/>
            <a:ext cx="329195"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5A24"/>
              </a:buClr>
              <a:buSzPts val="1500"/>
              <a:buFont typeface="Arial"/>
              <a:buNone/>
            </a:pPr>
            <a:r>
              <a:rPr lang="en-US" sz="1500" b="1" i="0" u="none" strike="noStrike" cap="none">
                <a:solidFill>
                  <a:srgbClr val="F05A24"/>
                </a:solidFill>
                <a:latin typeface="Arial"/>
                <a:ea typeface="Arial"/>
                <a:cs typeface="Arial"/>
                <a:sym typeface="Arial"/>
              </a:rPr>
              <a:t>q1</a:t>
            </a:r>
            <a:endParaRPr sz="1500" b="0" i="0" u="none" strike="noStrike" cap="none">
              <a:solidFill>
                <a:schemeClr val="dk1"/>
              </a:solidFill>
              <a:latin typeface="Arial"/>
              <a:ea typeface="Arial"/>
              <a:cs typeface="Arial"/>
              <a:sym typeface="Arial"/>
            </a:endParaRPr>
          </a:p>
        </p:txBody>
      </p:sp>
      <p:sp>
        <p:nvSpPr>
          <p:cNvPr id="326" name="Google Shape;326;g3f5366b50d3_1_0"/>
          <p:cNvSpPr/>
          <p:nvPr/>
        </p:nvSpPr>
        <p:spPr>
          <a:xfrm>
            <a:off x="4005212" y="4160520"/>
            <a:ext cx="1051597"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850"/>
              <a:buFont typeface="Arial"/>
              <a:buNone/>
            </a:pPr>
            <a:r>
              <a:rPr lang="en-US" sz="850" b="0" i="0" u="none" strike="noStrike" cap="none">
                <a:solidFill>
                  <a:srgbClr val="666666"/>
                </a:solidFill>
                <a:latin typeface="Arial"/>
                <a:ea typeface="Arial"/>
                <a:cs typeface="Arial"/>
                <a:sym typeface="Arial"/>
              </a:rPr>
              <a:t>stores angle of</a:t>
            </a:r>
            <a:endParaRPr sz="850" b="0" i="0" u="none" strike="noStrike" cap="none">
              <a:solidFill>
                <a:schemeClr val="dk1"/>
              </a:solidFill>
              <a:latin typeface="Arial"/>
              <a:ea typeface="Arial"/>
              <a:cs typeface="Arial"/>
              <a:sym typeface="Arial"/>
            </a:endParaRPr>
          </a:p>
        </p:txBody>
      </p:sp>
      <p:sp>
        <p:nvSpPr>
          <p:cNvPr id="327" name="Google Shape;327;g3f5366b50d3_1_0"/>
          <p:cNvSpPr/>
          <p:nvPr/>
        </p:nvSpPr>
        <p:spPr>
          <a:xfrm>
            <a:off x="4005212" y="4370832"/>
            <a:ext cx="914432"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0B0B"/>
              </a:buClr>
              <a:buSzPts val="1200"/>
              <a:buFont typeface="Arial"/>
              <a:buNone/>
            </a:pPr>
            <a:r>
              <a:rPr lang="en-US" sz="1200" b="1" i="0" u="none" strike="noStrike" cap="none">
                <a:solidFill>
                  <a:srgbClr val="0B0B0B"/>
                </a:solidFill>
                <a:latin typeface="Arial"/>
                <a:ea typeface="Arial"/>
                <a:cs typeface="Arial"/>
                <a:sym typeface="Arial"/>
              </a:rPr>
              <a:t>pT(l1)</a:t>
            </a:r>
            <a:endParaRPr sz="1200" b="0" i="0" u="none" strike="noStrike" cap="none">
              <a:solidFill>
                <a:schemeClr val="dk1"/>
              </a:solidFill>
              <a:latin typeface="Arial"/>
              <a:ea typeface="Arial"/>
              <a:cs typeface="Arial"/>
              <a:sym typeface="Arial"/>
            </a:endParaRPr>
          </a:p>
        </p:txBody>
      </p:sp>
      <p:sp>
        <p:nvSpPr>
          <p:cNvPr id="328" name="Google Shape;328;g3f5366b50d3_1_0"/>
          <p:cNvSpPr/>
          <p:nvPr/>
        </p:nvSpPr>
        <p:spPr>
          <a:xfrm>
            <a:off x="4005212" y="4645152"/>
            <a:ext cx="1051597"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850"/>
              <a:buFont typeface="Arial"/>
              <a:buNone/>
            </a:pPr>
            <a:r>
              <a:rPr lang="en-US" sz="850" b="1" i="0" u="none" strike="noStrike" cap="none">
                <a:solidFill>
                  <a:srgbClr val="00577F"/>
                </a:solidFill>
                <a:latin typeface="Arial"/>
                <a:ea typeface="Arial"/>
                <a:cs typeface="Arial"/>
                <a:sym typeface="Arial"/>
              </a:rPr>
              <a:t>R_x(phi_2)|0&gt;</a:t>
            </a:r>
            <a:endParaRPr sz="850" b="0" i="0" u="none" strike="noStrike" cap="none">
              <a:solidFill>
                <a:schemeClr val="dk1"/>
              </a:solidFill>
              <a:latin typeface="Arial"/>
              <a:ea typeface="Arial"/>
              <a:cs typeface="Arial"/>
              <a:sym typeface="Arial"/>
            </a:endParaRPr>
          </a:p>
        </p:txBody>
      </p:sp>
      <p:cxnSp>
        <p:nvCxnSpPr>
          <p:cNvPr id="329" name="Google Shape;329;g3f5366b50d3_1_0"/>
          <p:cNvCxnSpPr/>
          <p:nvPr/>
        </p:nvCxnSpPr>
        <p:spPr>
          <a:xfrm>
            <a:off x="5395148" y="4526280"/>
            <a:ext cx="630958" cy="0"/>
          </a:xfrm>
          <a:prstGeom prst="straightConnector1">
            <a:avLst/>
          </a:prstGeom>
          <a:noFill/>
          <a:ln w="25400" cap="flat" cmpd="sng">
            <a:solidFill>
              <a:srgbClr val="E5E1D8"/>
            </a:solidFill>
            <a:prstDash val="solid"/>
            <a:round/>
            <a:headEnd type="none" w="sm" len="sm"/>
            <a:tailEnd type="triangle" w="med" len="med"/>
          </a:ln>
        </p:spPr>
      </p:cxnSp>
      <p:sp>
        <p:nvSpPr>
          <p:cNvPr id="330" name="Google Shape;330;g3f5366b50d3_1_0"/>
          <p:cNvSpPr/>
          <p:nvPr/>
        </p:nvSpPr>
        <p:spPr>
          <a:xfrm>
            <a:off x="6163271" y="4215384"/>
            <a:ext cx="329195"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5A24"/>
              </a:buClr>
              <a:buSzPts val="1500"/>
              <a:buFont typeface="Arial"/>
              <a:buNone/>
            </a:pPr>
            <a:r>
              <a:rPr lang="en-US" sz="1500" b="1" i="0" u="none" strike="noStrike" cap="none">
                <a:solidFill>
                  <a:srgbClr val="F05A24"/>
                </a:solidFill>
                <a:latin typeface="Arial"/>
                <a:ea typeface="Arial"/>
                <a:cs typeface="Arial"/>
                <a:sym typeface="Arial"/>
              </a:rPr>
              <a:t>q2</a:t>
            </a:r>
            <a:endParaRPr sz="1500" b="0" i="0" u="none" strike="noStrike" cap="none">
              <a:solidFill>
                <a:schemeClr val="dk1"/>
              </a:solidFill>
              <a:latin typeface="Arial"/>
              <a:ea typeface="Arial"/>
              <a:cs typeface="Arial"/>
              <a:sym typeface="Arial"/>
            </a:endParaRPr>
          </a:p>
        </p:txBody>
      </p:sp>
      <p:sp>
        <p:nvSpPr>
          <p:cNvPr id="331" name="Google Shape;331;g3f5366b50d3_1_0"/>
          <p:cNvSpPr/>
          <p:nvPr/>
        </p:nvSpPr>
        <p:spPr>
          <a:xfrm>
            <a:off x="6602198" y="4160520"/>
            <a:ext cx="1051597"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850"/>
              <a:buFont typeface="Arial"/>
              <a:buNone/>
            </a:pPr>
            <a:r>
              <a:rPr lang="en-US" sz="850" b="0" i="0" u="none" strike="noStrike" cap="none">
                <a:solidFill>
                  <a:srgbClr val="666666"/>
                </a:solidFill>
                <a:latin typeface="Arial"/>
                <a:ea typeface="Arial"/>
                <a:cs typeface="Arial"/>
                <a:sym typeface="Arial"/>
              </a:rPr>
              <a:t>stores angle of</a:t>
            </a:r>
            <a:endParaRPr sz="850" b="0" i="0" u="none" strike="noStrike" cap="none">
              <a:solidFill>
                <a:schemeClr val="dk1"/>
              </a:solidFill>
              <a:latin typeface="Arial"/>
              <a:ea typeface="Arial"/>
              <a:cs typeface="Arial"/>
              <a:sym typeface="Arial"/>
            </a:endParaRPr>
          </a:p>
        </p:txBody>
      </p:sp>
      <p:sp>
        <p:nvSpPr>
          <p:cNvPr id="332" name="Google Shape;332;g3f5366b50d3_1_0"/>
          <p:cNvSpPr/>
          <p:nvPr/>
        </p:nvSpPr>
        <p:spPr>
          <a:xfrm>
            <a:off x="6602198" y="4370832"/>
            <a:ext cx="914432"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0B0B"/>
              </a:buClr>
              <a:buSzPts val="1200"/>
              <a:buFont typeface="Arial"/>
              <a:buNone/>
            </a:pPr>
            <a:r>
              <a:rPr lang="en-US" sz="1200" b="1" i="0" u="none" strike="noStrike" cap="none">
                <a:solidFill>
                  <a:srgbClr val="0B0B0B"/>
                </a:solidFill>
                <a:latin typeface="Arial"/>
                <a:ea typeface="Arial"/>
                <a:cs typeface="Arial"/>
                <a:sym typeface="Arial"/>
              </a:rPr>
              <a:t>pT(l2)</a:t>
            </a:r>
            <a:endParaRPr sz="1200" b="0" i="0" u="none" strike="noStrike" cap="none">
              <a:solidFill>
                <a:schemeClr val="dk1"/>
              </a:solidFill>
              <a:latin typeface="Arial"/>
              <a:ea typeface="Arial"/>
              <a:cs typeface="Arial"/>
              <a:sym typeface="Arial"/>
            </a:endParaRPr>
          </a:p>
        </p:txBody>
      </p:sp>
      <p:sp>
        <p:nvSpPr>
          <p:cNvPr id="333" name="Google Shape;333;g3f5366b50d3_1_0"/>
          <p:cNvSpPr/>
          <p:nvPr/>
        </p:nvSpPr>
        <p:spPr>
          <a:xfrm>
            <a:off x="6602198" y="4645152"/>
            <a:ext cx="1051597"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850"/>
              <a:buFont typeface="Arial"/>
              <a:buNone/>
            </a:pPr>
            <a:r>
              <a:rPr lang="en-US" sz="850" b="1" i="0" u="none" strike="noStrike" cap="none">
                <a:solidFill>
                  <a:srgbClr val="00577F"/>
                </a:solidFill>
                <a:latin typeface="Arial"/>
                <a:ea typeface="Arial"/>
                <a:cs typeface="Arial"/>
                <a:sym typeface="Arial"/>
              </a:rPr>
              <a:t>R_x(phi_3)|0&gt;</a:t>
            </a:r>
            <a:endParaRPr sz="850" b="0" i="0" u="none" strike="noStrike" cap="none">
              <a:solidFill>
                <a:schemeClr val="dk1"/>
              </a:solidFill>
              <a:latin typeface="Arial"/>
              <a:ea typeface="Arial"/>
              <a:cs typeface="Arial"/>
              <a:sym typeface="Arial"/>
            </a:endParaRPr>
          </a:p>
        </p:txBody>
      </p:sp>
      <p:cxnSp>
        <p:nvCxnSpPr>
          <p:cNvPr id="334" name="Google Shape;334;g3f5366b50d3_1_0"/>
          <p:cNvCxnSpPr/>
          <p:nvPr/>
        </p:nvCxnSpPr>
        <p:spPr>
          <a:xfrm>
            <a:off x="7992135" y="4526280"/>
            <a:ext cx="630958" cy="0"/>
          </a:xfrm>
          <a:prstGeom prst="straightConnector1">
            <a:avLst/>
          </a:prstGeom>
          <a:noFill/>
          <a:ln w="25400" cap="flat" cmpd="sng">
            <a:solidFill>
              <a:srgbClr val="E5E1D8"/>
            </a:solidFill>
            <a:prstDash val="solid"/>
            <a:round/>
            <a:headEnd type="none" w="sm" len="sm"/>
            <a:tailEnd type="triangle" w="med" len="med"/>
          </a:ln>
        </p:spPr>
      </p:cxnSp>
      <p:sp>
        <p:nvSpPr>
          <p:cNvPr id="335" name="Google Shape;335;g3f5366b50d3_1_0"/>
          <p:cNvSpPr/>
          <p:nvPr/>
        </p:nvSpPr>
        <p:spPr>
          <a:xfrm>
            <a:off x="8760257" y="4215384"/>
            <a:ext cx="329195"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5A24"/>
              </a:buClr>
              <a:buSzPts val="1500"/>
              <a:buFont typeface="Arial"/>
              <a:buNone/>
            </a:pPr>
            <a:r>
              <a:rPr lang="en-US" sz="1500" b="1" i="0" u="none" strike="noStrike" cap="none">
                <a:solidFill>
                  <a:srgbClr val="F05A24"/>
                </a:solidFill>
                <a:latin typeface="Arial"/>
                <a:ea typeface="Arial"/>
                <a:cs typeface="Arial"/>
                <a:sym typeface="Arial"/>
              </a:rPr>
              <a:t>q3</a:t>
            </a:r>
            <a:endParaRPr sz="1500" b="0" i="0" u="none" strike="noStrike" cap="none">
              <a:solidFill>
                <a:schemeClr val="dk1"/>
              </a:solidFill>
              <a:latin typeface="Arial"/>
              <a:ea typeface="Arial"/>
              <a:cs typeface="Arial"/>
              <a:sym typeface="Arial"/>
            </a:endParaRPr>
          </a:p>
        </p:txBody>
      </p:sp>
      <p:sp>
        <p:nvSpPr>
          <p:cNvPr id="336" name="Google Shape;336;g3f5366b50d3_1_0"/>
          <p:cNvSpPr/>
          <p:nvPr/>
        </p:nvSpPr>
        <p:spPr>
          <a:xfrm>
            <a:off x="9199185" y="4160520"/>
            <a:ext cx="1051597"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850"/>
              <a:buFont typeface="Arial"/>
              <a:buNone/>
            </a:pPr>
            <a:r>
              <a:rPr lang="en-US" sz="850" b="0" i="0" u="none" strike="noStrike" cap="none">
                <a:solidFill>
                  <a:srgbClr val="666666"/>
                </a:solidFill>
                <a:latin typeface="Arial"/>
                <a:ea typeface="Arial"/>
                <a:cs typeface="Arial"/>
                <a:sym typeface="Arial"/>
              </a:rPr>
              <a:t>stores angle of</a:t>
            </a:r>
            <a:endParaRPr sz="850" b="0" i="0" u="none" strike="noStrike" cap="none">
              <a:solidFill>
                <a:schemeClr val="dk1"/>
              </a:solidFill>
              <a:latin typeface="Arial"/>
              <a:ea typeface="Arial"/>
              <a:cs typeface="Arial"/>
              <a:sym typeface="Arial"/>
            </a:endParaRPr>
          </a:p>
        </p:txBody>
      </p:sp>
      <p:sp>
        <p:nvSpPr>
          <p:cNvPr id="337" name="Google Shape;337;g3f5366b50d3_1_0"/>
          <p:cNvSpPr/>
          <p:nvPr/>
        </p:nvSpPr>
        <p:spPr>
          <a:xfrm>
            <a:off x="9199185" y="4370832"/>
            <a:ext cx="914432" cy="20116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0B0B"/>
              </a:buClr>
              <a:buSzPts val="1200"/>
              <a:buFont typeface="Arial"/>
              <a:buNone/>
            </a:pPr>
            <a:r>
              <a:rPr lang="en-US" sz="1200" b="1" i="0" u="none" strike="noStrike" cap="none">
                <a:solidFill>
                  <a:srgbClr val="0B0B0B"/>
                </a:solidFill>
                <a:latin typeface="Arial"/>
                <a:ea typeface="Arial"/>
                <a:cs typeface="Arial"/>
                <a:sym typeface="Arial"/>
              </a:rPr>
              <a:t>MET</a:t>
            </a:r>
            <a:endParaRPr sz="1200" b="0" i="0" u="none" strike="noStrike" cap="none">
              <a:solidFill>
                <a:schemeClr val="dk1"/>
              </a:solidFill>
              <a:latin typeface="Arial"/>
              <a:ea typeface="Arial"/>
              <a:cs typeface="Arial"/>
              <a:sym typeface="Arial"/>
            </a:endParaRPr>
          </a:p>
        </p:txBody>
      </p:sp>
      <p:sp>
        <p:nvSpPr>
          <p:cNvPr id="338" name="Google Shape;338;g3f5366b50d3_1_0"/>
          <p:cNvSpPr/>
          <p:nvPr/>
        </p:nvSpPr>
        <p:spPr>
          <a:xfrm>
            <a:off x="9199185" y="4645152"/>
            <a:ext cx="1051597" cy="16459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850"/>
              <a:buFont typeface="Arial"/>
              <a:buNone/>
            </a:pPr>
            <a:r>
              <a:rPr lang="en-US" sz="850" b="1" i="0" u="none" strike="noStrike" cap="none">
                <a:solidFill>
                  <a:srgbClr val="00577F"/>
                </a:solidFill>
                <a:latin typeface="Arial"/>
                <a:ea typeface="Arial"/>
                <a:cs typeface="Arial"/>
                <a:sym typeface="Arial"/>
              </a:rPr>
              <a:t>R_x(phi_4)|0&gt;</a:t>
            </a:r>
            <a:endParaRPr sz="850" b="0" i="0" u="none" strike="noStrike" cap="none">
              <a:solidFill>
                <a:schemeClr val="dk1"/>
              </a:solidFill>
              <a:latin typeface="Arial"/>
              <a:ea typeface="Arial"/>
              <a:cs typeface="Arial"/>
              <a:sym typeface="Arial"/>
            </a:endParaRPr>
          </a:p>
        </p:txBody>
      </p:sp>
      <p:sp>
        <p:nvSpPr>
          <p:cNvPr id="339" name="Google Shape;339;g3f5366b50d3_1_0"/>
          <p:cNvSpPr/>
          <p:nvPr/>
        </p:nvSpPr>
        <p:spPr>
          <a:xfrm>
            <a:off x="859566" y="5413248"/>
            <a:ext cx="1060741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120"/>
              <a:buFont typeface="Arial"/>
              <a:buNone/>
            </a:pPr>
            <a:r>
              <a:rPr lang="en-US" sz="1120" b="0" i="0" u="none" strike="noStrike" cap="none">
                <a:solidFill>
                  <a:srgbClr val="111111"/>
                </a:solidFill>
                <a:latin typeface="Arial"/>
                <a:ea typeface="Arial"/>
                <a:cs typeface="Arial"/>
                <a:sym typeface="Arial"/>
              </a:rPr>
              <a:t>Immediately after angle encoding the state is separable: |Phi&gt; = |phi1&gt; ⊗ |phi2&gt; ⊗ |phi3&gt; ⊗ |phi4&gt;.  CNOT gates are needed later to entangle features.</a:t>
            </a:r>
            <a:endParaRPr sz="1120" b="0" i="0" u="none" strike="noStrike" cap="none">
              <a:solidFill>
                <a:schemeClr val="dk1"/>
              </a:solidFill>
              <a:latin typeface="Arial"/>
              <a:ea typeface="Arial"/>
              <a:cs typeface="Arial"/>
              <a:sym typeface="Arial"/>
            </a:endParaRPr>
          </a:p>
        </p:txBody>
      </p:sp>
      <p:sp>
        <p:nvSpPr>
          <p:cNvPr id="340" name="Google Shape;340;g3f5366b50d3_1_0"/>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g3f5366b50d3_1_0"/>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2 · ENCODER</a:t>
            </a:r>
            <a:endParaRPr sz="1400" b="0" i="0" u="none" strike="noStrike" cap="none">
              <a:solidFill>
                <a:srgbClr val="000000"/>
              </a:solidFill>
              <a:latin typeface="Arial"/>
              <a:ea typeface="Arial"/>
              <a:cs typeface="Arial"/>
              <a:sym typeface="Arial"/>
            </a:endParaRPr>
          </a:p>
        </p:txBody>
      </p:sp>
      <p:sp>
        <p:nvSpPr>
          <p:cNvPr id="342" name="Google Shape;342;g3f5366b50d3_1_0"/>
          <p:cNvSpPr txBox="1"/>
          <p:nvPr/>
        </p:nvSpPr>
        <p:spPr>
          <a:xfrm>
            <a:off x="448054" y="435025"/>
            <a:ext cx="3118200" cy="2247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100"/>
              <a:buFont typeface="Arial"/>
              <a:buNone/>
            </a:pPr>
            <a:r>
              <a:rPr lang="en-US" sz="1100" b="0" i="0" u="none" strike="noStrike" cap="none">
                <a:solidFill>
                  <a:srgbClr val="666666"/>
                </a:solidFill>
                <a:latin typeface="Arial"/>
                <a:ea typeface="Arial"/>
                <a:cs typeface="Arial"/>
                <a:sym typeface="Arial"/>
              </a:rPr>
              <a:t>Classical concept and quantum counterpart</a:t>
            </a:r>
            <a:endParaRPr sz="1400" b="0" i="0" u="none" strike="noStrike" cap="none">
              <a:solidFill>
                <a:srgbClr val="000000"/>
              </a:solidFill>
              <a:latin typeface="Arial"/>
              <a:ea typeface="Arial"/>
              <a:cs typeface="Arial"/>
              <a:sym typeface="Arial"/>
            </a:endParaRPr>
          </a:p>
        </p:txBody>
      </p:sp>
      <p:cxnSp>
        <p:nvCxnSpPr>
          <p:cNvPr id="343" name="Google Shape;343;g3f5366b50d3_1_0"/>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344" name="Google Shape;344;g3f5366b50d3_1_0"/>
          <p:cNvSpPr txBox="1"/>
          <p:nvPr/>
        </p:nvSpPr>
        <p:spPr>
          <a:xfrm>
            <a:off x="338328" y="836715"/>
            <a:ext cx="11064300" cy="363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B0B0B"/>
                </a:solidFill>
                <a:latin typeface="Arial"/>
                <a:ea typeface="Arial"/>
                <a:cs typeface="Arial"/>
                <a:sym typeface="Arial"/>
              </a:rPr>
              <a:t>Step 1 — Prepare the quantum input state</a:t>
            </a:r>
            <a:endParaRPr sz="2700" b="1" i="0" u="none" strike="noStrike" cap="none">
              <a:solidFill>
                <a:srgbClr val="1A1A1A"/>
              </a:solidFill>
              <a:latin typeface="Arial"/>
              <a:ea typeface="Arial"/>
              <a:cs typeface="Arial"/>
              <a:sym typeface="Arial"/>
            </a:endParaRPr>
          </a:p>
        </p:txBody>
      </p:sp>
      <p:pic>
        <p:nvPicPr>
          <p:cNvPr id="345" name="Google Shape;345;g3f5366b50d3_1_0" title="螢幕擷取畫面 2026-07-15 173638.png"/>
          <p:cNvPicPr preferRelativeResize="0"/>
          <p:nvPr/>
        </p:nvPicPr>
        <p:blipFill rotWithShape="1">
          <a:blip r:embed="rId3">
            <a:alphaModFix/>
          </a:blip>
          <a:srcRect/>
          <a:stretch/>
        </p:blipFill>
        <p:spPr>
          <a:xfrm>
            <a:off x="5491887" y="1861832"/>
            <a:ext cx="5841780" cy="766050"/>
          </a:xfrm>
          <a:prstGeom prst="rect">
            <a:avLst/>
          </a:prstGeom>
          <a:noFill/>
          <a:ln>
            <a:noFill/>
          </a:ln>
        </p:spPr>
      </p:pic>
      <p:pic>
        <p:nvPicPr>
          <p:cNvPr id="346" name="Google Shape;346;g3f5366b50d3_1_0" title="螢幕擷取畫面 2026-07-15 190612.png"/>
          <p:cNvPicPr preferRelativeResize="0"/>
          <p:nvPr/>
        </p:nvPicPr>
        <p:blipFill rotWithShape="1">
          <a:blip r:embed="rId4">
            <a:alphaModFix/>
          </a:blip>
          <a:srcRect/>
          <a:stretch/>
        </p:blipFill>
        <p:spPr>
          <a:xfrm>
            <a:off x="1186106" y="1865363"/>
            <a:ext cx="1642090" cy="292625"/>
          </a:xfrm>
          <a:prstGeom prst="rect">
            <a:avLst/>
          </a:prstGeom>
          <a:noFill/>
          <a:ln>
            <a:noFill/>
          </a:ln>
        </p:spPr>
      </p:pic>
      <p:pic>
        <p:nvPicPr>
          <p:cNvPr id="347" name="Google Shape;347;g3f5366b50d3_1_0"/>
          <p:cNvPicPr preferRelativeResize="0"/>
          <p:nvPr/>
        </p:nvPicPr>
        <p:blipFill rotWithShape="1">
          <a:blip r:embed="rId5">
            <a:alphaModFix/>
          </a:blip>
          <a:srcRect/>
          <a:stretch/>
        </p:blipFill>
        <p:spPr>
          <a:xfrm>
            <a:off x="3986775" y="2207814"/>
            <a:ext cx="186957" cy="210325"/>
          </a:xfrm>
          <a:prstGeom prst="rect">
            <a:avLst/>
          </a:prstGeom>
          <a:solidFill>
            <a:srgbClr val="F9F7F2"/>
          </a:solidFill>
          <a:ln>
            <a:noFill/>
          </a:ln>
        </p:spPr>
      </p:pic>
      <p:sp>
        <p:nvSpPr>
          <p:cNvPr id="348" name="Google Shape;348;g3f5366b50d3_1_0"/>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g3f5366b50d3_1_0"/>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351" name="Google Shape;351;g3f5366b50d3_1_0"/>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altLang="zh-TW" sz="1000" b="1" i="0" u="none" strike="noStrike" cap="none" dirty="0">
                <a:solidFill>
                  <a:srgbClr val="06507A"/>
                </a:solidFill>
                <a:latin typeface="Arial"/>
                <a:ea typeface="Arial"/>
                <a:cs typeface="Arial"/>
                <a:sym typeface="Arial"/>
              </a:rPr>
              <a:t>7</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6"/>
        <p:cNvGrpSpPr/>
        <p:nvPr/>
      </p:nvGrpSpPr>
      <p:grpSpPr>
        <a:xfrm>
          <a:off x="0" y="0"/>
          <a:ext cx="0" cy="0"/>
          <a:chOff x="0" y="0"/>
          <a:chExt cx="0" cy="0"/>
        </a:xfrm>
      </p:grpSpPr>
      <p:pic>
        <p:nvPicPr>
          <p:cNvPr id="357" name="Google Shape;357;g3f5366b50d3_1_49" descr="/mnt/data/qae_assets/fig1.png"/>
          <p:cNvPicPr preferRelativeResize="0"/>
          <p:nvPr/>
        </p:nvPicPr>
        <p:blipFill rotWithShape="1">
          <a:blip r:embed="rId3">
            <a:alphaModFix/>
          </a:blip>
          <a:srcRect/>
          <a:stretch/>
        </p:blipFill>
        <p:spPr>
          <a:xfrm>
            <a:off x="640102" y="1337017"/>
            <a:ext cx="5166360" cy="1417320"/>
          </a:xfrm>
          <a:prstGeom prst="rect">
            <a:avLst/>
          </a:prstGeom>
          <a:noFill/>
          <a:ln>
            <a:noFill/>
          </a:ln>
        </p:spPr>
      </p:pic>
      <p:sp>
        <p:nvSpPr>
          <p:cNvPr id="358" name="Google Shape;358;g3f5366b50d3_1_49"/>
          <p:cNvSpPr/>
          <p:nvPr/>
        </p:nvSpPr>
        <p:spPr>
          <a:xfrm>
            <a:off x="6080972" y="1318729"/>
            <a:ext cx="5413500" cy="14814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g3f5366b50d3_1_49"/>
          <p:cNvSpPr/>
          <p:nvPr/>
        </p:nvSpPr>
        <p:spPr>
          <a:xfrm>
            <a:off x="6080972" y="1318729"/>
            <a:ext cx="63900" cy="1481400"/>
          </a:xfrm>
          <a:prstGeom prst="rect">
            <a:avLst/>
          </a:prstGeom>
          <a:solidFill>
            <a:srgbClr val="6A3FB5"/>
          </a:solidFill>
          <a:ln w="12700" cap="flat" cmpd="sng">
            <a:solidFill>
              <a:srgbClr val="6A3FB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g3f5366b50d3_1_49"/>
          <p:cNvSpPr/>
          <p:nvPr/>
        </p:nvSpPr>
        <p:spPr>
          <a:xfrm>
            <a:off x="6327869" y="1519897"/>
            <a:ext cx="1920300" cy="219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300"/>
              <a:buFont typeface="Arial"/>
              <a:buNone/>
            </a:pPr>
            <a:r>
              <a:rPr lang="en-US" sz="1300" b="1" i="0" u="none" strike="noStrike" cap="none">
                <a:solidFill>
                  <a:srgbClr val="00577F"/>
                </a:solidFill>
                <a:latin typeface="Arial"/>
                <a:ea typeface="Arial"/>
                <a:cs typeface="Arial"/>
                <a:sym typeface="Arial"/>
              </a:rPr>
              <a:t>Hilbert-space split</a:t>
            </a:r>
            <a:endParaRPr sz="1300" b="0" i="0" u="none" strike="noStrike" cap="none">
              <a:solidFill>
                <a:schemeClr val="dk1"/>
              </a:solidFill>
              <a:latin typeface="Arial"/>
              <a:ea typeface="Arial"/>
              <a:cs typeface="Arial"/>
              <a:sym typeface="Arial"/>
            </a:endParaRPr>
          </a:p>
        </p:txBody>
      </p:sp>
      <p:sp>
        <p:nvSpPr>
          <p:cNvPr id="361" name="Google Shape;361;g3f5366b50d3_1_49"/>
          <p:cNvSpPr/>
          <p:nvPr/>
        </p:nvSpPr>
        <p:spPr>
          <a:xfrm>
            <a:off x="6327869" y="2306281"/>
            <a:ext cx="4782600" cy="183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939"/>
              <a:buFont typeface="Arial"/>
              <a:buNone/>
            </a:pPr>
            <a:r>
              <a:rPr lang="en-US" sz="940" b="0" i="0" u="none" strike="noStrike" cap="none">
                <a:solidFill>
                  <a:srgbClr val="111111"/>
                </a:solidFill>
                <a:latin typeface="Arial"/>
                <a:ea typeface="Arial"/>
                <a:cs typeface="Arial"/>
                <a:sym typeface="Arial"/>
              </a:rPr>
              <a:t>A: latent qubits sent forward   |   B: trash qubits discarded   |   B′: fixed reference space</a:t>
            </a:r>
            <a:endParaRPr sz="940" b="0" i="0" u="none" strike="noStrike" cap="none">
              <a:solidFill>
                <a:schemeClr val="dk1"/>
              </a:solidFill>
              <a:latin typeface="Arial"/>
              <a:ea typeface="Arial"/>
              <a:cs typeface="Arial"/>
              <a:sym typeface="Arial"/>
            </a:endParaRPr>
          </a:p>
        </p:txBody>
      </p:sp>
      <p:sp>
        <p:nvSpPr>
          <p:cNvPr id="362" name="Google Shape;362;g3f5366b50d3_1_49"/>
          <p:cNvSpPr/>
          <p:nvPr/>
        </p:nvSpPr>
        <p:spPr>
          <a:xfrm>
            <a:off x="658391" y="3167303"/>
            <a:ext cx="32919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400"/>
              <a:buFont typeface="Arial"/>
              <a:buNone/>
            </a:pPr>
            <a:r>
              <a:rPr lang="en-US" sz="1400" b="1" i="0" u="none" strike="noStrike" cap="none">
                <a:solidFill>
                  <a:srgbClr val="00577F"/>
                </a:solidFill>
                <a:latin typeface="Arial"/>
                <a:ea typeface="Arial"/>
                <a:cs typeface="Arial"/>
                <a:sym typeface="Arial"/>
              </a:rPr>
              <a:t>Implementation steps in the paper</a:t>
            </a:r>
            <a:endParaRPr sz="1400" b="0" i="0" u="none" strike="noStrike" cap="none">
              <a:solidFill>
                <a:schemeClr val="dk1"/>
              </a:solidFill>
              <a:latin typeface="Arial"/>
              <a:ea typeface="Arial"/>
              <a:cs typeface="Arial"/>
              <a:sym typeface="Arial"/>
            </a:endParaRPr>
          </a:p>
        </p:txBody>
      </p:sp>
      <p:sp>
        <p:nvSpPr>
          <p:cNvPr id="363" name="Google Shape;363;g3f5366b50d3_1_49"/>
          <p:cNvSpPr/>
          <p:nvPr/>
        </p:nvSpPr>
        <p:spPr>
          <a:xfrm>
            <a:off x="749834" y="3505631"/>
            <a:ext cx="5075100" cy="8229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g3f5366b50d3_1_49"/>
          <p:cNvSpPr/>
          <p:nvPr/>
        </p:nvSpPr>
        <p:spPr>
          <a:xfrm>
            <a:off x="749834" y="3505631"/>
            <a:ext cx="63900" cy="822900"/>
          </a:xfrm>
          <a:prstGeom prst="rect">
            <a:avLst/>
          </a:prstGeom>
          <a:solidFill>
            <a:srgbClr val="F05A24"/>
          </a:solidFill>
          <a:ln w="12700" cap="flat" cmpd="sng">
            <a:solidFill>
              <a:srgbClr val="F05A2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g3f5366b50d3_1_49"/>
          <p:cNvSpPr/>
          <p:nvPr/>
        </p:nvSpPr>
        <p:spPr>
          <a:xfrm>
            <a:off x="914432" y="3725087"/>
            <a:ext cx="292500" cy="292500"/>
          </a:xfrm>
          <a:prstGeom prst="ellipse">
            <a:avLst/>
          </a:prstGeom>
          <a:solidFill>
            <a:srgbClr val="F05A24"/>
          </a:solidFill>
          <a:ln w="12700" cap="flat" cmpd="sng">
            <a:solidFill>
              <a:srgbClr val="F05A2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g3f5366b50d3_1_49"/>
          <p:cNvSpPr/>
          <p:nvPr/>
        </p:nvSpPr>
        <p:spPr>
          <a:xfrm>
            <a:off x="992159" y="3782694"/>
            <a:ext cx="137100" cy="109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Arial"/>
              <a:buNone/>
            </a:pPr>
            <a:r>
              <a:rPr lang="en-US" sz="850" b="1" i="0" u="none" strike="noStrike" cap="none">
                <a:solidFill>
                  <a:srgbClr val="FFFFFF"/>
                </a:solidFill>
                <a:latin typeface="Arial"/>
                <a:ea typeface="Arial"/>
                <a:cs typeface="Arial"/>
                <a:sym typeface="Arial"/>
              </a:rPr>
              <a:t>1</a:t>
            </a:r>
            <a:endParaRPr sz="850" b="0" i="0" u="none" strike="noStrike" cap="none">
              <a:solidFill>
                <a:schemeClr val="dk1"/>
              </a:solidFill>
              <a:latin typeface="Arial"/>
              <a:ea typeface="Arial"/>
              <a:cs typeface="Arial"/>
              <a:sym typeface="Arial"/>
            </a:endParaRPr>
          </a:p>
        </p:txBody>
      </p:sp>
      <p:sp>
        <p:nvSpPr>
          <p:cNvPr id="367" name="Google Shape;367;g3f5366b50d3_1_49"/>
          <p:cNvSpPr/>
          <p:nvPr/>
        </p:nvSpPr>
        <p:spPr>
          <a:xfrm>
            <a:off x="1280205" y="3661079"/>
            <a:ext cx="21033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050"/>
              <a:buFont typeface="Arial"/>
              <a:buNone/>
            </a:pPr>
            <a:r>
              <a:rPr lang="en-US" sz="1050" b="1" i="0" u="none" strike="noStrike" cap="none">
                <a:solidFill>
                  <a:srgbClr val="00577F"/>
                </a:solidFill>
                <a:latin typeface="Arial"/>
                <a:ea typeface="Arial"/>
                <a:cs typeface="Arial"/>
                <a:sym typeface="Arial"/>
              </a:rPr>
              <a:t>Prepare composite input</a:t>
            </a:r>
            <a:endParaRPr sz="1050" b="0" i="0" u="none" strike="noStrike" cap="none">
              <a:solidFill>
                <a:schemeClr val="dk1"/>
              </a:solidFill>
              <a:latin typeface="Arial"/>
              <a:ea typeface="Arial"/>
              <a:cs typeface="Arial"/>
              <a:sym typeface="Arial"/>
            </a:endParaRPr>
          </a:p>
        </p:txBody>
      </p:sp>
      <p:sp>
        <p:nvSpPr>
          <p:cNvPr id="368" name="Google Shape;368;g3f5366b50d3_1_49"/>
          <p:cNvSpPr/>
          <p:nvPr/>
        </p:nvSpPr>
        <p:spPr>
          <a:xfrm>
            <a:off x="1280205" y="4109135"/>
            <a:ext cx="4252200" cy="12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780"/>
              <a:buFont typeface="Arial"/>
              <a:buNone/>
            </a:pPr>
            <a:r>
              <a:rPr lang="en-US" sz="780" b="0" i="0" u="none" strike="noStrike" cap="none">
                <a:solidFill>
                  <a:srgbClr val="666666"/>
                </a:solidFill>
                <a:latin typeface="Arial"/>
                <a:ea typeface="Arial"/>
                <a:cs typeface="Arial"/>
                <a:sym typeface="Arial"/>
              </a:rPr>
              <a:t>reference state beta is initialized as |0...0&gt;</a:t>
            </a:r>
            <a:endParaRPr sz="780" b="0" i="0" u="none" strike="noStrike" cap="none">
              <a:solidFill>
                <a:schemeClr val="dk1"/>
              </a:solidFill>
              <a:latin typeface="Arial"/>
              <a:ea typeface="Arial"/>
              <a:cs typeface="Arial"/>
              <a:sym typeface="Arial"/>
            </a:endParaRPr>
          </a:p>
        </p:txBody>
      </p:sp>
      <p:sp>
        <p:nvSpPr>
          <p:cNvPr id="369" name="Google Shape;369;g3f5366b50d3_1_49"/>
          <p:cNvSpPr/>
          <p:nvPr/>
        </p:nvSpPr>
        <p:spPr>
          <a:xfrm>
            <a:off x="749834" y="4584623"/>
            <a:ext cx="5075100" cy="8229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g3f5366b50d3_1_49"/>
          <p:cNvSpPr/>
          <p:nvPr/>
        </p:nvSpPr>
        <p:spPr>
          <a:xfrm>
            <a:off x="749834" y="4584623"/>
            <a:ext cx="63900" cy="822900"/>
          </a:xfrm>
          <a:prstGeom prst="rect">
            <a:avLst/>
          </a:prstGeom>
          <a:solidFill>
            <a:srgbClr val="6A3FB5"/>
          </a:solidFill>
          <a:ln w="12700" cap="flat" cmpd="sng">
            <a:solidFill>
              <a:srgbClr val="6A3FB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g3f5366b50d3_1_49"/>
          <p:cNvSpPr/>
          <p:nvPr/>
        </p:nvSpPr>
        <p:spPr>
          <a:xfrm>
            <a:off x="914432" y="4804079"/>
            <a:ext cx="292500" cy="292500"/>
          </a:xfrm>
          <a:prstGeom prst="ellipse">
            <a:avLst/>
          </a:prstGeom>
          <a:solidFill>
            <a:srgbClr val="6A3FB5"/>
          </a:solidFill>
          <a:ln w="12700" cap="flat" cmpd="sng">
            <a:solidFill>
              <a:srgbClr val="6A3FB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g3f5366b50d3_1_49"/>
          <p:cNvSpPr/>
          <p:nvPr/>
        </p:nvSpPr>
        <p:spPr>
          <a:xfrm>
            <a:off x="992159" y="4861686"/>
            <a:ext cx="137100" cy="109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Arial"/>
              <a:buNone/>
            </a:pPr>
            <a:r>
              <a:rPr lang="en-US" sz="850" b="1" i="0" u="none" strike="noStrike" cap="none">
                <a:solidFill>
                  <a:srgbClr val="FFFFFF"/>
                </a:solidFill>
                <a:latin typeface="Arial"/>
                <a:ea typeface="Arial"/>
                <a:cs typeface="Arial"/>
                <a:sym typeface="Arial"/>
              </a:rPr>
              <a:t>2</a:t>
            </a:r>
            <a:endParaRPr sz="850" b="0" i="0" u="none" strike="noStrike" cap="none">
              <a:solidFill>
                <a:schemeClr val="dk1"/>
              </a:solidFill>
              <a:latin typeface="Arial"/>
              <a:ea typeface="Arial"/>
              <a:cs typeface="Arial"/>
              <a:sym typeface="Arial"/>
            </a:endParaRPr>
          </a:p>
        </p:txBody>
      </p:sp>
      <p:sp>
        <p:nvSpPr>
          <p:cNvPr id="373" name="Google Shape;373;g3f5366b50d3_1_49"/>
          <p:cNvSpPr/>
          <p:nvPr/>
        </p:nvSpPr>
        <p:spPr>
          <a:xfrm>
            <a:off x="1280205" y="4740071"/>
            <a:ext cx="21033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050"/>
              <a:buFont typeface="Arial"/>
              <a:buNone/>
            </a:pPr>
            <a:r>
              <a:rPr lang="en-US" sz="1050" b="1" i="0" u="none" strike="noStrike" cap="none">
                <a:solidFill>
                  <a:srgbClr val="00577F"/>
                </a:solidFill>
                <a:latin typeface="Arial"/>
                <a:ea typeface="Arial"/>
                <a:cs typeface="Arial"/>
                <a:sym typeface="Arial"/>
              </a:rPr>
              <a:t>Encode only A+B</a:t>
            </a:r>
            <a:endParaRPr sz="1050" b="0" i="0" u="none" strike="noStrike" cap="none">
              <a:solidFill>
                <a:schemeClr val="dk1"/>
              </a:solidFill>
              <a:latin typeface="Arial"/>
              <a:ea typeface="Arial"/>
              <a:cs typeface="Arial"/>
              <a:sym typeface="Arial"/>
            </a:endParaRPr>
          </a:p>
        </p:txBody>
      </p:sp>
      <p:sp>
        <p:nvSpPr>
          <p:cNvPr id="374" name="Google Shape;374;g3f5366b50d3_1_49"/>
          <p:cNvSpPr/>
          <p:nvPr/>
        </p:nvSpPr>
        <p:spPr>
          <a:xfrm>
            <a:off x="1280205" y="5188127"/>
            <a:ext cx="4252200" cy="12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780"/>
              <a:buFont typeface="Arial"/>
              <a:buNone/>
            </a:pPr>
            <a:r>
              <a:rPr lang="en-US" sz="780" b="0" i="0" u="none" strike="noStrike" cap="none">
                <a:solidFill>
                  <a:srgbClr val="666666"/>
                </a:solidFill>
                <a:latin typeface="Arial"/>
                <a:ea typeface="Arial"/>
                <a:cs typeface="Arial"/>
                <a:sym typeface="Arial"/>
              </a:rPr>
              <a:t>U_AB(theta) is the trainable variational circuit</a:t>
            </a:r>
            <a:endParaRPr sz="780" b="0" i="0" u="none" strike="noStrike" cap="none">
              <a:solidFill>
                <a:schemeClr val="dk1"/>
              </a:solidFill>
              <a:latin typeface="Arial"/>
              <a:ea typeface="Arial"/>
              <a:cs typeface="Arial"/>
              <a:sym typeface="Arial"/>
            </a:endParaRPr>
          </a:p>
        </p:txBody>
      </p:sp>
      <p:sp>
        <p:nvSpPr>
          <p:cNvPr id="375" name="Google Shape;375;g3f5366b50d3_1_49"/>
          <p:cNvSpPr/>
          <p:nvPr/>
        </p:nvSpPr>
        <p:spPr>
          <a:xfrm>
            <a:off x="6355302" y="3505631"/>
            <a:ext cx="5075100" cy="8229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g3f5366b50d3_1_49"/>
          <p:cNvSpPr/>
          <p:nvPr/>
        </p:nvSpPr>
        <p:spPr>
          <a:xfrm>
            <a:off x="6355302" y="3505631"/>
            <a:ext cx="63900" cy="822900"/>
          </a:xfrm>
          <a:prstGeom prst="rect">
            <a:avLst/>
          </a:prstGeom>
          <a:solidFill>
            <a:srgbClr val="00577F"/>
          </a:solidFill>
          <a:ln w="1270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g3f5366b50d3_1_49"/>
          <p:cNvSpPr/>
          <p:nvPr/>
        </p:nvSpPr>
        <p:spPr>
          <a:xfrm>
            <a:off x="6519899" y="3725087"/>
            <a:ext cx="292500" cy="292500"/>
          </a:xfrm>
          <a:prstGeom prst="ellipse">
            <a:avLst/>
          </a:prstGeom>
          <a:solidFill>
            <a:srgbClr val="00577F"/>
          </a:solidFill>
          <a:ln w="1270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g3f5366b50d3_1_49"/>
          <p:cNvSpPr/>
          <p:nvPr/>
        </p:nvSpPr>
        <p:spPr>
          <a:xfrm>
            <a:off x="6597626" y="3782694"/>
            <a:ext cx="137100" cy="109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Arial"/>
              <a:buNone/>
            </a:pPr>
            <a:r>
              <a:rPr lang="en-US" sz="850" b="1" i="0" u="none" strike="noStrike" cap="none">
                <a:solidFill>
                  <a:srgbClr val="FFFFFF"/>
                </a:solidFill>
                <a:latin typeface="Arial"/>
                <a:ea typeface="Arial"/>
                <a:cs typeface="Arial"/>
                <a:sym typeface="Arial"/>
              </a:rPr>
              <a:t>3</a:t>
            </a:r>
            <a:endParaRPr sz="850" b="0" i="0" u="none" strike="noStrike" cap="none">
              <a:solidFill>
                <a:schemeClr val="dk1"/>
              </a:solidFill>
              <a:latin typeface="Arial"/>
              <a:ea typeface="Arial"/>
              <a:cs typeface="Arial"/>
              <a:sym typeface="Arial"/>
            </a:endParaRPr>
          </a:p>
        </p:txBody>
      </p:sp>
      <p:sp>
        <p:nvSpPr>
          <p:cNvPr id="379" name="Google Shape;379;g3f5366b50d3_1_49"/>
          <p:cNvSpPr/>
          <p:nvPr/>
        </p:nvSpPr>
        <p:spPr>
          <a:xfrm>
            <a:off x="6885672" y="3661079"/>
            <a:ext cx="21033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050"/>
              <a:buFont typeface="Arial"/>
              <a:buNone/>
            </a:pPr>
            <a:r>
              <a:rPr lang="en-US" sz="1050" b="1" i="0" u="none" strike="noStrike" cap="none">
                <a:solidFill>
                  <a:srgbClr val="00577F"/>
                </a:solidFill>
                <a:latin typeface="Arial"/>
                <a:ea typeface="Arial"/>
                <a:cs typeface="Arial"/>
                <a:sym typeface="Arial"/>
              </a:rPr>
              <a:t>Swap trash with reference</a:t>
            </a:r>
            <a:endParaRPr sz="1050" b="0" i="0" u="none" strike="noStrike" cap="none">
              <a:solidFill>
                <a:schemeClr val="dk1"/>
              </a:solidFill>
              <a:latin typeface="Arial"/>
              <a:ea typeface="Arial"/>
              <a:cs typeface="Arial"/>
              <a:sym typeface="Arial"/>
            </a:endParaRPr>
          </a:p>
        </p:txBody>
      </p:sp>
      <p:sp>
        <p:nvSpPr>
          <p:cNvPr id="380" name="Google Shape;380;g3f5366b50d3_1_49"/>
          <p:cNvSpPr/>
          <p:nvPr/>
        </p:nvSpPr>
        <p:spPr>
          <a:xfrm>
            <a:off x="6885672" y="4109135"/>
            <a:ext cx="4252200" cy="12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780"/>
              <a:buFont typeface="Arial"/>
              <a:buNone/>
            </a:pPr>
            <a:r>
              <a:rPr lang="en-US" sz="780" b="0" i="0" u="none" strike="noStrike" cap="none">
                <a:solidFill>
                  <a:srgbClr val="666666"/>
                </a:solidFill>
                <a:latin typeface="Arial"/>
                <a:ea typeface="Arial"/>
                <a:cs typeface="Arial"/>
                <a:sym typeface="Arial"/>
              </a:rPr>
              <a:t>V_BB′ is the SWAP operation between B and B′</a:t>
            </a:r>
            <a:endParaRPr sz="780" b="0" i="0" u="none" strike="noStrike" cap="none">
              <a:solidFill>
                <a:schemeClr val="dk1"/>
              </a:solidFill>
              <a:latin typeface="Arial"/>
              <a:ea typeface="Arial"/>
              <a:cs typeface="Arial"/>
              <a:sym typeface="Arial"/>
            </a:endParaRPr>
          </a:p>
        </p:txBody>
      </p:sp>
      <p:sp>
        <p:nvSpPr>
          <p:cNvPr id="381" name="Google Shape;381;g3f5366b50d3_1_49"/>
          <p:cNvSpPr/>
          <p:nvPr/>
        </p:nvSpPr>
        <p:spPr>
          <a:xfrm>
            <a:off x="6355302" y="4584623"/>
            <a:ext cx="5075100" cy="8229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g3f5366b50d3_1_49"/>
          <p:cNvSpPr/>
          <p:nvPr/>
        </p:nvSpPr>
        <p:spPr>
          <a:xfrm>
            <a:off x="6355302" y="4584623"/>
            <a:ext cx="63900" cy="822900"/>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g3f5366b50d3_1_49"/>
          <p:cNvSpPr/>
          <p:nvPr/>
        </p:nvSpPr>
        <p:spPr>
          <a:xfrm>
            <a:off x="6519899" y="4804079"/>
            <a:ext cx="292500" cy="292500"/>
          </a:xfrm>
          <a:prstGeom prst="ellipse">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g3f5366b50d3_1_49"/>
          <p:cNvSpPr/>
          <p:nvPr/>
        </p:nvSpPr>
        <p:spPr>
          <a:xfrm>
            <a:off x="6597626" y="4861686"/>
            <a:ext cx="137100" cy="109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Arial"/>
              <a:buNone/>
            </a:pPr>
            <a:r>
              <a:rPr lang="en-US" sz="850" b="1" i="0" u="none" strike="noStrike" cap="none">
                <a:solidFill>
                  <a:srgbClr val="FFFFFF"/>
                </a:solidFill>
                <a:latin typeface="Arial"/>
                <a:ea typeface="Arial"/>
                <a:cs typeface="Arial"/>
                <a:sym typeface="Arial"/>
              </a:rPr>
              <a:t>4</a:t>
            </a:r>
            <a:endParaRPr sz="850" b="0" i="0" u="none" strike="noStrike" cap="none">
              <a:solidFill>
                <a:schemeClr val="dk1"/>
              </a:solidFill>
              <a:latin typeface="Arial"/>
              <a:ea typeface="Arial"/>
              <a:cs typeface="Arial"/>
              <a:sym typeface="Arial"/>
            </a:endParaRPr>
          </a:p>
        </p:txBody>
      </p:sp>
      <p:sp>
        <p:nvSpPr>
          <p:cNvPr id="385" name="Google Shape;385;g3f5366b50d3_1_49"/>
          <p:cNvSpPr/>
          <p:nvPr/>
        </p:nvSpPr>
        <p:spPr>
          <a:xfrm>
            <a:off x="6885672" y="4740071"/>
            <a:ext cx="21033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050"/>
              <a:buFont typeface="Arial"/>
              <a:buNone/>
            </a:pPr>
            <a:r>
              <a:rPr lang="en-US" sz="1050" b="1" i="0" u="none" strike="noStrike" cap="none">
                <a:solidFill>
                  <a:srgbClr val="00577F"/>
                </a:solidFill>
                <a:latin typeface="Arial"/>
                <a:ea typeface="Arial"/>
                <a:cs typeface="Arial"/>
                <a:sym typeface="Arial"/>
              </a:rPr>
              <a:t>Optional decode</a:t>
            </a:r>
            <a:endParaRPr sz="1050" b="0" i="0" u="none" strike="noStrike" cap="none">
              <a:solidFill>
                <a:schemeClr val="dk1"/>
              </a:solidFill>
              <a:latin typeface="Arial"/>
              <a:ea typeface="Arial"/>
              <a:cs typeface="Arial"/>
              <a:sym typeface="Arial"/>
            </a:endParaRPr>
          </a:p>
        </p:txBody>
      </p:sp>
      <p:sp>
        <p:nvSpPr>
          <p:cNvPr id="386" name="Google Shape;386;g3f5366b50d3_1_49"/>
          <p:cNvSpPr/>
          <p:nvPr/>
        </p:nvSpPr>
        <p:spPr>
          <a:xfrm>
            <a:off x="6885672" y="5188127"/>
            <a:ext cx="4252200" cy="12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780"/>
              <a:buFont typeface="Arial"/>
              <a:buNone/>
            </a:pPr>
            <a:r>
              <a:rPr lang="en-US" sz="780" b="0" i="0" u="none" strike="noStrike" cap="none">
                <a:solidFill>
                  <a:srgbClr val="666666"/>
                </a:solidFill>
                <a:latin typeface="Arial"/>
                <a:ea typeface="Arial"/>
                <a:cs typeface="Arial"/>
                <a:sym typeface="Arial"/>
              </a:rPr>
              <a:t>decoder is the Hermitian conjugate of the encoder</a:t>
            </a:r>
            <a:endParaRPr sz="780" b="0" i="0" u="none" strike="noStrike" cap="none">
              <a:solidFill>
                <a:schemeClr val="dk1"/>
              </a:solidFill>
              <a:latin typeface="Arial"/>
              <a:ea typeface="Arial"/>
              <a:cs typeface="Arial"/>
              <a:sym typeface="Arial"/>
            </a:endParaRPr>
          </a:p>
        </p:txBody>
      </p:sp>
      <p:sp>
        <p:nvSpPr>
          <p:cNvPr id="387" name="Google Shape;387;g3f5366b50d3_1_49"/>
          <p:cNvSpPr/>
          <p:nvPr/>
        </p:nvSpPr>
        <p:spPr>
          <a:xfrm>
            <a:off x="749834" y="5636183"/>
            <a:ext cx="10717200" cy="310800"/>
          </a:xfrm>
          <a:prstGeom prst="roundRect">
            <a:avLst>
              <a:gd name="adj" fmla="val 16667"/>
            </a:avLst>
          </a:prstGeom>
          <a:solidFill>
            <a:srgbClr val="FFF2EA"/>
          </a:solidFill>
          <a:ln w="12700" cap="flat" cmpd="sng">
            <a:solidFill>
              <a:srgbClr val="F5C7B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g3f5366b50d3_1_49"/>
          <p:cNvSpPr/>
          <p:nvPr/>
        </p:nvSpPr>
        <p:spPr>
          <a:xfrm>
            <a:off x="932721" y="5709335"/>
            <a:ext cx="10241700" cy="10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0B0B"/>
              </a:buClr>
              <a:buSzPts val="860"/>
              <a:buFont typeface="Arial"/>
              <a:buNone/>
            </a:pPr>
            <a:r>
              <a:rPr lang="en-US" sz="860" b="1" i="0" u="none" strike="noStrike" cap="none">
                <a:solidFill>
                  <a:srgbClr val="0B0B0B"/>
                </a:solidFill>
                <a:latin typeface="Arial"/>
                <a:ea typeface="Arial"/>
                <a:cs typeface="Arial"/>
                <a:sym typeface="Arial"/>
              </a:rPr>
              <a:t>Bottleneck: U is still dimension-preserving, so compression happens only because B is discarded and replaced by B′.  If B already equals the reference, nothing important was thrown away.</a:t>
            </a:r>
            <a:endParaRPr sz="860" b="0" i="0" u="none" strike="noStrike" cap="none">
              <a:solidFill>
                <a:schemeClr val="dk1"/>
              </a:solidFill>
              <a:latin typeface="Arial"/>
              <a:ea typeface="Arial"/>
              <a:cs typeface="Arial"/>
              <a:sym typeface="Arial"/>
            </a:endParaRPr>
          </a:p>
        </p:txBody>
      </p:sp>
      <p:sp>
        <p:nvSpPr>
          <p:cNvPr id="389" name="Google Shape;389;g3f5366b50d3_1_49"/>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g3f5366b50d3_1_49"/>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2 · ENCODER</a:t>
            </a:r>
            <a:endParaRPr sz="1400" b="0" i="0" u="none" strike="noStrike" cap="none">
              <a:solidFill>
                <a:srgbClr val="000000"/>
              </a:solidFill>
              <a:latin typeface="Arial"/>
              <a:ea typeface="Arial"/>
              <a:cs typeface="Arial"/>
              <a:sym typeface="Arial"/>
            </a:endParaRPr>
          </a:p>
        </p:txBody>
      </p:sp>
      <p:sp>
        <p:nvSpPr>
          <p:cNvPr id="391" name="Google Shape;391;g3f5366b50d3_1_49"/>
          <p:cNvSpPr txBox="1"/>
          <p:nvPr/>
        </p:nvSpPr>
        <p:spPr>
          <a:xfrm>
            <a:off x="448056" y="429768"/>
            <a:ext cx="9784200" cy="2247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100"/>
              <a:buFont typeface="Arial"/>
              <a:buNone/>
            </a:pPr>
            <a:r>
              <a:rPr lang="en-US" sz="1100" b="0" i="0" u="none" strike="noStrike" cap="none">
                <a:solidFill>
                  <a:srgbClr val="666666"/>
                </a:solidFill>
                <a:latin typeface="Arial"/>
                <a:ea typeface="Arial"/>
                <a:cs typeface="Arial"/>
                <a:sym typeface="Arial"/>
              </a:rPr>
              <a:t>Classical concept and quantum counterpart</a:t>
            </a:r>
            <a:endParaRPr sz="1400" b="0" i="0" u="none" strike="noStrike" cap="none">
              <a:solidFill>
                <a:srgbClr val="000000"/>
              </a:solidFill>
              <a:latin typeface="Arial"/>
              <a:ea typeface="Arial"/>
              <a:cs typeface="Arial"/>
              <a:sym typeface="Arial"/>
            </a:endParaRPr>
          </a:p>
        </p:txBody>
      </p:sp>
      <p:cxnSp>
        <p:nvCxnSpPr>
          <p:cNvPr id="392" name="Google Shape;392;g3f5366b50d3_1_49"/>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393" name="Google Shape;393;g3f5366b50d3_1_49"/>
          <p:cNvSpPr txBox="1"/>
          <p:nvPr/>
        </p:nvSpPr>
        <p:spPr>
          <a:xfrm>
            <a:off x="338328" y="836715"/>
            <a:ext cx="11064300" cy="363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B0B0B"/>
                </a:solidFill>
                <a:latin typeface="Arial"/>
                <a:ea typeface="Arial"/>
                <a:cs typeface="Arial"/>
                <a:sym typeface="Arial"/>
              </a:rPr>
              <a:t>Step 2 — Build the bottleneck with latent, trash, and reference spaces</a:t>
            </a:r>
            <a:endParaRPr sz="2000" b="1" i="0" u="none" strike="noStrike" cap="none">
              <a:solidFill>
                <a:srgbClr val="0B0B0B"/>
              </a:solidFill>
              <a:latin typeface="Arial"/>
              <a:ea typeface="Arial"/>
              <a:cs typeface="Arial"/>
              <a:sym typeface="Arial"/>
            </a:endParaRPr>
          </a:p>
        </p:txBody>
      </p:sp>
      <p:pic>
        <p:nvPicPr>
          <p:cNvPr id="394" name="Google Shape;394;g3f5366b50d3_1_49"/>
          <p:cNvPicPr preferRelativeResize="0"/>
          <p:nvPr/>
        </p:nvPicPr>
        <p:blipFill rotWithShape="1">
          <a:blip r:embed="rId4">
            <a:alphaModFix/>
          </a:blip>
          <a:srcRect/>
          <a:stretch/>
        </p:blipFill>
        <p:spPr>
          <a:xfrm>
            <a:off x="6327875" y="1789513"/>
            <a:ext cx="2724150" cy="466725"/>
          </a:xfrm>
          <a:prstGeom prst="rect">
            <a:avLst/>
          </a:prstGeom>
          <a:noFill/>
          <a:ln>
            <a:noFill/>
          </a:ln>
        </p:spPr>
      </p:pic>
      <p:pic>
        <p:nvPicPr>
          <p:cNvPr id="395" name="Google Shape;395;g3f5366b50d3_1_49"/>
          <p:cNvPicPr preferRelativeResize="0"/>
          <p:nvPr/>
        </p:nvPicPr>
        <p:blipFill rotWithShape="1">
          <a:blip r:embed="rId5">
            <a:alphaModFix/>
          </a:blip>
          <a:srcRect/>
          <a:stretch/>
        </p:blipFill>
        <p:spPr>
          <a:xfrm>
            <a:off x="6885674" y="3847875"/>
            <a:ext cx="1970812" cy="224700"/>
          </a:xfrm>
          <a:prstGeom prst="rect">
            <a:avLst/>
          </a:prstGeom>
          <a:noFill/>
          <a:ln>
            <a:noFill/>
          </a:ln>
        </p:spPr>
      </p:pic>
      <p:pic>
        <p:nvPicPr>
          <p:cNvPr id="396" name="Google Shape;396;g3f5366b50d3_1_49"/>
          <p:cNvPicPr preferRelativeResize="0"/>
          <p:nvPr/>
        </p:nvPicPr>
        <p:blipFill rotWithShape="1">
          <a:blip r:embed="rId6">
            <a:alphaModFix/>
          </a:blip>
          <a:srcRect/>
          <a:stretch/>
        </p:blipFill>
        <p:spPr>
          <a:xfrm>
            <a:off x="6913100" y="4934094"/>
            <a:ext cx="1647800" cy="224700"/>
          </a:xfrm>
          <a:prstGeom prst="rect">
            <a:avLst/>
          </a:prstGeom>
          <a:noFill/>
          <a:ln>
            <a:noFill/>
          </a:ln>
        </p:spPr>
      </p:pic>
      <p:pic>
        <p:nvPicPr>
          <p:cNvPr id="397" name="Google Shape;397;g3f5366b50d3_1_49"/>
          <p:cNvPicPr preferRelativeResize="0"/>
          <p:nvPr/>
        </p:nvPicPr>
        <p:blipFill rotWithShape="1">
          <a:blip r:embed="rId7">
            <a:alphaModFix/>
          </a:blip>
          <a:srcRect/>
          <a:stretch/>
        </p:blipFill>
        <p:spPr>
          <a:xfrm>
            <a:off x="1280193" y="4967818"/>
            <a:ext cx="2925872" cy="201300"/>
          </a:xfrm>
          <a:prstGeom prst="rect">
            <a:avLst/>
          </a:prstGeom>
          <a:noFill/>
          <a:ln>
            <a:noFill/>
          </a:ln>
        </p:spPr>
      </p:pic>
      <p:pic>
        <p:nvPicPr>
          <p:cNvPr id="398" name="Google Shape;398;g3f5366b50d3_1_49"/>
          <p:cNvPicPr preferRelativeResize="0"/>
          <p:nvPr/>
        </p:nvPicPr>
        <p:blipFill rotWithShape="1">
          <a:blip r:embed="rId8">
            <a:alphaModFix/>
          </a:blip>
          <a:srcRect/>
          <a:stretch/>
        </p:blipFill>
        <p:spPr>
          <a:xfrm>
            <a:off x="1280196" y="3878121"/>
            <a:ext cx="1099208" cy="224700"/>
          </a:xfrm>
          <a:prstGeom prst="rect">
            <a:avLst/>
          </a:prstGeom>
          <a:noFill/>
          <a:ln>
            <a:noFill/>
          </a:ln>
        </p:spPr>
      </p:pic>
      <p:sp>
        <p:nvSpPr>
          <p:cNvPr id="399" name="Google Shape;399;g3f5366b50d3_1_49"/>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g3f5366b50d3_1_49"/>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402" name="Google Shape;402;g3f5366b50d3_1_49"/>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altLang="zh-TW" sz="1000" b="1" i="0" u="none" strike="noStrike" cap="none" dirty="0">
                <a:solidFill>
                  <a:srgbClr val="06507A"/>
                </a:solidFill>
                <a:latin typeface="Arial"/>
                <a:ea typeface="Arial"/>
                <a:cs typeface="Arial"/>
                <a:sym typeface="Arial"/>
              </a:rPr>
              <a:t>8</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7"/>
        <p:cNvGrpSpPr/>
        <p:nvPr/>
      </p:nvGrpSpPr>
      <p:grpSpPr>
        <a:xfrm>
          <a:off x="0" y="0"/>
          <a:ext cx="0" cy="0"/>
          <a:chOff x="0" y="0"/>
          <a:chExt cx="0" cy="0"/>
        </a:xfrm>
      </p:grpSpPr>
      <p:pic>
        <p:nvPicPr>
          <p:cNvPr id="408" name="Google Shape;408;g3f5366b50d3_1_100" descr="/mnt/data/qae_assets/fig2.png"/>
          <p:cNvPicPr preferRelativeResize="0"/>
          <p:nvPr/>
        </p:nvPicPr>
        <p:blipFill rotWithShape="1">
          <a:blip r:embed="rId3">
            <a:alphaModFix/>
          </a:blip>
          <a:srcRect l="18632" t="24192" r="13494" b="10264"/>
          <a:stretch/>
        </p:blipFill>
        <p:spPr>
          <a:xfrm>
            <a:off x="239650" y="1814428"/>
            <a:ext cx="4661771" cy="2730175"/>
          </a:xfrm>
          <a:prstGeom prst="rect">
            <a:avLst/>
          </a:prstGeom>
          <a:noFill/>
          <a:ln>
            <a:noFill/>
          </a:ln>
        </p:spPr>
      </p:pic>
      <p:sp>
        <p:nvSpPr>
          <p:cNvPr id="409" name="Google Shape;409;g3f5366b50d3_1_100"/>
          <p:cNvSpPr/>
          <p:nvPr/>
        </p:nvSpPr>
        <p:spPr>
          <a:xfrm>
            <a:off x="695131" y="4838143"/>
            <a:ext cx="4206300" cy="310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66666"/>
              </a:buClr>
              <a:buSzPts val="880"/>
              <a:buFont typeface="Arial"/>
              <a:buNone/>
            </a:pPr>
            <a:r>
              <a:rPr lang="en-US" sz="880" b="0" i="1" u="none" strike="noStrike" cap="none">
                <a:solidFill>
                  <a:srgbClr val="666666"/>
                </a:solidFill>
                <a:latin typeface="Arial"/>
                <a:ea typeface="Arial"/>
                <a:cs typeface="Arial"/>
                <a:sym typeface="Arial"/>
              </a:rPr>
              <a:t>Figure 2 circuit: embedded input qubits q_i → trainable R_y(theta_i) → CNOT entanglement → SWAP test against reference t_i and ancilla a_0.</a:t>
            </a:r>
            <a:endParaRPr sz="880" b="0" i="0" u="none" strike="noStrike" cap="none">
              <a:solidFill>
                <a:schemeClr val="dk1"/>
              </a:solidFill>
              <a:latin typeface="Arial"/>
              <a:ea typeface="Arial"/>
              <a:cs typeface="Arial"/>
              <a:sym typeface="Arial"/>
            </a:endParaRPr>
          </a:p>
        </p:txBody>
      </p:sp>
      <p:sp>
        <p:nvSpPr>
          <p:cNvPr id="410" name="Google Shape;410;g3f5366b50d3_1_100"/>
          <p:cNvSpPr/>
          <p:nvPr/>
        </p:nvSpPr>
        <p:spPr>
          <a:xfrm>
            <a:off x="5193973" y="1500254"/>
            <a:ext cx="2999400" cy="12069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g3f5366b50d3_1_100"/>
          <p:cNvSpPr/>
          <p:nvPr/>
        </p:nvSpPr>
        <p:spPr>
          <a:xfrm>
            <a:off x="5193973" y="1500254"/>
            <a:ext cx="63900" cy="1206900"/>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g3f5366b50d3_1_100"/>
          <p:cNvSpPr/>
          <p:nvPr/>
        </p:nvSpPr>
        <p:spPr>
          <a:xfrm>
            <a:off x="5413437" y="1683134"/>
            <a:ext cx="24873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200"/>
              <a:buFont typeface="Arial"/>
              <a:buNone/>
            </a:pPr>
            <a:r>
              <a:rPr lang="en-US" sz="1200" b="1" i="0" u="none" strike="noStrike" cap="none">
                <a:solidFill>
                  <a:srgbClr val="00577F"/>
                </a:solidFill>
                <a:latin typeface="Arial"/>
                <a:ea typeface="Arial"/>
                <a:cs typeface="Arial"/>
                <a:sym typeface="Arial"/>
              </a:rPr>
              <a:t>Perfect compression condition</a:t>
            </a:r>
            <a:endParaRPr sz="1200" b="0" i="0" u="none" strike="noStrike" cap="none">
              <a:solidFill>
                <a:schemeClr val="dk1"/>
              </a:solidFill>
              <a:latin typeface="Arial"/>
              <a:ea typeface="Arial"/>
              <a:cs typeface="Arial"/>
              <a:sym typeface="Arial"/>
            </a:endParaRPr>
          </a:p>
        </p:txBody>
      </p:sp>
      <p:sp>
        <p:nvSpPr>
          <p:cNvPr id="413" name="Google Shape;413;g3f5366b50d3_1_100"/>
          <p:cNvSpPr/>
          <p:nvPr/>
        </p:nvSpPr>
        <p:spPr>
          <a:xfrm>
            <a:off x="5413437" y="2332358"/>
            <a:ext cx="25056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900"/>
              <a:buFont typeface="Arial"/>
              <a:buNone/>
            </a:pPr>
            <a:r>
              <a:rPr lang="en-US" sz="900" b="0" i="0" u="none" strike="noStrike" cap="none">
                <a:solidFill>
                  <a:srgbClr val="111111"/>
                </a:solidFill>
                <a:latin typeface="Arial"/>
                <a:ea typeface="Arial"/>
                <a:cs typeface="Arial"/>
                <a:sym typeface="Arial"/>
              </a:rPr>
              <a:t>All useful information is in A; B contains no input information.</a:t>
            </a:r>
            <a:endParaRPr sz="900" b="0" i="0" u="none" strike="noStrike" cap="none">
              <a:solidFill>
                <a:schemeClr val="dk1"/>
              </a:solidFill>
              <a:latin typeface="Arial"/>
              <a:ea typeface="Arial"/>
              <a:cs typeface="Arial"/>
              <a:sym typeface="Arial"/>
            </a:endParaRPr>
          </a:p>
        </p:txBody>
      </p:sp>
      <p:sp>
        <p:nvSpPr>
          <p:cNvPr id="414" name="Google Shape;414;g3f5366b50d3_1_100"/>
          <p:cNvSpPr/>
          <p:nvPr/>
        </p:nvSpPr>
        <p:spPr>
          <a:xfrm>
            <a:off x="8485928" y="1500254"/>
            <a:ext cx="2880600" cy="12069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g3f5366b50d3_1_100"/>
          <p:cNvSpPr/>
          <p:nvPr/>
        </p:nvSpPr>
        <p:spPr>
          <a:xfrm>
            <a:off x="8485928" y="1500254"/>
            <a:ext cx="63900" cy="1206900"/>
          </a:xfrm>
          <a:prstGeom prst="rect">
            <a:avLst/>
          </a:prstGeom>
          <a:solidFill>
            <a:srgbClr val="F05A24"/>
          </a:solidFill>
          <a:ln w="12700" cap="flat" cmpd="sng">
            <a:solidFill>
              <a:srgbClr val="F05A2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g3f5366b50d3_1_100"/>
          <p:cNvSpPr/>
          <p:nvPr/>
        </p:nvSpPr>
        <p:spPr>
          <a:xfrm>
            <a:off x="8705391" y="1683134"/>
            <a:ext cx="16461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200"/>
              <a:buFont typeface="Arial"/>
              <a:buNone/>
            </a:pPr>
            <a:r>
              <a:rPr lang="en-US" sz="1200" b="1" i="0" u="none" strike="noStrike" cap="none">
                <a:solidFill>
                  <a:srgbClr val="00577F"/>
                </a:solidFill>
                <a:latin typeface="Arial"/>
                <a:ea typeface="Arial"/>
                <a:cs typeface="Arial"/>
                <a:sym typeface="Arial"/>
              </a:rPr>
              <a:t>Fidelity target</a:t>
            </a:r>
            <a:endParaRPr sz="1200" b="0" i="0" u="none" strike="noStrike" cap="none">
              <a:solidFill>
                <a:schemeClr val="dk1"/>
              </a:solidFill>
              <a:latin typeface="Arial"/>
              <a:ea typeface="Arial"/>
              <a:cs typeface="Arial"/>
              <a:sym typeface="Arial"/>
            </a:endParaRPr>
          </a:p>
        </p:txBody>
      </p:sp>
      <p:sp>
        <p:nvSpPr>
          <p:cNvPr id="417" name="Google Shape;417;g3f5366b50d3_1_100"/>
          <p:cNvSpPr/>
          <p:nvPr/>
        </p:nvSpPr>
        <p:spPr>
          <a:xfrm>
            <a:off x="8705391" y="2332358"/>
            <a:ext cx="23043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900"/>
              <a:buFont typeface="Arial"/>
              <a:buNone/>
            </a:pPr>
            <a:r>
              <a:rPr lang="en-US" sz="900" b="0" i="0" u="none" strike="noStrike" cap="none">
                <a:solidFill>
                  <a:srgbClr val="111111"/>
                </a:solidFill>
                <a:latin typeface="Arial"/>
                <a:ea typeface="Arial"/>
                <a:cs typeface="Arial"/>
                <a:sym typeface="Arial"/>
              </a:rPr>
              <a:t>F = 1 means the trash output is exactly the fixed reference.</a:t>
            </a:r>
            <a:endParaRPr sz="900" b="0" i="0" u="none" strike="noStrike" cap="none">
              <a:solidFill>
                <a:schemeClr val="dk1"/>
              </a:solidFill>
              <a:latin typeface="Arial"/>
              <a:ea typeface="Arial"/>
              <a:cs typeface="Arial"/>
              <a:sym typeface="Arial"/>
            </a:endParaRPr>
          </a:p>
        </p:txBody>
      </p:sp>
      <p:sp>
        <p:nvSpPr>
          <p:cNvPr id="418" name="Google Shape;418;g3f5366b50d3_1_100"/>
          <p:cNvSpPr/>
          <p:nvPr/>
        </p:nvSpPr>
        <p:spPr>
          <a:xfrm>
            <a:off x="5193973" y="3054734"/>
            <a:ext cx="6172500" cy="11340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g3f5366b50d3_1_100"/>
          <p:cNvSpPr/>
          <p:nvPr/>
        </p:nvSpPr>
        <p:spPr>
          <a:xfrm>
            <a:off x="5193973" y="3054734"/>
            <a:ext cx="63900" cy="1134000"/>
          </a:xfrm>
          <a:prstGeom prst="rect">
            <a:avLst/>
          </a:prstGeom>
          <a:solidFill>
            <a:srgbClr val="00577F"/>
          </a:solidFill>
          <a:ln w="12700" cap="flat" cmpd="sng">
            <a:solidFill>
              <a:srgbClr val="0057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g3f5366b50d3_1_100"/>
          <p:cNvSpPr/>
          <p:nvPr/>
        </p:nvSpPr>
        <p:spPr>
          <a:xfrm>
            <a:off x="5413437" y="3237614"/>
            <a:ext cx="19203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200"/>
              <a:buFont typeface="Arial"/>
              <a:buNone/>
            </a:pPr>
            <a:r>
              <a:rPr lang="en-US" sz="1200" b="1" i="0" u="none" strike="noStrike" cap="none">
                <a:solidFill>
                  <a:srgbClr val="00577F"/>
                </a:solidFill>
                <a:latin typeface="Arial"/>
                <a:ea typeface="Arial"/>
                <a:cs typeface="Arial"/>
                <a:sym typeface="Arial"/>
              </a:rPr>
              <a:t>Training cost function</a:t>
            </a:r>
            <a:endParaRPr sz="1200" b="0" i="0" u="none" strike="noStrike" cap="none">
              <a:solidFill>
                <a:schemeClr val="dk1"/>
              </a:solidFill>
              <a:latin typeface="Arial"/>
              <a:ea typeface="Arial"/>
              <a:cs typeface="Arial"/>
              <a:sym typeface="Arial"/>
            </a:endParaRPr>
          </a:p>
        </p:txBody>
      </p:sp>
      <p:sp>
        <p:nvSpPr>
          <p:cNvPr id="421" name="Google Shape;421;g3f5366b50d3_1_100"/>
          <p:cNvSpPr/>
          <p:nvPr/>
        </p:nvSpPr>
        <p:spPr>
          <a:xfrm>
            <a:off x="5413437" y="3886838"/>
            <a:ext cx="5541600" cy="164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839"/>
              <a:buFont typeface="Arial"/>
              <a:buNone/>
            </a:pPr>
            <a:r>
              <a:rPr lang="en-US" sz="840" b="0" i="0" u="none" strike="noStrike" cap="none">
                <a:solidFill>
                  <a:srgbClr val="111111"/>
                </a:solidFill>
                <a:latin typeface="Arial"/>
                <a:ea typeface="Arial"/>
                <a:cs typeface="Arial"/>
                <a:sym typeface="Arial"/>
              </a:rPr>
              <a:t>Negative sign converts “maximize fidelity” into a minimization problem.  The ensemble is needed to estimate the network output, not just as a classical mini-batch.</a:t>
            </a:r>
            <a:endParaRPr sz="840" b="0" i="0" u="none" strike="noStrike" cap="none">
              <a:solidFill>
                <a:schemeClr val="dk1"/>
              </a:solidFill>
              <a:latin typeface="Arial"/>
              <a:ea typeface="Arial"/>
              <a:cs typeface="Arial"/>
              <a:sym typeface="Arial"/>
            </a:endParaRPr>
          </a:p>
        </p:txBody>
      </p:sp>
      <p:sp>
        <p:nvSpPr>
          <p:cNvPr id="422" name="Google Shape;422;g3f5366b50d3_1_100"/>
          <p:cNvSpPr/>
          <p:nvPr/>
        </p:nvSpPr>
        <p:spPr>
          <a:xfrm>
            <a:off x="5193973" y="4545206"/>
            <a:ext cx="2999400" cy="12345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g3f5366b50d3_1_100"/>
          <p:cNvSpPr/>
          <p:nvPr/>
        </p:nvSpPr>
        <p:spPr>
          <a:xfrm>
            <a:off x="5193973" y="4545206"/>
            <a:ext cx="63900" cy="1234500"/>
          </a:xfrm>
          <a:prstGeom prst="rect">
            <a:avLst/>
          </a:prstGeom>
          <a:solidFill>
            <a:srgbClr val="6A3FB5"/>
          </a:solidFill>
          <a:ln w="12700" cap="flat" cmpd="sng">
            <a:solidFill>
              <a:srgbClr val="6A3FB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g3f5366b50d3_1_100"/>
          <p:cNvSpPr/>
          <p:nvPr/>
        </p:nvSpPr>
        <p:spPr>
          <a:xfrm>
            <a:off x="5413437" y="4746374"/>
            <a:ext cx="15546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200"/>
              <a:buFont typeface="Arial"/>
              <a:buNone/>
            </a:pPr>
            <a:r>
              <a:rPr lang="en-US" sz="1200" b="1" i="0" u="none" strike="noStrike" cap="none">
                <a:solidFill>
                  <a:srgbClr val="00577F"/>
                </a:solidFill>
                <a:latin typeface="Arial"/>
                <a:ea typeface="Arial"/>
                <a:cs typeface="Arial"/>
                <a:sym typeface="Arial"/>
              </a:rPr>
              <a:t>Anomaly score</a:t>
            </a:r>
            <a:endParaRPr sz="1200" b="0" i="0" u="none" strike="noStrike" cap="none">
              <a:solidFill>
                <a:schemeClr val="dk1"/>
              </a:solidFill>
              <a:latin typeface="Arial"/>
              <a:ea typeface="Arial"/>
              <a:cs typeface="Arial"/>
              <a:sym typeface="Arial"/>
            </a:endParaRPr>
          </a:p>
        </p:txBody>
      </p:sp>
      <p:sp>
        <p:nvSpPr>
          <p:cNvPr id="425" name="Google Shape;425;g3f5366b50d3_1_100"/>
          <p:cNvSpPr/>
          <p:nvPr/>
        </p:nvSpPr>
        <p:spPr>
          <a:xfrm>
            <a:off x="5413437" y="5075558"/>
            <a:ext cx="20118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0B0B"/>
              </a:buClr>
              <a:buSzPts val="1900"/>
              <a:buFont typeface="Arial"/>
              <a:buNone/>
            </a:pPr>
            <a:r>
              <a:rPr lang="en-US" sz="1900" b="1" i="0" u="none" strike="noStrike" cap="none">
                <a:solidFill>
                  <a:srgbClr val="0B0B0B"/>
                </a:solidFill>
                <a:latin typeface="Arial"/>
                <a:ea typeface="Arial"/>
                <a:cs typeface="Arial"/>
                <a:sym typeface="Arial"/>
              </a:rPr>
              <a:t>s(x) = 1 − F</a:t>
            </a:r>
            <a:endParaRPr sz="1900" b="0" i="0" u="none" strike="noStrike" cap="none">
              <a:solidFill>
                <a:schemeClr val="dk1"/>
              </a:solidFill>
              <a:latin typeface="Arial"/>
              <a:ea typeface="Arial"/>
              <a:cs typeface="Arial"/>
              <a:sym typeface="Arial"/>
            </a:endParaRPr>
          </a:p>
        </p:txBody>
      </p:sp>
      <p:sp>
        <p:nvSpPr>
          <p:cNvPr id="426" name="Google Shape;426;g3f5366b50d3_1_100"/>
          <p:cNvSpPr/>
          <p:nvPr/>
        </p:nvSpPr>
        <p:spPr>
          <a:xfrm>
            <a:off x="5413437" y="5413886"/>
            <a:ext cx="25422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900"/>
              <a:buFont typeface="Arial"/>
              <a:buNone/>
            </a:pPr>
            <a:r>
              <a:rPr lang="en-US" sz="900" b="0" i="0" u="none" strike="noStrike" cap="none">
                <a:solidFill>
                  <a:srgbClr val="111111"/>
                </a:solidFill>
                <a:latin typeface="Arial"/>
                <a:ea typeface="Arial"/>
                <a:cs typeface="Arial"/>
                <a:sym typeface="Arial"/>
              </a:rPr>
              <a:t>High fidelity -&gt; background-like. Low fidelity -&gt; hard to compress -&gt; anomalous.</a:t>
            </a:r>
            <a:endParaRPr sz="900" b="0" i="0" u="none" strike="noStrike" cap="none">
              <a:solidFill>
                <a:schemeClr val="dk1"/>
              </a:solidFill>
              <a:latin typeface="Arial"/>
              <a:ea typeface="Arial"/>
              <a:cs typeface="Arial"/>
              <a:sym typeface="Arial"/>
            </a:endParaRPr>
          </a:p>
        </p:txBody>
      </p:sp>
      <p:sp>
        <p:nvSpPr>
          <p:cNvPr id="427" name="Google Shape;427;g3f5366b50d3_1_100"/>
          <p:cNvSpPr/>
          <p:nvPr/>
        </p:nvSpPr>
        <p:spPr>
          <a:xfrm>
            <a:off x="8485928" y="4545206"/>
            <a:ext cx="2880600" cy="1234500"/>
          </a:xfrm>
          <a:prstGeom prst="roundRect">
            <a:avLst>
              <a:gd name="adj" fmla="val 16667"/>
            </a:avLst>
          </a:prstGeom>
          <a:solidFill>
            <a:srgbClr val="F9F7F2"/>
          </a:solidFill>
          <a:ln w="13950" cap="flat" cmpd="sng">
            <a:solidFill>
              <a:srgbClr val="E5E1D8"/>
            </a:solidFill>
            <a:prstDash val="solid"/>
            <a:round/>
            <a:headEnd type="none" w="sm" len="sm"/>
            <a:tailEnd type="none" w="sm" len="sm"/>
          </a:ln>
          <a:effectLst>
            <a:outerShdw blurRad="12700" dist="50800" dir="2700000" algn="bl" rotWithShape="0">
              <a:srgbClr val="BEBEBE">
                <a:alpha val="18039"/>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g3f5366b50d3_1_100"/>
          <p:cNvSpPr/>
          <p:nvPr/>
        </p:nvSpPr>
        <p:spPr>
          <a:xfrm>
            <a:off x="8485928" y="4545206"/>
            <a:ext cx="63900" cy="1234500"/>
          </a:xfrm>
          <a:prstGeom prst="rect">
            <a:avLst/>
          </a:prstGeom>
          <a:solidFill>
            <a:srgbClr val="F05A24"/>
          </a:solidFill>
          <a:ln w="12700" cap="flat" cmpd="sng">
            <a:solidFill>
              <a:srgbClr val="F05A2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g3f5366b50d3_1_100"/>
          <p:cNvSpPr/>
          <p:nvPr/>
        </p:nvSpPr>
        <p:spPr>
          <a:xfrm>
            <a:off x="8705391" y="4746374"/>
            <a:ext cx="17373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577F"/>
              </a:buClr>
              <a:buSzPts val="1200"/>
              <a:buFont typeface="Arial"/>
              <a:buNone/>
            </a:pPr>
            <a:r>
              <a:rPr lang="en-US" sz="1200" b="1" i="0" u="none" strike="noStrike" cap="none">
                <a:solidFill>
                  <a:srgbClr val="00577F"/>
                </a:solidFill>
                <a:latin typeface="Arial"/>
                <a:ea typeface="Arial"/>
                <a:cs typeface="Arial"/>
                <a:sym typeface="Arial"/>
              </a:rPr>
              <a:t>Qubit resources</a:t>
            </a:r>
            <a:endParaRPr sz="1200" b="0" i="0" u="none" strike="noStrike" cap="none">
              <a:solidFill>
                <a:schemeClr val="dk1"/>
              </a:solidFill>
              <a:latin typeface="Arial"/>
              <a:ea typeface="Arial"/>
              <a:cs typeface="Arial"/>
              <a:sym typeface="Arial"/>
            </a:endParaRPr>
          </a:p>
        </p:txBody>
      </p:sp>
      <p:sp>
        <p:nvSpPr>
          <p:cNvPr id="430" name="Google Shape;430;g3f5366b50d3_1_100"/>
          <p:cNvSpPr/>
          <p:nvPr/>
        </p:nvSpPr>
        <p:spPr>
          <a:xfrm>
            <a:off x="8705391" y="5066414"/>
            <a:ext cx="2423100" cy="237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0B0B"/>
              </a:buClr>
              <a:buSzPts val="1280"/>
              <a:buFont typeface="Arial"/>
              <a:buNone/>
            </a:pPr>
            <a:r>
              <a:rPr lang="en-US" sz="1280" b="1" i="0" u="none" strike="noStrike" cap="none">
                <a:solidFill>
                  <a:srgbClr val="0B0B0B"/>
                </a:solidFill>
                <a:latin typeface="Arial"/>
                <a:ea typeface="Arial"/>
                <a:cs typeface="Arial"/>
                <a:sym typeface="Arial"/>
              </a:rPr>
              <a:t>N_total = N_input + N_trash + 1</a:t>
            </a:r>
            <a:endParaRPr sz="1280" b="0" i="0" u="none" strike="noStrike" cap="none">
              <a:solidFill>
                <a:schemeClr val="dk1"/>
              </a:solidFill>
              <a:latin typeface="Arial"/>
              <a:ea typeface="Arial"/>
              <a:cs typeface="Arial"/>
              <a:sym typeface="Arial"/>
            </a:endParaRPr>
          </a:p>
        </p:txBody>
      </p:sp>
      <p:sp>
        <p:nvSpPr>
          <p:cNvPr id="431" name="Google Shape;431;g3f5366b50d3_1_100"/>
          <p:cNvSpPr/>
          <p:nvPr/>
        </p:nvSpPr>
        <p:spPr>
          <a:xfrm>
            <a:off x="8705391" y="5423030"/>
            <a:ext cx="2304300" cy="201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880"/>
              <a:buFont typeface="Arial"/>
              <a:buNone/>
            </a:pPr>
            <a:r>
              <a:rPr lang="en-US" sz="880" b="0" i="0" u="none" strike="noStrike" cap="none">
                <a:solidFill>
                  <a:srgbClr val="111111"/>
                </a:solidFill>
                <a:latin typeface="Arial"/>
                <a:ea typeface="Arial"/>
                <a:cs typeface="Arial"/>
                <a:sym typeface="Arial"/>
              </a:rPr>
              <a:t>Example in Fig. 2: 4 input + 2 reference/trash + 1 ancilla = 7 total qubits.</a:t>
            </a:r>
            <a:endParaRPr sz="880" b="0" i="0" u="none" strike="noStrike" cap="none">
              <a:solidFill>
                <a:schemeClr val="dk1"/>
              </a:solidFill>
              <a:latin typeface="Arial"/>
              <a:ea typeface="Arial"/>
              <a:cs typeface="Arial"/>
              <a:sym typeface="Arial"/>
            </a:endParaRPr>
          </a:p>
        </p:txBody>
      </p:sp>
      <p:sp>
        <p:nvSpPr>
          <p:cNvPr id="432" name="Google Shape;432;g3f5366b50d3_1_100"/>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g3f5366b50d3_1_100"/>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2 · ENCODER</a:t>
            </a:r>
            <a:endParaRPr sz="1400" b="0" i="0" u="none" strike="noStrike" cap="none">
              <a:solidFill>
                <a:srgbClr val="000000"/>
              </a:solidFill>
              <a:latin typeface="Arial"/>
              <a:ea typeface="Arial"/>
              <a:cs typeface="Arial"/>
              <a:sym typeface="Arial"/>
            </a:endParaRPr>
          </a:p>
        </p:txBody>
      </p:sp>
      <p:sp>
        <p:nvSpPr>
          <p:cNvPr id="434" name="Google Shape;434;g3f5366b50d3_1_100"/>
          <p:cNvSpPr txBox="1"/>
          <p:nvPr/>
        </p:nvSpPr>
        <p:spPr>
          <a:xfrm>
            <a:off x="448056" y="429768"/>
            <a:ext cx="9784200" cy="2247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100"/>
              <a:buFont typeface="Arial"/>
              <a:buNone/>
            </a:pPr>
            <a:r>
              <a:rPr lang="en-US" sz="1100" b="0" i="0" u="none" strike="noStrike" cap="none">
                <a:solidFill>
                  <a:srgbClr val="666666"/>
                </a:solidFill>
                <a:latin typeface="Arial"/>
                <a:ea typeface="Arial"/>
                <a:cs typeface="Arial"/>
                <a:sym typeface="Arial"/>
              </a:rPr>
              <a:t>Classical concept and quantum counterpart</a:t>
            </a:r>
            <a:endParaRPr sz="1400" b="0" i="0" u="none" strike="noStrike" cap="none">
              <a:solidFill>
                <a:srgbClr val="000000"/>
              </a:solidFill>
              <a:latin typeface="Arial"/>
              <a:ea typeface="Arial"/>
              <a:cs typeface="Arial"/>
              <a:sym typeface="Arial"/>
            </a:endParaRPr>
          </a:p>
        </p:txBody>
      </p:sp>
      <p:cxnSp>
        <p:nvCxnSpPr>
          <p:cNvPr id="435" name="Google Shape;435;g3f5366b50d3_1_100"/>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436" name="Google Shape;436;g3f5366b50d3_1_100"/>
          <p:cNvSpPr txBox="1"/>
          <p:nvPr/>
        </p:nvSpPr>
        <p:spPr>
          <a:xfrm>
            <a:off x="338328" y="836715"/>
            <a:ext cx="11064300" cy="363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B0B0B"/>
                </a:solidFill>
                <a:latin typeface="Arial"/>
                <a:ea typeface="Arial"/>
                <a:cs typeface="Arial"/>
                <a:sym typeface="Arial"/>
              </a:rPr>
              <a:t>Step 3 — Train the encoder by forcing trash qubits to become reference states</a:t>
            </a:r>
            <a:endParaRPr sz="2000" b="1" i="0" u="none" strike="noStrike" cap="none">
              <a:solidFill>
                <a:srgbClr val="0B0B0B"/>
              </a:solidFill>
              <a:latin typeface="Arial"/>
              <a:ea typeface="Arial"/>
              <a:cs typeface="Arial"/>
              <a:sym typeface="Arial"/>
            </a:endParaRPr>
          </a:p>
        </p:txBody>
      </p:sp>
      <p:pic>
        <p:nvPicPr>
          <p:cNvPr id="437" name="Google Shape;437;g3f5366b50d3_1_100"/>
          <p:cNvPicPr preferRelativeResize="0"/>
          <p:nvPr/>
        </p:nvPicPr>
        <p:blipFill rotWithShape="1">
          <a:blip r:embed="rId4">
            <a:alphaModFix/>
          </a:blip>
          <a:srcRect/>
          <a:stretch/>
        </p:blipFill>
        <p:spPr>
          <a:xfrm>
            <a:off x="5413425" y="1944214"/>
            <a:ext cx="2304350" cy="272217"/>
          </a:xfrm>
          <a:prstGeom prst="rect">
            <a:avLst/>
          </a:prstGeom>
          <a:noFill/>
          <a:ln>
            <a:noFill/>
          </a:ln>
        </p:spPr>
      </p:pic>
      <p:pic>
        <p:nvPicPr>
          <p:cNvPr id="438" name="Google Shape;438;g3f5366b50d3_1_100"/>
          <p:cNvPicPr preferRelativeResize="0"/>
          <p:nvPr/>
        </p:nvPicPr>
        <p:blipFill rotWithShape="1">
          <a:blip r:embed="rId5">
            <a:alphaModFix/>
          </a:blip>
          <a:srcRect/>
          <a:stretch/>
        </p:blipFill>
        <p:spPr>
          <a:xfrm>
            <a:off x="5413413" y="3470814"/>
            <a:ext cx="2069333" cy="384000"/>
          </a:xfrm>
          <a:prstGeom prst="rect">
            <a:avLst/>
          </a:prstGeom>
          <a:noFill/>
          <a:ln>
            <a:noFill/>
          </a:ln>
        </p:spPr>
      </p:pic>
      <p:pic>
        <p:nvPicPr>
          <p:cNvPr id="439" name="Google Shape;439;g3f5366b50d3_1_100"/>
          <p:cNvPicPr preferRelativeResize="0"/>
          <p:nvPr/>
        </p:nvPicPr>
        <p:blipFill rotWithShape="1">
          <a:blip r:embed="rId6">
            <a:alphaModFix/>
          </a:blip>
          <a:srcRect/>
          <a:stretch/>
        </p:blipFill>
        <p:spPr>
          <a:xfrm>
            <a:off x="8705400" y="1912608"/>
            <a:ext cx="1920325" cy="335430"/>
          </a:xfrm>
          <a:prstGeom prst="rect">
            <a:avLst/>
          </a:prstGeom>
          <a:noFill/>
          <a:ln>
            <a:noFill/>
          </a:ln>
        </p:spPr>
      </p:pic>
      <p:sp>
        <p:nvSpPr>
          <p:cNvPr id="440" name="Google Shape;440;g3f5366b50d3_1_100"/>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g3f5366b50d3_1_100"/>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443" name="Google Shape;443;g3f5366b50d3_1_100"/>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altLang="zh-TW" sz="1000" b="1" i="0" u="none" strike="noStrike" cap="none" dirty="0">
                <a:solidFill>
                  <a:srgbClr val="06507A"/>
                </a:solidFill>
                <a:latin typeface="Arial"/>
                <a:ea typeface="Arial"/>
                <a:cs typeface="Arial"/>
                <a:sym typeface="Arial"/>
              </a:rPr>
              <a:t>9</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
          <p:cNvSpPr txBox="1"/>
          <p:nvPr/>
        </p:nvSpPr>
        <p:spPr>
          <a:xfrm>
            <a:off x="338328" y="836715"/>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400" b="1" i="0" u="none" strike="noStrike" cap="none">
                <a:solidFill>
                  <a:srgbClr val="0B0B0B"/>
                </a:solidFill>
                <a:latin typeface="Arial"/>
                <a:ea typeface="Arial"/>
                <a:cs typeface="Arial"/>
                <a:sym typeface="Arial"/>
              </a:rPr>
              <a:t>End-to-end experimental workflow</a:t>
            </a:r>
            <a:endParaRPr sz="2400" b="1" i="0" u="none" strike="noStrike" cap="none">
              <a:solidFill>
                <a:srgbClr val="0B0B0B"/>
              </a:solidFill>
              <a:latin typeface="Arial"/>
              <a:ea typeface="Arial"/>
              <a:cs typeface="Arial"/>
              <a:sym typeface="Arial"/>
            </a:endParaRPr>
          </a:p>
        </p:txBody>
      </p:sp>
      <p:sp>
        <p:nvSpPr>
          <p:cNvPr id="449" name="Google Shape;449;p5"/>
          <p:cNvSpPr txBox="1"/>
          <p:nvPr/>
        </p:nvSpPr>
        <p:spPr>
          <a:xfrm>
            <a:off x="448056" y="429768"/>
            <a:ext cx="9784200" cy="186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chemeClr val="dk1"/>
              </a:buClr>
              <a:buSzPts val="850"/>
              <a:buFont typeface="Arial"/>
              <a:buNone/>
            </a:pPr>
            <a:r>
              <a:rPr lang="en-US" sz="850" b="0" i="0" u="none" strike="noStrike" cap="none">
                <a:solidFill>
                  <a:srgbClr val="5A5A5A"/>
                </a:solidFill>
                <a:latin typeface="Arial"/>
                <a:ea typeface="Arial"/>
                <a:cs typeface="Arial"/>
                <a:sym typeface="Arial"/>
              </a:rPr>
              <a:t>From LHC simulation to anomaly score</a:t>
            </a:r>
            <a:endParaRPr sz="1100" b="0" i="0" u="none" strike="noStrike" cap="none">
              <a:solidFill>
                <a:srgbClr val="666666"/>
              </a:solidFill>
              <a:latin typeface="Arial"/>
              <a:ea typeface="Arial"/>
              <a:cs typeface="Arial"/>
              <a:sym typeface="Arial"/>
            </a:endParaRPr>
          </a:p>
        </p:txBody>
      </p:sp>
      <p:sp>
        <p:nvSpPr>
          <p:cNvPr id="450" name="Google Shape;450;p5"/>
          <p:cNvSpPr/>
          <p:nvPr/>
        </p:nvSpPr>
        <p:spPr>
          <a:xfrm>
            <a:off x="640080" y="1417320"/>
            <a:ext cx="1417320" cy="731520"/>
          </a:xfrm>
          <a:prstGeom prst="chevron">
            <a:avLst>
              <a:gd name="adj" fmla="val 50000"/>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5"/>
          <p:cNvSpPr txBox="1"/>
          <p:nvPr/>
        </p:nvSpPr>
        <p:spPr>
          <a:xfrm>
            <a:off x="868741" y="1533315"/>
            <a:ext cx="960000" cy="4755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950"/>
              <a:buFont typeface="Arial"/>
              <a:buNone/>
            </a:pPr>
            <a:r>
              <a:rPr lang="en-US" sz="950" b="1" i="0" u="none" strike="noStrike" cap="none">
                <a:solidFill>
                  <a:srgbClr val="FFFFFF"/>
                </a:solidFill>
                <a:latin typeface="Arial"/>
                <a:ea typeface="Arial"/>
                <a:cs typeface="Arial"/>
                <a:sym typeface="Arial"/>
              </a:rPr>
              <a:t>1</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simulate</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events</a:t>
            </a:r>
            <a:endParaRPr sz="1400" b="0" i="0" u="none" strike="noStrike" cap="none">
              <a:solidFill>
                <a:srgbClr val="000000"/>
              </a:solidFill>
              <a:latin typeface="Arial"/>
              <a:ea typeface="Arial"/>
              <a:cs typeface="Arial"/>
              <a:sym typeface="Arial"/>
            </a:endParaRPr>
          </a:p>
        </p:txBody>
      </p:sp>
      <p:sp>
        <p:nvSpPr>
          <p:cNvPr id="452" name="Google Shape;452;p5"/>
          <p:cNvSpPr/>
          <p:nvPr/>
        </p:nvSpPr>
        <p:spPr>
          <a:xfrm>
            <a:off x="2423160" y="1417320"/>
            <a:ext cx="1417320" cy="731520"/>
          </a:xfrm>
          <a:prstGeom prst="chevron">
            <a:avLst>
              <a:gd name="adj" fmla="val 50000"/>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5"/>
          <p:cNvSpPr txBox="1"/>
          <p:nvPr/>
        </p:nvSpPr>
        <p:spPr>
          <a:xfrm>
            <a:off x="2729546" y="1533315"/>
            <a:ext cx="960000" cy="4755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950"/>
              <a:buFont typeface="Arial"/>
              <a:buNone/>
            </a:pPr>
            <a:r>
              <a:rPr lang="en-US" sz="950" b="1" i="0" u="none" strike="noStrike" cap="none">
                <a:solidFill>
                  <a:srgbClr val="FFFFFF"/>
                </a:solidFill>
                <a:latin typeface="Arial"/>
                <a:ea typeface="Arial"/>
                <a:cs typeface="Arial"/>
                <a:sym typeface="Arial"/>
              </a:rPr>
              <a:t>2</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reconstruct</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objects</a:t>
            </a:r>
            <a:endParaRPr sz="1400" b="0" i="0" u="none" strike="noStrike" cap="none">
              <a:solidFill>
                <a:srgbClr val="000000"/>
              </a:solidFill>
              <a:latin typeface="Arial"/>
              <a:ea typeface="Arial"/>
              <a:cs typeface="Arial"/>
              <a:sym typeface="Arial"/>
            </a:endParaRPr>
          </a:p>
        </p:txBody>
      </p:sp>
      <p:sp>
        <p:nvSpPr>
          <p:cNvPr id="454" name="Google Shape;454;p5"/>
          <p:cNvSpPr/>
          <p:nvPr/>
        </p:nvSpPr>
        <p:spPr>
          <a:xfrm>
            <a:off x="4206240" y="1417320"/>
            <a:ext cx="1417200" cy="731400"/>
          </a:xfrm>
          <a:prstGeom prst="chevron">
            <a:avLst>
              <a:gd name="adj" fmla="val 50000"/>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5"/>
          <p:cNvSpPr txBox="1"/>
          <p:nvPr/>
        </p:nvSpPr>
        <p:spPr>
          <a:xfrm>
            <a:off x="4434838" y="1473890"/>
            <a:ext cx="960000" cy="6219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950"/>
              <a:buFont typeface="Arial"/>
              <a:buNone/>
            </a:pPr>
            <a:r>
              <a:rPr lang="en-US" sz="950" b="1" i="0" u="none" strike="noStrike" cap="none">
                <a:solidFill>
                  <a:srgbClr val="FFFFFF"/>
                </a:solidFill>
                <a:latin typeface="Arial"/>
                <a:ea typeface="Arial"/>
                <a:cs typeface="Arial"/>
                <a:sym typeface="Arial"/>
              </a:rPr>
              <a:t>3</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select</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physics</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features</a:t>
            </a:r>
            <a:endParaRPr sz="1400" b="0" i="0" u="none" strike="noStrike" cap="none">
              <a:solidFill>
                <a:srgbClr val="000000"/>
              </a:solidFill>
              <a:latin typeface="Arial"/>
              <a:ea typeface="Arial"/>
              <a:cs typeface="Arial"/>
              <a:sym typeface="Arial"/>
            </a:endParaRPr>
          </a:p>
        </p:txBody>
      </p:sp>
      <p:sp>
        <p:nvSpPr>
          <p:cNvPr id="456" name="Google Shape;456;p5"/>
          <p:cNvSpPr/>
          <p:nvPr/>
        </p:nvSpPr>
        <p:spPr>
          <a:xfrm>
            <a:off x="5989320" y="1417320"/>
            <a:ext cx="1417320" cy="731520"/>
          </a:xfrm>
          <a:prstGeom prst="chevron">
            <a:avLst>
              <a:gd name="adj" fmla="val 50000"/>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5"/>
          <p:cNvSpPr txBox="1"/>
          <p:nvPr/>
        </p:nvSpPr>
        <p:spPr>
          <a:xfrm>
            <a:off x="6217930" y="1496740"/>
            <a:ext cx="960000" cy="4755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950"/>
              <a:buFont typeface="Arial"/>
              <a:buNone/>
            </a:pPr>
            <a:r>
              <a:rPr lang="en-US" sz="950" b="1" i="0" u="none" strike="noStrike" cap="none">
                <a:solidFill>
                  <a:srgbClr val="FFFFFF"/>
                </a:solidFill>
                <a:latin typeface="Arial"/>
                <a:ea typeface="Arial"/>
                <a:cs typeface="Arial"/>
                <a:sym typeface="Arial"/>
              </a:rPr>
              <a:t>4</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rescale to</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angle range</a:t>
            </a:r>
            <a:endParaRPr sz="1400" b="0" i="0" u="none" strike="noStrike" cap="none">
              <a:solidFill>
                <a:srgbClr val="000000"/>
              </a:solidFill>
              <a:latin typeface="Arial"/>
              <a:ea typeface="Arial"/>
              <a:cs typeface="Arial"/>
              <a:sym typeface="Arial"/>
            </a:endParaRPr>
          </a:p>
        </p:txBody>
      </p:sp>
      <p:sp>
        <p:nvSpPr>
          <p:cNvPr id="458" name="Google Shape;458;p5"/>
          <p:cNvSpPr/>
          <p:nvPr/>
        </p:nvSpPr>
        <p:spPr>
          <a:xfrm>
            <a:off x="7772400" y="1417320"/>
            <a:ext cx="1417320" cy="731520"/>
          </a:xfrm>
          <a:prstGeom prst="chevron">
            <a:avLst>
              <a:gd name="adj" fmla="val 50000"/>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5"/>
          <p:cNvSpPr txBox="1"/>
          <p:nvPr/>
        </p:nvSpPr>
        <p:spPr>
          <a:xfrm>
            <a:off x="8033681" y="1507786"/>
            <a:ext cx="960000" cy="4755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950"/>
              <a:buFont typeface="Arial"/>
              <a:buNone/>
            </a:pPr>
            <a:r>
              <a:rPr lang="en-US" sz="950" b="1" i="0" u="none" strike="noStrike" cap="none">
                <a:solidFill>
                  <a:srgbClr val="FFFFFF"/>
                </a:solidFill>
                <a:latin typeface="Arial"/>
                <a:ea typeface="Arial"/>
                <a:cs typeface="Arial"/>
                <a:sym typeface="Arial"/>
              </a:rPr>
              <a:t>5</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QAE</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training</a:t>
            </a:r>
            <a:endParaRPr sz="1400" b="0" i="0" u="none" strike="noStrike" cap="none">
              <a:solidFill>
                <a:srgbClr val="000000"/>
              </a:solidFill>
              <a:latin typeface="Arial"/>
              <a:ea typeface="Arial"/>
              <a:cs typeface="Arial"/>
              <a:sym typeface="Arial"/>
            </a:endParaRPr>
          </a:p>
        </p:txBody>
      </p:sp>
      <p:sp>
        <p:nvSpPr>
          <p:cNvPr id="460" name="Google Shape;460;p5"/>
          <p:cNvSpPr/>
          <p:nvPr/>
        </p:nvSpPr>
        <p:spPr>
          <a:xfrm>
            <a:off x="9555480" y="1417320"/>
            <a:ext cx="1417320" cy="731520"/>
          </a:xfrm>
          <a:prstGeom prst="chevron">
            <a:avLst>
              <a:gd name="adj" fmla="val 50000"/>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5"/>
          <p:cNvSpPr txBox="1"/>
          <p:nvPr/>
        </p:nvSpPr>
        <p:spPr>
          <a:xfrm>
            <a:off x="9790303" y="1481328"/>
            <a:ext cx="960000" cy="6219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950"/>
              <a:buFont typeface="Arial"/>
              <a:buNone/>
            </a:pPr>
            <a:r>
              <a:rPr lang="en-US" sz="950" b="1" i="0" u="none" strike="noStrike" cap="none">
                <a:solidFill>
                  <a:srgbClr val="FFFFFF"/>
                </a:solidFill>
                <a:latin typeface="Arial"/>
                <a:ea typeface="Arial"/>
                <a:cs typeface="Arial"/>
                <a:sym typeface="Arial"/>
              </a:rPr>
              <a:t>6</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evaluate</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anomaly</a:t>
            </a:r>
            <a:br>
              <a:rPr lang="en-US" sz="1400" b="0" i="0" u="none" strike="noStrike" cap="none">
                <a:solidFill>
                  <a:srgbClr val="000000"/>
                </a:solidFill>
                <a:latin typeface="Arial"/>
                <a:ea typeface="Arial"/>
                <a:cs typeface="Arial"/>
                <a:sym typeface="Arial"/>
              </a:rPr>
            </a:br>
            <a:r>
              <a:rPr lang="en-US" sz="950" b="1" i="0" u="none" strike="noStrike" cap="none">
                <a:solidFill>
                  <a:srgbClr val="FFFFFF"/>
                </a:solidFill>
                <a:latin typeface="Arial"/>
                <a:ea typeface="Arial"/>
                <a:cs typeface="Arial"/>
                <a:sym typeface="Arial"/>
              </a:rPr>
              <a:t>score</a:t>
            </a:r>
            <a:endParaRPr sz="1400" b="0" i="0" u="none" strike="noStrike" cap="none">
              <a:solidFill>
                <a:srgbClr val="000000"/>
              </a:solidFill>
              <a:latin typeface="Arial"/>
              <a:ea typeface="Arial"/>
              <a:cs typeface="Arial"/>
              <a:sym typeface="Arial"/>
            </a:endParaRPr>
          </a:p>
        </p:txBody>
      </p:sp>
      <p:sp>
        <p:nvSpPr>
          <p:cNvPr id="462" name="Google Shape;462;p5"/>
          <p:cNvSpPr txBox="1"/>
          <p:nvPr/>
        </p:nvSpPr>
        <p:spPr>
          <a:xfrm>
            <a:off x="640074" y="2487175"/>
            <a:ext cx="4196700" cy="2679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005276"/>
                </a:solidFill>
                <a:latin typeface="Arial"/>
                <a:ea typeface="Arial"/>
                <a:cs typeface="Arial"/>
                <a:sym typeface="Arial"/>
              </a:rPr>
              <a:t>Two benchmarks</a:t>
            </a:r>
            <a:endParaRPr sz="1400" b="0" i="0" u="none" strike="noStrike" cap="none">
              <a:solidFill>
                <a:srgbClr val="000000"/>
              </a:solidFill>
              <a:latin typeface="Arial"/>
              <a:ea typeface="Arial"/>
              <a:cs typeface="Arial"/>
              <a:sym typeface="Arial"/>
            </a:endParaRPr>
          </a:p>
        </p:txBody>
      </p:sp>
      <p:sp>
        <p:nvSpPr>
          <p:cNvPr id="463" name="Google Shape;463;p5"/>
          <p:cNvSpPr/>
          <p:nvPr/>
        </p:nvSpPr>
        <p:spPr>
          <a:xfrm>
            <a:off x="640080" y="2852928"/>
            <a:ext cx="5166360" cy="141732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5"/>
          <p:cNvSpPr/>
          <p:nvPr/>
        </p:nvSpPr>
        <p:spPr>
          <a:xfrm>
            <a:off x="640080" y="2852928"/>
            <a:ext cx="54864" cy="141732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5"/>
          <p:cNvSpPr txBox="1"/>
          <p:nvPr/>
        </p:nvSpPr>
        <p:spPr>
          <a:xfrm>
            <a:off x="768096" y="2926080"/>
            <a:ext cx="4965192" cy="201168"/>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Benchmark 1 · Main experiment</a:t>
            </a:r>
            <a:endParaRPr sz="1400" b="0" i="0" u="none" strike="noStrike" cap="none">
              <a:solidFill>
                <a:srgbClr val="000000"/>
              </a:solidFill>
              <a:latin typeface="Arial"/>
              <a:ea typeface="Arial"/>
              <a:cs typeface="Arial"/>
              <a:sym typeface="Arial"/>
            </a:endParaRPr>
          </a:p>
        </p:txBody>
      </p:sp>
      <p:sp>
        <p:nvSpPr>
          <p:cNvPr id="466" name="Google Shape;466;p5"/>
          <p:cNvSpPr txBox="1"/>
          <p:nvPr/>
        </p:nvSpPr>
        <p:spPr>
          <a:xfrm>
            <a:off x="768096" y="3200400"/>
            <a:ext cx="4937700" cy="6642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18"/>
              <a:buFont typeface="Arial"/>
              <a:buNone/>
            </a:pPr>
            <a:r>
              <a:rPr lang="en-US" sz="1019" b="0" i="0" u="none" strike="noStrike" cap="none">
                <a:solidFill>
                  <a:srgbClr val="000000"/>
                </a:solidFill>
                <a:latin typeface="Arial"/>
                <a:ea typeface="Arial"/>
                <a:cs typeface="Arial"/>
                <a:sym typeface="Arial"/>
              </a:rPr>
              <a:t>Background:</a:t>
            </a:r>
            <a:br>
              <a:rPr lang="en-US" sz="1400" b="0" i="0" u="none" strike="noStrike" cap="none">
                <a:solidFill>
                  <a:srgbClr val="000000"/>
                </a:solidFill>
                <a:latin typeface="Arial"/>
                <a:ea typeface="Arial"/>
                <a:cs typeface="Arial"/>
                <a:sym typeface="Arial"/>
              </a:rPr>
            </a:br>
            <a:r>
              <a:rPr lang="en-US" sz="1019" b="0" i="0" u="none" strike="noStrike" cap="none">
                <a:solidFill>
                  <a:srgbClr val="000000"/>
                </a:solidFill>
                <a:latin typeface="Arial"/>
                <a:ea typeface="Arial"/>
                <a:cs typeface="Arial"/>
                <a:sym typeface="Arial"/>
              </a:rPr>
              <a:t>Signal:</a:t>
            </a:r>
            <a:br>
              <a:rPr lang="en-US" sz="1400" b="0" i="0" u="none" strike="noStrike" cap="none">
                <a:solidFill>
                  <a:srgbClr val="000000"/>
                </a:solidFill>
                <a:latin typeface="Arial"/>
                <a:ea typeface="Arial"/>
                <a:cs typeface="Arial"/>
                <a:sym typeface="Arial"/>
              </a:rPr>
            </a:br>
            <a:r>
              <a:rPr lang="en-US" sz="1019" b="0" i="0" u="none" strike="noStrike" cap="none">
                <a:solidFill>
                  <a:srgbClr val="000000"/>
                </a:solidFill>
                <a:latin typeface="Arial"/>
                <a:ea typeface="Arial"/>
                <a:cs typeface="Arial"/>
                <a:sym typeface="Arial"/>
              </a:rPr>
              <a:t>4 input variables → 4 qubits</a:t>
            </a:r>
            <a:br>
              <a:rPr lang="en-US" sz="1400" b="0" i="0" u="none" strike="noStrike" cap="none">
                <a:solidFill>
                  <a:srgbClr val="000000"/>
                </a:solidFill>
                <a:latin typeface="Arial"/>
                <a:ea typeface="Arial"/>
                <a:cs typeface="Arial"/>
                <a:sym typeface="Arial"/>
              </a:rPr>
            </a:br>
            <a:r>
              <a:rPr lang="en-US" sz="1019" b="0" i="0" u="none" strike="noStrike" cap="none">
                <a:solidFill>
                  <a:srgbClr val="000000"/>
                </a:solidFill>
                <a:latin typeface="Arial"/>
                <a:ea typeface="Arial"/>
                <a:cs typeface="Arial"/>
                <a:sym typeface="Arial"/>
              </a:rPr>
              <a:t>Used for detailed training-size, ROC, significance, and hardware studies.</a:t>
            </a:r>
            <a:endParaRPr sz="1400" b="0" i="0" u="none" strike="noStrike" cap="none">
              <a:solidFill>
                <a:srgbClr val="000000"/>
              </a:solidFill>
              <a:latin typeface="Arial"/>
              <a:ea typeface="Arial"/>
              <a:cs typeface="Arial"/>
              <a:sym typeface="Arial"/>
            </a:endParaRPr>
          </a:p>
        </p:txBody>
      </p:sp>
      <p:sp>
        <p:nvSpPr>
          <p:cNvPr id="467" name="Google Shape;467;p5"/>
          <p:cNvSpPr/>
          <p:nvPr/>
        </p:nvSpPr>
        <p:spPr>
          <a:xfrm>
            <a:off x="6172200" y="2852928"/>
            <a:ext cx="5166360" cy="141732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5"/>
          <p:cNvSpPr/>
          <p:nvPr/>
        </p:nvSpPr>
        <p:spPr>
          <a:xfrm>
            <a:off x="6172200" y="2852928"/>
            <a:ext cx="54864" cy="141732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5"/>
          <p:cNvSpPr txBox="1"/>
          <p:nvPr/>
        </p:nvSpPr>
        <p:spPr>
          <a:xfrm>
            <a:off x="6300216" y="2926080"/>
            <a:ext cx="4965192" cy="201168"/>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Benchmark 2 · Cross-check experiment</a:t>
            </a:r>
            <a:endParaRPr sz="1400" b="0" i="0" u="none" strike="noStrike" cap="none">
              <a:solidFill>
                <a:srgbClr val="000000"/>
              </a:solidFill>
              <a:latin typeface="Arial"/>
              <a:ea typeface="Arial"/>
              <a:cs typeface="Arial"/>
              <a:sym typeface="Arial"/>
            </a:endParaRPr>
          </a:p>
        </p:txBody>
      </p:sp>
      <p:sp>
        <p:nvSpPr>
          <p:cNvPr id="470" name="Google Shape;470;p5"/>
          <p:cNvSpPr txBox="1"/>
          <p:nvPr/>
        </p:nvSpPr>
        <p:spPr>
          <a:xfrm>
            <a:off x="6300216" y="3200400"/>
            <a:ext cx="4937700" cy="6642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18"/>
              <a:buFont typeface="Arial"/>
              <a:buNone/>
            </a:pPr>
            <a:r>
              <a:rPr lang="en-US" sz="1019" b="0" i="0" u="none" strike="noStrike" cap="none">
                <a:solidFill>
                  <a:srgbClr val="000000"/>
                </a:solidFill>
                <a:latin typeface="Arial"/>
                <a:ea typeface="Arial"/>
                <a:cs typeface="Arial"/>
                <a:sym typeface="Arial"/>
              </a:rPr>
              <a:t>Background:</a:t>
            </a:r>
            <a:br>
              <a:rPr lang="en-US" sz="1400" b="0" i="0" u="none" strike="noStrike" cap="none">
                <a:solidFill>
                  <a:srgbClr val="000000"/>
                </a:solidFill>
                <a:latin typeface="Arial"/>
                <a:ea typeface="Arial"/>
                <a:cs typeface="Arial"/>
                <a:sym typeface="Arial"/>
              </a:rPr>
            </a:br>
            <a:r>
              <a:rPr lang="en-US" sz="1019" b="0" i="0" u="none" strike="noStrike" cap="none">
                <a:solidFill>
                  <a:srgbClr val="000000"/>
                </a:solidFill>
                <a:latin typeface="Arial"/>
                <a:ea typeface="Arial"/>
                <a:cs typeface="Arial"/>
                <a:sym typeface="Arial"/>
              </a:rPr>
              <a:t>Signal:</a:t>
            </a:r>
            <a:br>
              <a:rPr lang="en-US" sz="1400" b="0" i="0" u="none" strike="noStrike" cap="none">
                <a:solidFill>
                  <a:srgbClr val="000000"/>
                </a:solidFill>
                <a:latin typeface="Arial"/>
                <a:ea typeface="Arial"/>
                <a:cs typeface="Arial"/>
                <a:sym typeface="Arial"/>
              </a:rPr>
            </a:br>
            <a:r>
              <a:rPr lang="en-US" sz="1019" b="0" i="0" u="none" strike="noStrike" cap="none">
                <a:solidFill>
                  <a:srgbClr val="000000"/>
                </a:solidFill>
                <a:latin typeface="Arial"/>
                <a:ea typeface="Arial"/>
                <a:cs typeface="Arial"/>
                <a:sym typeface="Arial"/>
              </a:rPr>
              <a:t>6 input variables → 6 qubits</a:t>
            </a:r>
            <a:br>
              <a:rPr lang="en-US" sz="1400" b="0" i="0" u="none" strike="noStrike" cap="none">
                <a:solidFill>
                  <a:srgbClr val="000000"/>
                </a:solidFill>
                <a:latin typeface="Arial"/>
                <a:ea typeface="Arial"/>
                <a:cs typeface="Arial"/>
                <a:sym typeface="Arial"/>
              </a:rPr>
            </a:br>
            <a:r>
              <a:rPr lang="en-US" sz="1019" b="0" i="0" u="none" strike="noStrike" cap="none">
                <a:solidFill>
                  <a:srgbClr val="000000"/>
                </a:solidFill>
                <a:latin typeface="Arial"/>
                <a:ea typeface="Arial"/>
                <a:cs typeface="Arial"/>
                <a:sym typeface="Arial"/>
              </a:rPr>
              <a:t>Used to test whether the QAE advantage carries to a different topology.</a:t>
            </a:r>
            <a:endParaRPr sz="1400" b="0" i="0" u="none" strike="noStrike" cap="none">
              <a:solidFill>
                <a:srgbClr val="000000"/>
              </a:solidFill>
              <a:latin typeface="Arial"/>
              <a:ea typeface="Arial"/>
              <a:cs typeface="Arial"/>
              <a:sym typeface="Arial"/>
            </a:endParaRPr>
          </a:p>
        </p:txBody>
      </p:sp>
      <p:sp>
        <p:nvSpPr>
          <p:cNvPr id="471" name="Google Shape;471;p5"/>
          <p:cNvSpPr txBox="1"/>
          <p:nvPr/>
        </p:nvSpPr>
        <p:spPr>
          <a:xfrm>
            <a:off x="640080" y="4617720"/>
            <a:ext cx="3657600" cy="228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5276"/>
                </a:solidFill>
                <a:latin typeface="Arial"/>
                <a:ea typeface="Arial"/>
                <a:cs typeface="Arial"/>
                <a:sym typeface="Arial"/>
              </a:rPr>
              <a:t>Representation changes</a:t>
            </a:r>
            <a:endParaRPr sz="1400" b="0" i="0" u="none" strike="noStrike" cap="none">
              <a:solidFill>
                <a:srgbClr val="000000"/>
              </a:solidFill>
              <a:latin typeface="Arial"/>
              <a:ea typeface="Arial"/>
              <a:cs typeface="Arial"/>
              <a:sym typeface="Arial"/>
            </a:endParaRPr>
          </a:p>
        </p:txBody>
      </p:sp>
      <p:sp>
        <p:nvSpPr>
          <p:cNvPr id="472" name="Google Shape;472;p5"/>
          <p:cNvSpPr/>
          <p:nvPr/>
        </p:nvSpPr>
        <p:spPr>
          <a:xfrm>
            <a:off x="640080" y="4983480"/>
            <a:ext cx="1325880" cy="621792"/>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5"/>
          <p:cNvSpPr txBox="1"/>
          <p:nvPr/>
        </p:nvSpPr>
        <p:spPr>
          <a:xfrm>
            <a:off x="685800" y="5056632"/>
            <a:ext cx="1234439" cy="530352"/>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68"/>
              <a:buFont typeface="Arial"/>
              <a:buNone/>
            </a:pPr>
            <a:r>
              <a:rPr lang="en-US" sz="869" b="1" i="0" u="none" strike="noStrike" cap="none">
                <a:solidFill>
                  <a:srgbClr val="000000"/>
                </a:solidFill>
                <a:latin typeface="Arial"/>
                <a:ea typeface="Arial"/>
                <a:cs typeface="Arial"/>
                <a:sym typeface="Arial"/>
              </a:rPr>
              <a:t>detector-level</a:t>
            </a:r>
            <a:br>
              <a:rPr lang="en-US" sz="1400" b="0" i="0" u="none" strike="noStrike" cap="none">
                <a:solidFill>
                  <a:srgbClr val="000000"/>
                </a:solidFill>
                <a:latin typeface="Arial"/>
                <a:ea typeface="Arial"/>
                <a:cs typeface="Arial"/>
                <a:sym typeface="Arial"/>
              </a:rPr>
            </a:br>
            <a:r>
              <a:rPr lang="en-US" sz="869" b="1" i="0" u="none" strike="noStrike" cap="none">
                <a:solidFill>
                  <a:srgbClr val="000000"/>
                </a:solidFill>
                <a:latin typeface="Arial"/>
                <a:ea typeface="Arial"/>
                <a:cs typeface="Arial"/>
                <a:sym typeface="Arial"/>
              </a:rPr>
              <a:t>event</a:t>
            </a:r>
            <a:endParaRPr sz="1400" b="0" i="0" u="none" strike="noStrike" cap="none">
              <a:solidFill>
                <a:srgbClr val="000000"/>
              </a:solidFill>
              <a:latin typeface="Arial"/>
              <a:ea typeface="Arial"/>
              <a:cs typeface="Arial"/>
              <a:sym typeface="Arial"/>
            </a:endParaRPr>
          </a:p>
        </p:txBody>
      </p:sp>
      <p:sp>
        <p:nvSpPr>
          <p:cNvPr id="474" name="Google Shape;474;p5"/>
          <p:cNvSpPr txBox="1"/>
          <p:nvPr/>
        </p:nvSpPr>
        <p:spPr>
          <a:xfrm>
            <a:off x="1975104" y="5129784"/>
            <a:ext cx="320040" cy="228600"/>
          </a:xfrm>
          <a:prstGeom prst="rect">
            <a:avLst/>
          </a:prstGeom>
          <a:noFill/>
          <a:ln>
            <a:noFill/>
          </a:ln>
        </p:spPr>
        <p:txBody>
          <a:bodyPr spcFirstLastPara="1" wrap="square" lIns="45700" tIns="18275" rIns="45700" bIns="18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5521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475" name="Google Shape;475;p5"/>
          <p:cNvSpPr/>
          <p:nvPr/>
        </p:nvSpPr>
        <p:spPr>
          <a:xfrm>
            <a:off x="2514600" y="4983480"/>
            <a:ext cx="1325880" cy="621792"/>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5"/>
          <p:cNvSpPr txBox="1"/>
          <p:nvPr/>
        </p:nvSpPr>
        <p:spPr>
          <a:xfrm>
            <a:off x="2560320" y="5056632"/>
            <a:ext cx="1234439" cy="530352"/>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68"/>
              <a:buFont typeface="Arial"/>
              <a:buNone/>
            </a:pPr>
            <a:r>
              <a:rPr lang="en-US" sz="869" b="1" i="0" u="none" strike="noStrike" cap="none">
                <a:solidFill>
                  <a:srgbClr val="000000"/>
                </a:solidFill>
                <a:latin typeface="Arial"/>
                <a:ea typeface="Arial"/>
                <a:cs typeface="Arial"/>
                <a:sym typeface="Arial"/>
              </a:rPr>
              <a:t>reconstructed</a:t>
            </a:r>
            <a:br>
              <a:rPr lang="en-US" sz="1400" b="0" i="0" u="none" strike="noStrike" cap="none">
                <a:solidFill>
                  <a:srgbClr val="000000"/>
                </a:solidFill>
                <a:latin typeface="Arial"/>
                <a:ea typeface="Arial"/>
                <a:cs typeface="Arial"/>
                <a:sym typeface="Arial"/>
              </a:rPr>
            </a:br>
            <a:r>
              <a:rPr lang="en-US" sz="869" b="1" i="0" u="none" strike="noStrike" cap="none">
                <a:solidFill>
                  <a:srgbClr val="000000"/>
                </a:solidFill>
                <a:latin typeface="Arial"/>
                <a:ea typeface="Arial"/>
                <a:cs typeface="Arial"/>
                <a:sym typeface="Arial"/>
              </a:rPr>
              <a:t>objects</a:t>
            </a:r>
            <a:endParaRPr sz="1400" b="0" i="0" u="none" strike="noStrike" cap="none">
              <a:solidFill>
                <a:srgbClr val="000000"/>
              </a:solidFill>
              <a:latin typeface="Arial"/>
              <a:ea typeface="Arial"/>
              <a:cs typeface="Arial"/>
              <a:sym typeface="Arial"/>
            </a:endParaRPr>
          </a:p>
        </p:txBody>
      </p:sp>
      <p:sp>
        <p:nvSpPr>
          <p:cNvPr id="477" name="Google Shape;477;p5"/>
          <p:cNvSpPr txBox="1"/>
          <p:nvPr/>
        </p:nvSpPr>
        <p:spPr>
          <a:xfrm>
            <a:off x="3849624" y="5129784"/>
            <a:ext cx="320040" cy="228600"/>
          </a:xfrm>
          <a:prstGeom prst="rect">
            <a:avLst/>
          </a:prstGeom>
          <a:noFill/>
          <a:ln>
            <a:noFill/>
          </a:ln>
        </p:spPr>
        <p:txBody>
          <a:bodyPr spcFirstLastPara="1" wrap="square" lIns="45700" tIns="18275" rIns="45700" bIns="18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5521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478" name="Google Shape;478;p5"/>
          <p:cNvSpPr/>
          <p:nvPr/>
        </p:nvSpPr>
        <p:spPr>
          <a:xfrm>
            <a:off x="4389120" y="4983480"/>
            <a:ext cx="1325880" cy="621792"/>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p5"/>
          <p:cNvSpPr txBox="1"/>
          <p:nvPr/>
        </p:nvSpPr>
        <p:spPr>
          <a:xfrm>
            <a:off x="4434840" y="5056632"/>
            <a:ext cx="1234439" cy="530352"/>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68"/>
              <a:buFont typeface="Arial"/>
              <a:buNone/>
            </a:pPr>
            <a:r>
              <a:rPr lang="en-US" sz="869" b="1" i="0" u="none" strike="noStrike" cap="none">
                <a:solidFill>
                  <a:srgbClr val="000000"/>
                </a:solidFill>
                <a:latin typeface="Arial"/>
                <a:ea typeface="Arial"/>
                <a:cs typeface="Arial"/>
                <a:sym typeface="Arial"/>
              </a:rPr>
              <a:t>classical vector</a:t>
            </a:r>
            <a:br>
              <a:rPr lang="en-US" sz="1400" b="0" i="0" u="none" strike="noStrike" cap="none">
                <a:solidFill>
                  <a:srgbClr val="000000"/>
                </a:solidFill>
                <a:latin typeface="Arial"/>
                <a:ea typeface="Arial"/>
                <a:cs typeface="Arial"/>
                <a:sym typeface="Arial"/>
              </a:rPr>
            </a:br>
            <a:r>
              <a:rPr lang="en-US" sz="869" b="1" i="0" u="none" strike="noStrike" cap="none">
                <a:solidFill>
                  <a:srgbClr val="000000"/>
                </a:solidFill>
                <a:latin typeface="Arial"/>
                <a:ea typeface="Arial"/>
                <a:cs typeface="Arial"/>
                <a:sym typeface="Arial"/>
              </a:rPr>
              <a:t>x</a:t>
            </a:r>
            <a:endParaRPr sz="1400" b="0" i="0" u="none" strike="noStrike" cap="none">
              <a:solidFill>
                <a:srgbClr val="000000"/>
              </a:solidFill>
              <a:latin typeface="Arial"/>
              <a:ea typeface="Arial"/>
              <a:cs typeface="Arial"/>
              <a:sym typeface="Arial"/>
            </a:endParaRPr>
          </a:p>
        </p:txBody>
      </p:sp>
      <p:sp>
        <p:nvSpPr>
          <p:cNvPr id="480" name="Google Shape;480;p5"/>
          <p:cNvSpPr txBox="1"/>
          <p:nvPr/>
        </p:nvSpPr>
        <p:spPr>
          <a:xfrm>
            <a:off x="5724144" y="5129784"/>
            <a:ext cx="320040" cy="228600"/>
          </a:xfrm>
          <a:prstGeom prst="rect">
            <a:avLst/>
          </a:prstGeom>
          <a:noFill/>
          <a:ln>
            <a:noFill/>
          </a:ln>
        </p:spPr>
        <p:txBody>
          <a:bodyPr spcFirstLastPara="1" wrap="square" lIns="45700" tIns="18275" rIns="45700" bIns="18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5521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481" name="Google Shape;481;p5"/>
          <p:cNvSpPr/>
          <p:nvPr/>
        </p:nvSpPr>
        <p:spPr>
          <a:xfrm>
            <a:off x="6263640" y="4983480"/>
            <a:ext cx="1325880" cy="621792"/>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5"/>
          <p:cNvSpPr txBox="1"/>
          <p:nvPr/>
        </p:nvSpPr>
        <p:spPr>
          <a:xfrm>
            <a:off x="6309359" y="5056632"/>
            <a:ext cx="1234439" cy="530352"/>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68"/>
              <a:buFont typeface="Arial"/>
              <a:buNone/>
            </a:pPr>
            <a:r>
              <a:rPr lang="en-US" sz="869" b="1" i="0" u="none" strike="noStrike" cap="none">
                <a:solidFill>
                  <a:srgbClr val="000000"/>
                </a:solidFill>
                <a:latin typeface="Arial"/>
                <a:ea typeface="Arial"/>
                <a:cs typeface="Arial"/>
                <a:sym typeface="Arial"/>
              </a:rPr>
              <a:t>angle vector</a:t>
            </a:r>
            <a:br>
              <a:rPr lang="en-US" sz="1400" b="0" i="0" u="none" strike="noStrike" cap="none">
                <a:solidFill>
                  <a:srgbClr val="000000"/>
                </a:solidFill>
                <a:latin typeface="Arial"/>
                <a:ea typeface="Arial"/>
                <a:cs typeface="Arial"/>
                <a:sym typeface="Arial"/>
              </a:rPr>
            </a:br>
            <a:r>
              <a:rPr lang="en-US" sz="869" b="1" i="0" u="none" strike="noStrike" cap="none">
                <a:solidFill>
                  <a:srgbClr val="000000"/>
                </a:solidFill>
                <a:latin typeface="Arial"/>
                <a:ea typeface="Arial"/>
                <a:cs typeface="Arial"/>
                <a:sym typeface="Arial"/>
              </a:rPr>
              <a:t>φ ∈ [0,π]</a:t>
            </a:r>
            <a:endParaRPr sz="1400" b="0" i="0" u="none" strike="noStrike" cap="none">
              <a:solidFill>
                <a:srgbClr val="000000"/>
              </a:solidFill>
              <a:latin typeface="Arial"/>
              <a:ea typeface="Arial"/>
              <a:cs typeface="Arial"/>
              <a:sym typeface="Arial"/>
            </a:endParaRPr>
          </a:p>
        </p:txBody>
      </p:sp>
      <p:sp>
        <p:nvSpPr>
          <p:cNvPr id="483" name="Google Shape;483;p5"/>
          <p:cNvSpPr txBox="1"/>
          <p:nvPr/>
        </p:nvSpPr>
        <p:spPr>
          <a:xfrm>
            <a:off x="7598663" y="5129784"/>
            <a:ext cx="320040" cy="228600"/>
          </a:xfrm>
          <a:prstGeom prst="rect">
            <a:avLst/>
          </a:prstGeom>
          <a:noFill/>
          <a:ln>
            <a:noFill/>
          </a:ln>
        </p:spPr>
        <p:txBody>
          <a:bodyPr spcFirstLastPara="1" wrap="square" lIns="45700" tIns="18275" rIns="45700" bIns="18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5521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484" name="Google Shape;484;p5"/>
          <p:cNvSpPr/>
          <p:nvPr/>
        </p:nvSpPr>
        <p:spPr>
          <a:xfrm>
            <a:off x="8138159" y="4983480"/>
            <a:ext cx="1325880" cy="621792"/>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5"/>
          <p:cNvSpPr txBox="1"/>
          <p:nvPr/>
        </p:nvSpPr>
        <p:spPr>
          <a:xfrm>
            <a:off x="8183879" y="5056632"/>
            <a:ext cx="1234439" cy="530352"/>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68"/>
              <a:buFont typeface="Arial"/>
              <a:buNone/>
            </a:pPr>
            <a:r>
              <a:rPr lang="en-US" sz="869" b="1" i="0" u="none" strike="noStrike" cap="none">
                <a:solidFill>
                  <a:srgbClr val="000000"/>
                </a:solidFill>
                <a:latin typeface="Arial"/>
                <a:ea typeface="Arial"/>
                <a:cs typeface="Arial"/>
                <a:sym typeface="Arial"/>
              </a:rPr>
              <a:t>quantum state</a:t>
            </a:r>
            <a:br>
              <a:rPr lang="en-US" sz="1400" b="0" i="0" u="none" strike="noStrike" cap="none">
                <a:solidFill>
                  <a:srgbClr val="000000"/>
                </a:solidFill>
                <a:latin typeface="Arial"/>
                <a:ea typeface="Arial"/>
                <a:cs typeface="Arial"/>
                <a:sym typeface="Arial"/>
              </a:rPr>
            </a:br>
            <a:r>
              <a:rPr lang="en-US" sz="869" b="1" i="0" u="none" strike="noStrike" cap="none">
                <a:solidFill>
                  <a:srgbClr val="000000"/>
                </a:solidFill>
                <a:latin typeface="Arial"/>
                <a:ea typeface="Arial"/>
                <a:cs typeface="Arial"/>
                <a:sym typeface="Arial"/>
              </a:rPr>
              <a:t>|Φ(x)⟩</a:t>
            </a:r>
            <a:endParaRPr sz="1400" b="0" i="0" u="none" strike="noStrike" cap="none">
              <a:solidFill>
                <a:srgbClr val="000000"/>
              </a:solidFill>
              <a:latin typeface="Arial"/>
              <a:ea typeface="Arial"/>
              <a:cs typeface="Arial"/>
              <a:sym typeface="Arial"/>
            </a:endParaRPr>
          </a:p>
        </p:txBody>
      </p:sp>
      <p:sp>
        <p:nvSpPr>
          <p:cNvPr id="486" name="Google Shape;486;p5"/>
          <p:cNvSpPr txBox="1"/>
          <p:nvPr/>
        </p:nvSpPr>
        <p:spPr>
          <a:xfrm>
            <a:off x="9473184" y="5129784"/>
            <a:ext cx="320040" cy="228600"/>
          </a:xfrm>
          <a:prstGeom prst="rect">
            <a:avLst/>
          </a:prstGeom>
          <a:noFill/>
          <a:ln>
            <a:noFill/>
          </a:ln>
        </p:spPr>
        <p:txBody>
          <a:bodyPr spcFirstLastPara="1" wrap="square" lIns="45700" tIns="18275" rIns="45700" bIns="18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5521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487" name="Google Shape;487;p5"/>
          <p:cNvSpPr/>
          <p:nvPr/>
        </p:nvSpPr>
        <p:spPr>
          <a:xfrm>
            <a:off x="10012680" y="4983480"/>
            <a:ext cx="1325880" cy="621792"/>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5"/>
          <p:cNvSpPr txBox="1"/>
          <p:nvPr/>
        </p:nvSpPr>
        <p:spPr>
          <a:xfrm>
            <a:off x="10058400" y="5056632"/>
            <a:ext cx="1234439" cy="530352"/>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68"/>
              <a:buFont typeface="Arial"/>
              <a:buNone/>
            </a:pPr>
            <a:r>
              <a:rPr lang="en-US" sz="869" b="1" i="0" u="none" strike="noStrike" cap="none">
                <a:solidFill>
                  <a:srgbClr val="000000"/>
                </a:solidFill>
                <a:latin typeface="Arial"/>
                <a:ea typeface="Arial"/>
                <a:cs typeface="Arial"/>
                <a:sym typeface="Arial"/>
              </a:rPr>
              <a:t>trash fidelity</a:t>
            </a:r>
            <a:br>
              <a:rPr lang="en-US" sz="1400" b="0" i="0" u="none" strike="noStrike" cap="none">
                <a:solidFill>
                  <a:srgbClr val="000000"/>
                </a:solidFill>
                <a:latin typeface="Arial"/>
                <a:ea typeface="Arial"/>
                <a:cs typeface="Arial"/>
                <a:sym typeface="Arial"/>
              </a:rPr>
            </a:br>
            <a:r>
              <a:rPr lang="en-US" sz="869" b="1" i="0" u="none" strike="noStrike" cap="none">
                <a:solidFill>
                  <a:srgbClr val="000000"/>
                </a:solidFill>
                <a:latin typeface="Arial"/>
                <a:ea typeface="Arial"/>
                <a:cs typeface="Arial"/>
                <a:sym typeface="Arial"/>
              </a:rPr>
              <a:t>F</a:t>
            </a:r>
            <a:endParaRPr sz="1400" b="0" i="0" u="none" strike="noStrike" cap="none">
              <a:solidFill>
                <a:srgbClr val="000000"/>
              </a:solidFill>
              <a:latin typeface="Arial"/>
              <a:ea typeface="Arial"/>
              <a:cs typeface="Arial"/>
              <a:sym typeface="Arial"/>
            </a:endParaRPr>
          </a:p>
        </p:txBody>
      </p:sp>
      <p:sp>
        <p:nvSpPr>
          <p:cNvPr id="489" name="Google Shape;489;p5"/>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5"/>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3 · EXPERIMENT SETUP</a:t>
            </a:r>
            <a:endParaRPr sz="1400" b="0" i="0" u="none" strike="noStrike" cap="none">
              <a:solidFill>
                <a:srgbClr val="000000"/>
              </a:solidFill>
              <a:latin typeface="Arial"/>
              <a:ea typeface="Arial"/>
              <a:cs typeface="Arial"/>
              <a:sym typeface="Arial"/>
            </a:endParaRPr>
          </a:p>
        </p:txBody>
      </p:sp>
      <p:cxnSp>
        <p:nvCxnSpPr>
          <p:cNvPr id="491" name="Google Shape;491;p5"/>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pic>
        <p:nvPicPr>
          <p:cNvPr id="492" name="Google Shape;492;p5"/>
          <p:cNvPicPr preferRelativeResize="0"/>
          <p:nvPr/>
        </p:nvPicPr>
        <p:blipFill rotWithShape="1">
          <a:blip r:embed="rId3">
            <a:alphaModFix/>
          </a:blip>
          <a:srcRect/>
          <a:stretch/>
        </p:blipFill>
        <p:spPr>
          <a:xfrm>
            <a:off x="1242050" y="3391667"/>
            <a:ext cx="848838" cy="164700"/>
          </a:xfrm>
          <a:prstGeom prst="rect">
            <a:avLst/>
          </a:prstGeom>
          <a:noFill/>
          <a:ln>
            <a:noFill/>
          </a:ln>
        </p:spPr>
      </p:pic>
      <p:pic>
        <p:nvPicPr>
          <p:cNvPr id="493" name="Google Shape;493;p5"/>
          <p:cNvPicPr preferRelativeResize="0"/>
          <p:nvPr/>
        </p:nvPicPr>
        <p:blipFill rotWithShape="1">
          <a:blip r:embed="rId4">
            <a:alphaModFix/>
          </a:blip>
          <a:srcRect/>
          <a:stretch/>
        </p:blipFill>
        <p:spPr>
          <a:xfrm>
            <a:off x="1574900" y="3233417"/>
            <a:ext cx="391050" cy="125675"/>
          </a:xfrm>
          <a:prstGeom prst="rect">
            <a:avLst/>
          </a:prstGeom>
          <a:noFill/>
          <a:ln>
            <a:noFill/>
          </a:ln>
        </p:spPr>
      </p:pic>
      <p:pic>
        <p:nvPicPr>
          <p:cNvPr id="494" name="Google Shape;494;p5"/>
          <p:cNvPicPr preferRelativeResize="0"/>
          <p:nvPr/>
        </p:nvPicPr>
        <p:blipFill rotWithShape="1">
          <a:blip r:embed="rId5">
            <a:alphaModFix/>
          </a:blip>
          <a:srcRect/>
          <a:stretch/>
        </p:blipFill>
        <p:spPr>
          <a:xfrm>
            <a:off x="7095474" y="3213911"/>
            <a:ext cx="733304" cy="164700"/>
          </a:xfrm>
          <a:prstGeom prst="rect">
            <a:avLst/>
          </a:prstGeom>
          <a:noFill/>
          <a:ln>
            <a:noFill/>
          </a:ln>
        </p:spPr>
      </p:pic>
      <p:pic>
        <p:nvPicPr>
          <p:cNvPr id="495" name="Google Shape;495;p5"/>
          <p:cNvPicPr preferRelativeResize="0"/>
          <p:nvPr/>
        </p:nvPicPr>
        <p:blipFill rotWithShape="1">
          <a:blip r:embed="rId6">
            <a:alphaModFix/>
          </a:blip>
          <a:srcRect/>
          <a:stretch/>
        </p:blipFill>
        <p:spPr>
          <a:xfrm>
            <a:off x="6761500" y="3391675"/>
            <a:ext cx="1108897" cy="125675"/>
          </a:xfrm>
          <a:prstGeom prst="rect">
            <a:avLst/>
          </a:prstGeom>
          <a:noFill/>
          <a:ln>
            <a:noFill/>
          </a:ln>
        </p:spPr>
      </p:pic>
      <p:sp>
        <p:nvSpPr>
          <p:cNvPr id="496" name="Google Shape;496;p5"/>
          <p:cNvSpPr txBox="1"/>
          <p:nvPr/>
        </p:nvSpPr>
        <p:spPr>
          <a:xfrm>
            <a:off x="7918700" y="3292963"/>
            <a:ext cx="30000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900"/>
              <a:t>scalar dark-matter particle </a:t>
            </a:r>
            <a:endParaRPr sz="900"/>
          </a:p>
        </p:txBody>
      </p:sp>
      <p:sp>
        <p:nvSpPr>
          <p:cNvPr id="497" name="Google Shape;497;p5"/>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5"/>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500" name="Google Shape;500;p5"/>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altLang="zh-TW" sz="1000" b="1" i="0" u="none" strike="noStrike" cap="none" dirty="0">
                <a:solidFill>
                  <a:srgbClr val="06507A"/>
                </a:solidFill>
                <a:latin typeface="Arial"/>
                <a:ea typeface="Arial"/>
                <a:cs typeface="Arial"/>
                <a:sym typeface="Arial"/>
              </a:rPr>
              <a:t>10</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g3f5396f6f7a_0_56"/>
          <p:cNvSpPr txBox="1"/>
          <p:nvPr/>
        </p:nvSpPr>
        <p:spPr>
          <a:xfrm>
            <a:off x="338328" y="836715"/>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400" b="1" i="0" u="none" strike="noStrike" cap="none">
                <a:solidFill>
                  <a:srgbClr val="0B0B0B"/>
                </a:solidFill>
                <a:latin typeface="Arial"/>
                <a:ea typeface="Arial"/>
                <a:cs typeface="Arial"/>
                <a:sym typeface="Arial"/>
              </a:rPr>
              <a:t>Experiment 1</a:t>
            </a:r>
            <a:endParaRPr sz="2400" b="1" i="0" u="none" strike="noStrike" cap="none">
              <a:solidFill>
                <a:srgbClr val="0B0B0B"/>
              </a:solidFill>
              <a:latin typeface="Arial"/>
              <a:ea typeface="Arial"/>
              <a:cs typeface="Arial"/>
              <a:sym typeface="Arial"/>
            </a:endParaRPr>
          </a:p>
        </p:txBody>
      </p:sp>
      <p:sp>
        <p:nvSpPr>
          <p:cNvPr id="506" name="Google Shape;506;g3f5396f6f7a_0_56"/>
          <p:cNvSpPr txBox="1"/>
          <p:nvPr/>
        </p:nvSpPr>
        <p:spPr>
          <a:xfrm>
            <a:off x="448056" y="429768"/>
            <a:ext cx="9784200" cy="186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chemeClr val="dk1"/>
              </a:buClr>
              <a:buSzPts val="850"/>
              <a:buFont typeface="Arial"/>
              <a:buNone/>
            </a:pPr>
            <a:r>
              <a:rPr lang="en-US" sz="850" b="0" i="0" u="none" strike="noStrike" cap="none">
                <a:solidFill>
                  <a:srgbClr val="5A5A5A"/>
                </a:solidFill>
                <a:latin typeface="Arial"/>
                <a:ea typeface="Arial"/>
                <a:cs typeface="Arial"/>
                <a:sym typeface="Arial"/>
              </a:rPr>
              <a:t>Main benchmark: resonant Higgs over tt̄ background</a:t>
            </a:r>
            <a:endParaRPr sz="850" b="0" i="0" u="none" strike="noStrike" cap="none">
              <a:solidFill>
                <a:srgbClr val="5A5A5A"/>
              </a:solidFill>
              <a:latin typeface="Arial"/>
              <a:ea typeface="Arial"/>
              <a:cs typeface="Arial"/>
              <a:sym typeface="Arial"/>
            </a:endParaRPr>
          </a:p>
        </p:txBody>
      </p:sp>
      <p:sp>
        <p:nvSpPr>
          <p:cNvPr id="507" name="Google Shape;507;g3f5396f6f7a_0_56"/>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g3f5396f6f7a_0_56"/>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4 · DATA SIMULATION</a:t>
            </a:r>
            <a:endParaRPr sz="1000" b="1" i="0" u="none" strike="noStrike" cap="none">
              <a:solidFill>
                <a:srgbClr val="06507A"/>
              </a:solidFill>
              <a:latin typeface="Arial"/>
              <a:ea typeface="Arial"/>
              <a:cs typeface="Arial"/>
              <a:sym typeface="Arial"/>
            </a:endParaRPr>
          </a:p>
        </p:txBody>
      </p:sp>
      <p:cxnSp>
        <p:nvCxnSpPr>
          <p:cNvPr id="509" name="Google Shape;509;g3f5396f6f7a_0_56"/>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510" name="Google Shape;510;g3f5396f6f7a_0_56"/>
          <p:cNvSpPr/>
          <p:nvPr/>
        </p:nvSpPr>
        <p:spPr>
          <a:xfrm>
            <a:off x="502920" y="1649632"/>
            <a:ext cx="2743200" cy="960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g3f5396f6f7a_0_56"/>
          <p:cNvSpPr/>
          <p:nvPr/>
        </p:nvSpPr>
        <p:spPr>
          <a:xfrm>
            <a:off x="502920" y="1670698"/>
            <a:ext cx="54900" cy="9600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g3f5396f6f7a_0_56"/>
          <p:cNvSpPr txBox="1"/>
          <p:nvPr/>
        </p:nvSpPr>
        <p:spPr>
          <a:xfrm>
            <a:off x="630936" y="1722784"/>
            <a:ext cx="25419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Physics processes</a:t>
            </a:r>
            <a:endParaRPr sz="1400" b="0" i="0" u="none" strike="noStrike" cap="none">
              <a:solidFill>
                <a:srgbClr val="000000"/>
              </a:solidFill>
              <a:latin typeface="Arial"/>
              <a:ea typeface="Arial"/>
              <a:cs typeface="Arial"/>
              <a:sym typeface="Arial"/>
            </a:endParaRPr>
          </a:p>
        </p:txBody>
      </p:sp>
      <p:sp>
        <p:nvSpPr>
          <p:cNvPr id="513" name="Google Shape;513;g3f5396f6f7a_0_56"/>
          <p:cNvSpPr txBox="1"/>
          <p:nvPr/>
        </p:nvSpPr>
        <p:spPr>
          <a:xfrm>
            <a:off x="630936" y="1997104"/>
            <a:ext cx="2514600" cy="633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68"/>
              <a:buFont typeface="Arial"/>
              <a:buNone/>
            </a:pPr>
            <a:r>
              <a:rPr lang="en-US" sz="969" b="0" i="0" u="none" strike="noStrike" cap="none">
                <a:solidFill>
                  <a:srgbClr val="000000"/>
                </a:solidFill>
                <a:latin typeface="Arial"/>
                <a:ea typeface="Arial"/>
                <a:cs typeface="Arial"/>
                <a:sym typeface="Arial"/>
              </a:rPr>
              <a:t>Background:</a:t>
            </a:r>
            <a:br>
              <a:rPr lang="en-US" sz="1400" b="0" i="0" u="none" strike="noStrike" cap="none">
                <a:solidFill>
                  <a:srgbClr val="000000"/>
                </a:solidFill>
                <a:latin typeface="Arial"/>
                <a:ea typeface="Arial"/>
                <a:cs typeface="Arial"/>
                <a:sym typeface="Arial"/>
              </a:rPr>
            </a:br>
            <a:r>
              <a:rPr lang="en-US" sz="969" b="0" i="0" u="none" strike="noStrike" cap="none">
                <a:solidFill>
                  <a:srgbClr val="000000"/>
                </a:solidFill>
                <a:latin typeface="Arial"/>
                <a:ea typeface="Arial"/>
                <a:cs typeface="Arial"/>
                <a:sym typeface="Arial"/>
              </a:rPr>
              <a:t>Signal:</a:t>
            </a:r>
            <a:br>
              <a:rPr lang="en-US" sz="1400" b="0" i="0" u="none" strike="noStrike" cap="none">
                <a:solidFill>
                  <a:srgbClr val="000000"/>
                </a:solidFill>
                <a:latin typeface="Arial"/>
                <a:ea typeface="Arial"/>
                <a:cs typeface="Arial"/>
                <a:sym typeface="Arial"/>
              </a:rPr>
            </a:br>
            <a:r>
              <a:rPr lang="en-US" sz="969" b="0" i="0" u="none" strike="noStrike" cap="none">
                <a:solidFill>
                  <a:srgbClr val="000000"/>
                </a:solidFill>
                <a:latin typeface="Arial"/>
                <a:ea typeface="Arial"/>
                <a:cs typeface="Arial"/>
                <a:sym typeface="Arial"/>
              </a:rPr>
              <a:t>√s = 14 TeV</a:t>
            </a:r>
            <a:br>
              <a:rPr lang="en-US" sz="1400" b="0" i="0" u="none" strike="noStrike" cap="none">
                <a:solidFill>
                  <a:srgbClr val="000000"/>
                </a:solidFill>
                <a:latin typeface="Arial"/>
                <a:ea typeface="Arial"/>
                <a:cs typeface="Arial"/>
                <a:sym typeface="Arial"/>
              </a:rPr>
            </a:br>
            <a:r>
              <a:rPr lang="en-US" sz="969" b="0" i="0" u="none" strike="noStrike" cap="none">
                <a:solidFill>
                  <a:srgbClr val="000000"/>
                </a:solidFill>
                <a:latin typeface="Arial"/>
                <a:ea typeface="Arial"/>
                <a:cs typeface="Arial"/>
                <a:sym typeface="Arial"/>
              </a:rPr>
              <a:t>mH = 1.0, 1.5, 2.0, 2.5 TeV</a:t>
            </a:r>
            <a:endParaRPr sz="1400" b="0" i="0" u="none" strike="noStrike" cap="none">
              <a:solidFill>
                <a:srgbClr val="000000"/>
              </a:solidFill>
              <a:latin typeface="Arial"/>
              <a:ea typeface="Arial"/>
              <a:cs typeface="Arial"/>
              <a:sym typeface="Arial"/>
            </a:endParaRPr>
          </a:p>
        </p:txBody>
      </p:sp>
      <p:sp>
        <p:nvSpPr>
          <p:cNvPr id="514" name="Google Shape;514;g3f5396f6f7a_0_56"/>
          <p:cNvSpPr/>
          <p:nvPr/>
        </p:nvSpPr>
        <p:spPr>
          <a:xfrm>
            <a:off x="3520440" y="1649632"/>
            <a:ext cx="2743200" cy="960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g3f5396f6f7a_0_56"/>
          <p:cNvSpPr/>
          <p:nvPr/>
        </p:nvSpPr>
        <p:spPr>
          <a:xfrm>
            <a:off x="3520440" y="1649632"/>
            <a:ext cx="54900" cy="9600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g3f5396f6f7a_0_56"/>
          <p:cNvSpPr txBox="1"/>
          <p:nvPr/>
        </p:nvSpPr>
        <p:spPr>
          <a:xfrm>
            <a:off x="3648456" y="1722784"/>
            <a:ext cx="25419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Event generation chain</a:t>
            </a:r>
            <a:endParaRPr sz="1400" b="0" i="0" u="none" strike="noStrike" cap="none">
              <a:solidFill>
                <a:srgbClr val="000000"/>
              </a:solidFill>
              <a:latin typeface="Arial"/>
              <a:ea typeface="Arial"/>
              <a:cs typeface="Arial"/>
              <a:sym typeface="Arial"/>
            </a:endParaRPr>
          </a:p>
        </p:txBody>
      </p:sp>
      <p:sp>
        <p:nvSpPr>
          <p:cNvPr id="517" name="Google Shape;517;g3f5396f6f7a_0_56"/>
          <p:cNvSpPr txBox="1"/>
          <p:nvPr/>
        </p:nvSpPr>
        <p:spPr>
          <a:xfrm>
            <a:off x="3648456" y="1997104"/>
            <a:ext cx="2514600" cy="609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30"/>
              <a:buFont typeface="Arial"/>
              <a:buNone/>
            </a:pPr>
            <a:r>
              <a:rPr lang="en-US" sz="930" b="0" i="0" u="none" strike="noStrike" cap="none">
                <a:solidFill>
                  <a:srgbClr val="000000"/>
                </a:solidFill>
                <a:latin typeface="Arial"/>
                <a:ea typeface="Arial"/>
                <a:cs typeface="Arial"/>
                <a:sym typeface="Arial"/>
              </a:rPr>
              <a:t>MadGraph5_aMC@NLO → Pythia8 → Delphes3 → FastJet</a:t>
            </a:r>
            <a:br>
              <a:rPr lang="en-US" sz="1400" b="0" i="0" u="none" strike="noStrike" cap="none">
                <a:solidFill>
                  <a:srgbClr val="000000"/>
                </a:solidFill>
                <a:latin typeface="Arial"/>
                <a:ea typeface="Arial"/>
                <a:cs typeface="Arial"/>
                <a:sym typeface="Arial"/>
              </a:rPr>
            </a:br>
            <a:r>
              <a:rPr lang="en-US" sz="930" b="0" i="0" u="none" strike="noStrike" cap="none">
                <a:solidFill>
                  <a:srgbClr val="000000"/>
                </a:solidFill>
                <a:latin typeface="Arial"/>
                <a:ea typeface="Arial"/>
                <a:cs typeface="Arial"/>
                <a:sym typeface="Arial"/>
              </a:rPr>
              <a:t>Hard scattering → shower/hadronization → detector → jets</a:t>
            </a:r>
            <a:endParaRPr sz="1400" b="0" i="0" u="none" strike="noStrike" cap="none">
              <a:solidFill>
                <a:srgbClr val="000000"/>
              </a:solidFill>
              <a:latin typeface="Arial"/>
              <a:ea typeface="Arial"/>
              <a:cs typeface="Arial"/>
              <a:sym typeface="Arial"/>
            </a:endParaRPr>
          </a:p>
        </p:txBody>
      </p:sp>
      <p:sp>
        <p:nvSpPr>
          <p:cNvPr id="518" name="Google Shape;518;g3f5396f6f7a_0_56"/>
          <p:cNvSpPr/>
          <p:nvPr/>
        </p:nvSpPr>
        <p:spPr>
          <a:xfrm>
            <a:off x="6537960" y="1649632"/>
            <a:ext cx="2377500" cy="960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g3f5396f6f7a_0_56"/>
          <p:cNvSpPr/>
          <p:nvPr/>
        </p:nvSpPr>
        <p:spPr>
          <a:xfrm>
            <a:off x="6537960" y="1649632"/>
            <a:ext cx="54900" cy="9600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g3f5396f6f7a_0_56"/>
          <p:cNvSpPr txBox="1"/>
          <p:nvPr/>
        </p:nvSpPr>
        <p:spPr>
          <a:xfrm>
            <a:off x="6665976" y="1722784"/>
            <a:ext cx="21762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Dataset size</a:t>
            </a:r>
            <a:endParaRPr sz="1400" b="0" i="0" u="none" strike="noStrike" cap="none">
              <a:solidFill>
                <a:srgbClr val="000000"/>
              </a:solidFill>
              <a:latin typeface="Arial"/>
              <a:ea typeface="Arial"/>
              <a:cs typeface="Arial"/>
              <a:sym typeface="Arial"/>
            </a:endParaRPr>
          </a:p>
        </p:txBody>
      </p:sp>
      <p:sp>
        <p:nvSpPr>
          <p:cNvPr id="521" name="Google Shape;521;g3f5396f6f7a_0_56"/>
          <p:cNvSpPr txBox="1"/>
          <p:nvPr/>
        </p:nvSpPr>
        <p:spPr>
          <a:xfrm>
            <a:off x="6665976" y="1997104"/>
            <a:ext cx="2148900" cy="4845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68"/>
              <a:buFont typeface="Arial"/>
              <a:buNone/>
            </a:pPr>
            <a:r>
              <a:rPr lang="en-US" sz="969" b="0" i="0" u="none" strike="noStrike" cap="none">
                <a:solidFill>
                  <a:srgbClr val="000000"/>
                </a:solidFill>
                <a:latin typeface="Arial"/>
                <a:ea typeface="Arial"/>
                <a:cs typeface="Arial"/>
                <a:sym typeface="Arial"/>
              </a:rPr>
              <a:t>Background ≈30k</a:t>
            </a:r>
            <a:br>
              <a:rPr lang="en-US" sz="1400" b="0" i="0" u="none" strike="noStrike" cap="none">
                <a:solidFill>
                  <a:srgbClr val="000000"/>
                </a:solidFill>
                <a:latin typeface="Arial"/>
                <a:ea typeface="Arial"/>
                <a:cs typeface="Arial"/>
                <a:sym typeface="Arial"/>
              </a:rPr>
            </a:br>
            <a:r>
              <a:rPr lang="en-US" sz="969" b="0" i="0" u="none" strike="noStrike" cap="none">
                <a:solidFill>
                  <a:srgbClr val="000000"/>
                </a:solidFill>
                <a:latin typeface="Arial"/>
                <a:ea typeface="Arial"/>
                <a:cs typeface="Arial"/>
                <a:sym typeface="Arial"/>
              </a:rPr>
              <a:t>10k train · 5k validation · 15k test</a:t>
            </a:r>
            <a:br>
              <a:rPr lang="en-US" sz="1400" b="0" i="0" u="none" strike="noStrike" cap="none">
                <a:solidFill>
                  <a:srgbClr val="000000"/>
                </a:solidFill>
                <a:latin typeface="Arial"/>
                <a:ea typeface="Arial"/>
                <a:cs typeface="Arial"/>
                <a:sym typeface="Arial"/>
              </a:rPr>
            </a:br>
            <a:r>
              <a:rPr lang="en-US" sz="969" b="0" i="0" u="none" strike="noStrike" cap="none">
                <a:solidFill>
                  <a:srgbClr val="000000"/>
                </a:solidFill>
                <a:latin typeface="Arial"/>
                <a:ea typeface="Arial"/>
                <a:cs typeface="Arial"/>
                <a:sym typeface="Arial"/>
              </a:rPr>
              <a:t>Signal ≈15k per mass</a:t>
            </a:r>
            <a:endParaRPr sz="1400" b="0" i="0" u="none" strike="noStrike" cap="none">
              <a:solidFill>
                <a:srgbClr val="000000"/>
              </a:solidFill>
              <a:latin typeface="Arial"/>
              <a:ea typeface="Arial"/>
              <a:cs typeface="Arial"/>
              <a:sym typeface="Arial"/>
            </a:endParaRPr>
          </a:p>
        </p:txBody>
      </p:sp>
      <p:sp>
        <p:nvSpPr>
          <p:cNvPr id="522" name="Google Shape;522;g3f5396f6f7a_0_56"/>
          <p:cNvSpPr/>
          <p:nvPr/>
        </p:nvSpPr>
        <p:spPr>
          <a:xfrm>
            <a:off x="9189720" y="1649632"/>
            <a:ext cx="2377500" cy="960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g3f5396f6f7a_0_56"/>
          <p:cNvSpPr/>
          <p:nvPr/>
        </p:nvSpPr>
        <p:spPr>
          <a:xfrm>
            <a:off x="9189720" y="1649632"/>
            <a:ext cx="54900" cy="9600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g3f5396f6f7a_0_56"/>
          <p:cNvSpPr txBox="1"/>
          <p:nvPr/>
        </p:nvSpPr>
        <p:spPr>
          <a:xfrm>
            <a:off x="9317736" y="1722784"/>
            <a:ext cx="21762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Object cuts</a:t>
            </a:r>
            <a:endParaRPr sz="1400" b="0" i="0" u="none" strike="noStrike" cap="none">
              <a:solidFill>
                <a:srgbClr val="000000"/>
              </a:solidFill>
              <a:latin typeface="Arial"/>
              <a:ea typeface="Arial"/>
              <a:cs typeface="Arial"/>
              <a:sym typeface="Arial"/>
            </a:endParaRPr>
          </a:p>
        </p:txBody>
      </p:sp>
      <p:sp>
        <p:nvSpPr>
          <p:cNvPr id="525" name="Google Shape;525;g3f5396f6f7a_0_56"/>
          <p:cNvSpPr txBox="1"/>
          <p:nvPr/>
        </p:nvSpPr>
        <p:spPr>
          <a:xfrm>
            <a:off x="9317736" y="1997104"/>
            <a:ext cx="2148900" cy="609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30"/>
              <a:buFont typeface="Arial"/>
              <a:buNone/>
            </a:pPr>
            <a:r>
              <a:rPr lang="en-US" sz="930" b="0" i="0" u="none" strike="noStrike" cap="none">
                <a:solidFill>
                  <a:srgbClr val="000000"/>
                </a:solidFill>
                <a:latin typeface="Arial"/>
                <a:ea typeface="Arial"/>
                <a:cs typeface="Arial"/>
                <a:sym typeface="Arial"/>
              </a:rPr>
              <a:t>anti-kₜ jets, R = 0.5</a:t>
            </a:r>
            <a:br>
              <a:rPr lang="en-US" sz="1400" b="0" i="0" u="none" strike="noStrike" cap="none">
                <a:solidFill>
                  <a:srgbClr val="000000"/>
                </a:solidFill>
                <a:latin typeface="Arial"/>
                <a:ea typeface="Arial"/>
                <a:cs typeface="Arial"/>
                <a:sym typeface="Arial"/>
              </a:rPr>
            </a:br>
            <a:r>
              <a:rPr lang="en-US" sz="930" b="0" i="0" u="none" strike="noStrike" cap="none">
                <a:solidFill>
                  <a:srgbClr val="000000"/>
                </a:solidFill>
                <a:latin typeface="Arial"/>
                <a:ea typeface="Arial"/>
                <a:cs typeface="Arial"/>
                <a:sym typeface="Arial"/>
              </a:rPr>
              <a:t>b-jets: pₜᵇ &gt; 30 GeV</a:t>
            </a:r>
            <a:br>
              <a:rPr lang="en-US" sz="1400" b="0" i="0" u="none" strike="noStrike" cap="none">
                <a:solidFill>
                  <a:srgbClr val="000000"/>
                </a:solidFill>
                <a:latin typeface="Arial"/>
                <a:ea typeface="Arial"/>
                <a:cs typeface="Arial"/>
                <a:sym typeface="Arial"/>
              </a:rPr>
            </a:br>
            <a:r>
              <a:rPr lang="en-US" sz="930" b="0" i="0" u="none" strike="noStrike" cap="none">
                <a:solidFill>
                  <a:srgbClr val="000000"/>
                </a:solidFill>
                <a:latin typeface="Arial"/>
                <a:ea typeface="Arial"/>
                <a:cs typeface="Arial"/>
                <a:sym typeface="Arial"/>
              </a:rPr>
              <a:t>muons: pₜˡ &gt; 30 GeV</a:t>
            </a:r>
            <a:br>
              <a:rPr lang="en-US" sz="1400" b="0" i="0" u="none" strike="noStrike" cap="none">
                <a:solidFill>
                  <a:srgbClr val="000000"/>
                </a:solidFill>
                <a:latin typeface="Arial"/>
                <a:ea typeface="Arial"/>
                <a:cs typeface="Arial"/>
                <a:sym typeface="Arial"/>
              </a:rPr>
            </a:br>
            <a:r>
              <a:rPr lang="en-US" sz="930" b="0" i="0" u="none" strike="noStrike" cap="none">
                <a:solidFill>
                  <a:srgbClr val="000000"/>
                </a:solidFill>
                <a:latin typeface="Arial"/>
                <a:ea typeface="Arial"/>
                <a:cs typeface="Arial"/>
                <a:sym typeface="Arial"/>
              </a:rPr>
              <a:t>isolation R = 0.5</a:t>
            </a:r>
            <a:endParaRPr sz="1400" b="0" i="0" u="none" strike="noStrike" cap="none">
              <a:solidFill>
                <a:srgbClr val="000000"/>
              </a:solidFill>
              <a:latin typeface="Arial"/>
              <a:ea typeface="Arial"/>
              <a:cs typeface="Arial"/>
              <a:sym typeface="Arial"/>
            </a:endParaRPr>
          </a:p>
        </p:txBody>
      </p:sp>
      <p:sp>
        <p:nvSpPr>
          <p:cNvPr id="526" name="Google Shape;526;g3f5396f6f7a_0_56"/>
          <p:cNvSpPr txBox="1"/>
          <p:nvPr/>
        </p:nvSpPr>
        <p:spPr>
          <a:xfrm>
            <a:off x="594360" y="2957224"/>
            <a:ext cx="4389000" cy="2523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5276"/>
                </a:solidFill>
                <a:latin typeface="Arial"/>
                <a:ea typeface="Arial"/>
                <a:cs typeface="Arial"/>
                <a:sym typeface="Arial"/>
              </a:rPr>
              <a:t>Decay and reconstruction logic</a:t>
            </a:r>
            <a:endParaRPr sz="1400" b="0" i="0" u="none" strike="noStrike" cap="none">
              <a:solidFill>
                <a:srgbClr val="000000"/>
              </a:solidFill>
              <a:latin typeface="Arial"/>
              <a:ea typeface="Arial"/>
              <a:cs typeface="Arial"/>
              <a:sym typeface="Arial"/>
            </a:endParaRPr>
          </a:p>
        </p:txBody>
      </p:sp>
      <p:sp>
        <p:nvSpPr>
          <p:cNvPr id="527" name="Google Shape;527;g3f5396f6f7a_0_56"/>
          <p:cNvSpPr/>
          <p:nvPr/>
        </p:nvSpPr>
        <p:spPr>
          <a:xfrm>
            <a:off x="594360" y="3249832"/>
            <a:ext cx="4526400" cy="685800"/>
          </a:xfrm>
          <a:prstGeom prst="rect">
            <a:avLst/>
          </a:prstGeom>
          <a:solidFill>
            <a:srgbClr val="F5F7F8"/>
          </a:solidFill>
          <a:ln w="9525" cap="flat" cmpd="sng">
            <a:solidFill>
              <a:srgbClr val="BEC4C8"/>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g3f5396f6f7a_0_56"/>
          <p:cNvSpPr txBox="1"/>
          <p:nvPr/>
        </p:nvSpPr>
        <p:spPr>
          <a:xfrm>
            <a:off x="685800" y="3341272"/>
            <a:ext cx="4343400" cy="2832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Math"/>
                <a:ea typeface="Cambria Math"/>
                <a:cs typeface="Cambria Math"/>
                <a:sym typeface="Cambria Math"/>
              </a:rPr>
              <a:t>H → t t̄,     t → bW,     W → μν</a:t>
            </a:r>
            <a:endParaRPr sz="1400" b="0" i="0" u="none" strike="noStrike" cap="none">
              <a:solidFill>
                <a:srgbClr val="000000"/>
              </a:solidFill>
              <a:latin typeface="Arial"/>
              <a:ea typeface="Arial"/>
              <a:cs typeface="Arial"/>
              <a:sym typeface="Arial"/>
            </a:endParaRPr>
          </a:p>
        </p:txBody>
      </p:sp>
      <p:sp>
        <p:nvSpPr>
          <p:cNvPr id="529" name="Google Shape;529;g3f5396f6f7a_0_56"/>
          <p:cNvSpPr txBox="1"/>
          <p:nvPr/>
        </p:nvSpPr>
        <p:spPr>
          <a:xfrm>
            <a:off x="685800" y="4118512"/>
            <a:ext cx="4206300" cy="507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18"/>
              <a:buFont typeface="Arial"/>
              <a:buNone/>
            </a:pPr>
            <a:r>
              <a:rPr lang="en-US" sz="1019" b="0" i="0" u="none" strike="noStrike" cap="none">
                <a:solidFill>
                  <a:srgbClr val="000000"/>
                </a:solidFill>
                <a:latin typeface="Arial"/>
                <a:ea typeface="Arial"/>
                <a:cs typeface="Arial"/>
                <a:sym typeface="Arial"/>
              </a:rPr>
              <a:t>The analysis focuses on the muon channel. The reconstructed b-jet, two muons, and missing transverse energy become the compact event description.</a:t>
            </a:r>
            <a:endParaRPr sz="1400" b="0" i="0" u="none" strike="noStrike" cap="none">
              <a:solidFill>
                <a:srgbClr val="000000"/>
              </a:solidFill>
              <a:latin typeface="Arial"/>
              <a:ea typeface="Arial"/>
              <a:cs typeface="Arial"/>
              <a:sym typeface="Arial"/>
            </a:endParaRPr>
          </a:p>
        </p:txBody>
      </p:sp>
      <p:sp>
        <p:nvSpPr>
          <p:cNvPr id="530" name="Google Shape;530;g3f5396f6f7a_0_56"/>
          <p:cNvSpPr txBox="1"/>
          <p:nvPr/>
        </p:nvSpPr>
        <p:spPr>
          <a:xfrm>
            <a:off x="5532120" y="2957224"/>
            <a:ext cx="5303400" cy="2523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5276"/>
                </a:solidFill>
                <a:latin typeface="Arial"/>
                <a:ea typeface="Arial"/>
                <a:cs typeface="Arial"/>
                <a:sym typeface="Arial"/>
              </a:rPr>
              <a:t>Final 4D vector passed to the scaler</a:t>
            </a:r>
            <a:endParaRPr sz="1400" b="0" i="0" u="none" strike="noStrike" cap="none">
              <a:solidFill>
                <a:srgbClr val="000000"/>
              </a:solidFill>
              <a:latin typeface="Arial"/>
              <a:ea typeface="Arial"/>
              <a:cs typeface="Arial"/>
              <a:sym typeface="Arial"/>
            </a:endParaRPr>
          </a:p>
        </p:txBody>
      </p:sp>
      <p:sp>
        <p:nvSpPr>
          <p:cNvPr id="531" name="Google Shape;531;g3f5396f6f7a_0_56"/>
          <p:cNvSpPr/>
          <p:nvPr/>
        </p:nvSpPr>
        <p:spPr>
          <a:xfrm>
            <a:off x="5532120" y="3249832"/>
            <a:ext cx="5577900" cy="594300"/>
          </a:xfrm>
          <a:prstGeom prst="rect">
            <a:avLst/>
          </a:prstGeom>
          <a:solidFill>
            <a:srgbClr val="F5F7F8"/>
          </a:solidFill>
          <a:ln w="9525" cap="flat" cmpd="sng">
            <a:solidFill>
              <a:srgbClr val="BEC4C8"/>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g3f5396f6f7a_0_56"/>
          <p:cNvSpPr/>
          <p:nvPr/>
        </p:nvSpPr>
        <p:spPr>
          <a:xfrm>
            <a:off x="5532120" y="4118512"/>
            <a:ext cx="2651700" cy="567000"/>
          </a:xfrm>
          <a:prstGeom prst="roundRect">
            <a:avLst>
              <a:gd name="adj" fmla="val 16667"/>
            </a:avLst>
          </a:prstGeom>
          <a:solidFill>
            <a:srgbClr val="FFFFF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g3f5396f6f7a_0_56"/>
          <p:cNvSpPr/>
          <p:nvPr/>
        </p:nvSpPr>
        <p:spPr>
          <a:xfrm>
            <a:off x="5532120" y="4118512"/>
            <a:ext cx="54900" cy="5670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g3f5396f6f7a_0_56"/>
          <p:cNvSpPr txBox="1"/>
          <p:nvPr/>
        </p:nvSpPr>
        <p:spPr>
          <a:xfrm>
            <a:off x="5660136" y="4191664"/>
            <a:ext cx="2450700" cy="2217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5276"/>
                </a:solidFill>
                <a:latin typeface="Arial"/>
                <a:ea typeface="Arial"/>
                <a:cs typeface="Arial"/>
                <a:sym typeface="Arial"/>
              </a:rPr>
              <a:t>pₜᵇ¹</a:t>
            </a:r>
            <a:endParaRPr sz="1400" b="0" i="0" u="none" strike="noStrike" cap="none">
              <a:solidFill>
                <a:srgbClr val="000000"/>
              </a:solidFill>
              <a:latin typeface="Arial"/>
              <a:ea typeface="Arial"/>
              <a:cs typeface="Arial"/>
              <a:sym typeface="Arial"/>
            </a:endParaRPr>
          </a:p>
        </p:txBody>
      </p:sp>
      <p:sp>
        <p:nvSpPr>
          <p:cNvPr id="535" name="Google Shape;535;g3f5396f6f7a_0_56"/>
          <p:cNvSpPr txBox="1"/>
          <p:nvPr/>
        </p:nvSpPr>
        <p:spPr>
          <a:xfrm>
            <a:off x="5660136" y="4465983"/>
            <a:ext cx="2423100" cy="1725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880"/>
              <a:buFont typeface="Arial"/>
              <a:buNone/>
            </a:pPr>
            <a:r>
              <a:rPr lang="en-US" sz="880" b="0" i="0" u="none" strike="noStrike" cap="none">
                <a:solidFill>
                  <a:srgbClr val="000000"/>
                </a:solidFill>
                <a:latin typeface="Arial"/>
                <a:ea typeface="Arial"/>
                <a:cs typeface="Arial"/>
                <a:sym typeface="Arial"/>
              </a:rPr>
              <a:t>leading b-jet transverse momentum</a:t>
            </a:r>
            <a:endParaRPr sz="1400" b="0" i="0" u="none" strike="noStrike" cap="none">
              <a:solidFill>
                <a:srgbClr val="000000"/>
              </a:solidFill>
              <a:latin typeface="Arial"/>
              <a:ea typeface="Arial"/>
              <a:cs typeface="Arial"/>
              <a:sym typeface="Arial"/>
            </a:endParaRPr>
          </a:p>
        </p:txBody>
      </p:sp>
      <p:sp>
        <p:nvSpPr>
          <p:cNvPr id="536" name="Google Shape;536;g3f5396f6f7a_0_56"/>
          <p:cNvSpPr/>
          <p:nvPr/>
        </p:nvSpPr>
        <p:spPr>
          <a:xfrm>
            <a:off x="8412480" y="4118512"/>
            <a:ext cx="2651700" cy="567000"/>
          </a:xfrm>
          <a:prstGeom prst="roundRect">
            <a:avLst>
              <a:gd name="adj" fmla="val 16667"/>
            </a:avLst>
          </a:prstGeom>
          <a:solidFill>
            <a:srgbClr val="FFFFF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g3f5396f6f7a_0_56"/>
          <p:cNvSpPr/>
          <p:nvPr/>
        </p:nvSpPr>
        <p:spPr>
          <a:xfrm>
            <a:off x="8412480" y="4118512"/>
            <a:ext cx="54900" cy="5670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g3f5396f6f7a_0_56"/>
          <p:cNvSpPr txBox="1"/>
          <p:nvPr/>
        </p:nvSpPr>
        <p:spPr>
          <a:xfrm>
            <a:off x="8540496" y="4191664"/>
            <a:ext cx="2450700" cy="2217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5276"/>
                </a:solidFill>
                <a:latin typeface="Arial"/>
                <a:ea typeface="Arial"/>
                <a:cs typeface="Arial"/>
                <a:sym typeface="Arial"/>
              </a:rPr>
              <a:t>pₜˡ¹</a:t>
            </a:r>
            <a:endParaRPr sz="1400" b="0" i="0" u="none" strike="noStrike" cap="none">
              <a:solidFill>
                <a:srgbClr val="000000"/>
              </a:solidFill>
              <a:latin typeface="Arial"/>
              <a:ea typeface="Arial"/>
              <a:cs typeface="Arial"/>
              <a:sym typeface="Arial"/>
            </a:endParaRPr>
          </a:p>
        </p:txBody>
      </p:sp>
      <p:sp>
        <p:nvSpPr>
          <p:cNvPr id="539" name="Google Shape;539;g3f5396f6f7a_0_56"/>
          <p:cNvSpPr txBox="1"/>
          <p:nvPr/>
        </p:nvSpPr>
        <p:spPr>
          <a:xfrm>
            <a:off x="8540496" y="4465983"/>
            <a:ext cx="2423100" cy="1725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880"/>
              <a:buFont typeface="Arial"/>
              <a:buNone/>
            </a:pPr>
            <a:r>
              <a:rPr lang="en-US" sz="880" b="0" i="0" u="none" strike="noStrike" cap="none">
                <a:solidFill>
                  <a:srgbClr val="000000"/>
                </a:solidFill>
                <a:latin typeface="Arial"/>
                <a:ea typeface="Arial"/>
                <a:cs typeface="Arial"/>
                <a:sym typeface="Arial"/>
              </a:rPr>
              <a:t>highest-pₜ muon</a:t>
            </a:r>
            <a:endParaRPr sz="1400" b="0" i="0" u="none" strike="noStrike" cap="none">
              <a:solidFill>
                <a:srgbClr val="000000"/>
              </a:solidFill>
              <a:latin typeface="Arial"/>
              <a:ea typeface="Arial"/>
              <a:cs typeface="Arial"/>
              <a:sym typeface="Arial"/>
            </a:endParaRPr>
          </a:p>
        </p:txBody>
      </p:sp>
      <p:sp>
        <p:nvSpPr>
          <p:cNvPr id="540" name="Google Shape;540;g3f5396f6f7a_0_56"/>
          <p:cNvSpPr/>
          <p:nvPr/>
        </p:nvSpPr>
        <p:spPr>
          <a:xfrm>
            <a:off x="5532120" y="4895751"/>
            <a:ext cx="2651700" cy="567000"/>
          </a:xfrm>
          <a:prstGeom prst="roundRect">
            <a:avLst>
              <a:gd name="adj" fmla="val 16667"/>
            </a:avLst>
          </a:prstGeom>
          <a:solidFill>
            <a:srgbClr val="FFFFF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g3f5396f6f7a_0_56"/>
          <p:cNvSpPr/>
          <p:nvPr/>
        </p:nvSpPr>
        <p:spPr>
          <a:xfrm>
            <a:off x="5532120" y="4895751"/>
            <a:ext cx="54900" cy="5670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g3f5396f6f7a_0_56"/>
          <p:cNvSpPr txBox="1"/>
          <p:nvPr/>
        </p:nvSpPr>
        <p:spPr>
          <a:xfrm>
            <a:off x="5660136" y="4968904"/>
            <a:ext cx="2450700" cy="2217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5276"/>
                </a:solidFill>
                <a:latin typeface="Arial"/>
                <a:ea typeface="Arial"/>
                <a:cs typeface="Arial"/>
                <a:sym typeface="Arial"/>
              </a:rPr>
              <a:t>pₜˡ²</a:t>
            </a:r>
            <a:endParaRPr sz="1400" b="0" i="0" u="none" strike="noStrike" cap="none">
              <a:solidFill>
                <a:srgbClr val="000000"/>
              </a:solidFill>
              <a:latin typeface="Arial"/>
              <a:ea typeface="Arial"/>
              <a:cs typeface="Arial"/>
              <a:sym typeface="Arial"/>
            </a:endParaRPr>
          </a:p>
        </p:txBody>
      </p:sp>
      <p:sp>
        <p:nvSpPr>
          <p:cNvPr id="543" name="Google Shape;543;g3f5396f6f7a_0_56"/>
          <p:cNvSpPr txBox="1"/>
          <p:nvPr/>
        </p:nvSpPr>
        <p:spPr>
          <a:xfrm>
            <a:off x="5660136" y="5243223"/>
            <a:ext cx="2423100" cy="1725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880"/>
              <a:buFont typeface="Arial"/>
              <a:buNone/>
            </a:pPr>
            <a:r>
              <a:rPr lang="en-US" sz="880" b="0" i="0" u="none" strike="noStrike" cap="none">
                <a:solidFill>
                  <a:srgbClr val="000000"/>
                </a:solidFill>
                <a:latin typeface="Arial"/>
                <a:ea typeface="Arial"/>
                <a:cs typeface="Arial"/>
                <a:sym typeface="Arial"/>
              </a:rPr>
              <a:t>second-highest-pₜ muon</a:t>
            </a:r>
            <a:endParaRPr sz="1400" b="0" i="0" u="none" strike="noStrike" cap="none">
              <a:solidFill>
                <a:srgbClr val="000000"/>
              </a:solidFill>
              <a:latin typeface="Arial"/>
              <a:ea typeface="Arial"/>
              <a:cs typeface="Arial"/>
              <a:sym typeface="Arial"/>
            </a:endParaRPr>
          </a:p>
        </p:txBody>
      </p:sp>
      <p:sp>
        <p:nvSpPr>
          <p:cNvPr id="544" name="Google Shape;544;g3f5396f6f7a_0_56"/>
          <p:cNvSpPr/>
          <p:nvPr/>
        </p:nvSpPr>
        <p:spPr>
          <a:xfrm>
            <a:off x="8412480" y="4895751"/>
            <a:ext cx="2651700" cy="567000"/>
          </a:xfrm>
          <a:prstGeom prst="roundRect">
            <a:avLst>
              <a:gd name="adj" fmla="val 16667"/>
            </a:avLst>
          </a:prstGeom>
          <a:solidFill>
            <a:srgbClr val="FFFFF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g3f5396f6f7a_0_56"/>
          <p:cNvSpPr/>
          <p:nvPr/>
        </p:nvSpPr>
        <p:spPr>
          <a:xfrm>
            <a:off x="8412480" y="4895751"/>
            <a:ext cx="54900" cy="5670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g3f5396f6f7a_0_56"/>
          <p:cNvSpPr txBox="1"/>
          <p:nvPr/>
        </p:nvSpPr>
        <p:spPr>
          <a:xfrm>
            <a:off x="8540496" y="4968904"/>
            <a:ext cx="2450700" cy="2217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5276"/>
                </a:solidFill>
                <a:latin typeface="Arial"/>
                <a:ea typeface="Arial"/>
                <a:cs typeface="Arial"/>
                <a:sym typeface="Arial"/>
              </a:rPr>
              <a:t>E̸ₜ</a:t>
            </a:r>
            <a:endParaRPr sz="1400" b="0" i="0" u="none" strike="noStrike" cap="none">
              <a:solidFill>
                <a:srgbClr val="000000"/>
              </a:solidFill>
              <a:latin typeface="Arial"/>
              <a:ea typeface="Arial"/>
              <a:cs typeface="Arial"/>
              <a:sym typeface="Arial"/>
            </a:endParaRPr>
          </a:p>
        </p:txBody>
      </p:sp>
      <p:sp>
        <p:nvSpPr>
          <p:cNvPr id="547" name="Google Shape;547;g3f5396f6f7a_0_56"/>
          <p:cNvSpPr txBox="1"/>
          <p:nvPr/>
        </p:nvSpPr>
        <p:spPr>
          <a:xfrm>
            <a:off x="8540496" y="5243223"/>
            <a:ext cx="2423100" cy="1725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880"/>
              <a:buFont typeface="Arial"/>
              <a:buNone/>
            </a:pPr>
            <a:r>
              <a:rPr lang="en-US" sz="880" b="0" i="0" u="none" strike="noStrike" cap="none">
                <a:solidFill>
                  <a:srgbClr val="000000"/>
                </a:solidFill>
                <a:latin typeface="Arial"/>
                <a:ea typeface="Arial"/>
                <a:cs typeface="Arial"/>
                <a:sym typeface="Arial"/>
              </a:rPr>
              <a:t>missing transverse energy from invisible recoil</a:t>
            </a:r>
            <a:endParaRPr sz="1400" b="0" i="0" u="none" strike="noStrike" cap="none">
              <a:solidFill>
                <a:srgbClr val="000000"/>
              </a:solidFill>
              <a:latin typeface="Arial"/>
              <a:ea typeface="Arial"/>
              <a:cs typeface="Arial"/>
              <a:sym typeface="Arial"/>
            </a:endParaRPr>
          </a:p>
        </p:txBody>
      </p:sp>
      <p:sp>
        <p:nvSpPr>
          <p:cNvPr id="548" name="Google Shape;548;g3f5396f6f7a_0_56"/>
          <p:cNvSpPr txBox="1"/>
          <p:nvPr/>
        </p:nvSpPr>
        <p:spPr>
          <a:xfrm>
            <a:off x="292728" y="5717508"/>
            <a:ext cx="11155500" cy="198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5A5A5A"/>
                </a:solidFill>
                <a:latin typeface="Arial"/>
                <a:ea typeface="Arial"/>
                <a:cs typeface="Arial"/>
                <a:sym typeface="Arial"/>
              </a:rPr>
              <a:t>Data simulation emphasis: raw detector information is not used directly. The paper first compresses each event into a small, physically interpretable vector before any quantum encoding.</a:t>
            </a:r>
            <a:endParaRPr sz="1400" b="0" i="0" u="none" strike="noStrike" cap="none">
              <a:solidFill>
                <a:srgbClr val="000000"/>
              </a:solidFill>
              <a:latin typeface="Arial"/>
              <a:ea typeface="Arial"/>
              <a:cs typeface="Arial"/>
              <a:sym typeface="Arial"/>
            </a:endParaRPr>
          </a:p>
        </p:txBody>
      </p:sp>
      <p:pic>
        <p:nvPicPr>
          <p:cNvPr id="549" name="Google Shape;549;g3f5396f6f7a_0_56"/>
          <p:cNvPicPr preferRelativeResize="0"/>
          <p:nvPr/>
        </p:nvPicPr>
        <p:blipFill rotWithShape="1">
          <a:blip r:embed="rId3">
            <a:alphaModFix/>
          </a:blip>
          <a:srcRect/>
          <a:stretch/>
        </p:blipFill>
        <p:spPr>
          <a:xfrm>
            <a:off x="1079575" y="2179299"/>
            <a:ext cx="647718" cy="125675"/>
          </a:xfrm>
          <a:prstGeom prst="rect">
            <a:avLst/>
          </a:prstGeom>
          <a:noFill/>
          <a:ln>
            <a:noFill/>
          </a:ln>
        </p:spPr>
      </p:pic>
      <p:pic>
        <p:nvPicPr>
          <p:cNvPr id="550" name="Google Shape;550;g3f5396f6f7a_0_56"/>
          <p:cNvPicPr preferRelativeResize="0"/>
          <p:nvPr/>
        </p:nvPicPr>
        <p:blipFill rotWithShape="1">
          <a:blip r:embed="rId4">
            <a:alphaModFix/>
          </a:blip>
          <a:srcRect/>
          <a:stretch/>
        </p:blipFill>
        <p:spPr>
          <a:xfrm>
            <a:off x="1394500" y="2033005"/>
            <a:ext cx="391050" cy="125675"/>
          </a:xfrm>
          <a:prstGeom prst="rect">
            <a:avLst/>
          </a:prstGeom>
          <a:noFill/>
          <a:ln>
            <a:noFill/>
          </a:ln>
        </p:spPr>
      </p:pic>
      <p:pic>
        <p:nvPicPr>
          <p:cNvPr id="551" name="Google Shape;551;g3f5396f6f7a_0_56"/>
          <p:cNvPicPr preferRelativeResize="0"/>
          <p:nvPr/>
        </p:nvPicPr>
        <p:blipFill rotWithShape="1">
          <a:blip r:embed="rId5">
            <a:alphaModFix/>
          </a:blip>
          <a:srcRect/>
          <a:stretch/>
        </p:blipFill>
        <p:spPr>
          <a:xfrm>
            <a:off x="6807450" y="3236288"/>
            <a:ext cx="2752725" cy="600075"/>
          </a:xfrm>
          <a:prstGeom prst="rect">
            <a:avLst/>
          </a:prstGeom>
          <a:noFill/>
          <a:ln>
            <a:noFill/>
          </a:ln>
        </p:spPr>
      </p:pic>
      <p:sp>
        <p:nvSpPr>
          <p:cNvPr id="3" name="Google Shape;497;p5">
            <a:extLst>
              <a:ext uri="{FF2B5EF4-FFF2-40B4-BE49-F238E27FC236}">
                <a16:creationId xmlns:a16="http://schemas.microsoft.com/office/drawing/2014/main" id="{2EFED134-9460-2A60-661D-165182AE1C9E}"/>
              </a:ext>
            </a:extLst>
          </p:cNvPr>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 name="Google Shape;498;p5">
            <a:extLst>
              <a:ext uri="{FF2B5EF4-FFF2-40B4-BE49-F238E27FC236}">
                <a16:creationId xmlns:a16="http://schemas.microsoft.com/office/drawing/2014/main" id="{96782709-04B7-C14C-1074-68BC58BE94A9}"/>
              </a:ext>
            </a:extLst>
          </p:cNvPr>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9" name="Google Shape;500;p5">
            <a:extLst>
              <a:ext uri="{FF2B5EF4-FFF2-40B4-BE49-F238E27FC236}">
                <a16:creationId xmlns:a16="http://schemas.microsoft.com/office/drawing/2014/main" id="{37E7C38A-3776-C50A-582F-548C19CF0CF1}"/>
              </a:ext>
            </a:extLst>
          </p:cNvPr>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altLang="zh-TW" sz="1000" b="1" i="0" u="none" strike="noStrike" cap="none" dirty="0">
                <a:solidFill>
                  <a:srgbClr val="06507A"/>
                </a:solidFill>
                <a:latin typeface="Arial"/>
                <a:ea typeface="Arial"/>
                <a:cs typeface="Arial"/>
                <a:sym typeface="Arial"/>
              </a:rPr>
              <a:t>11</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g3f5396f6f7a_0_151"/>
          <p:cNvSpPr txBox="1"/>
          <p:nvPr/>
        </p:nvSpPr>
        <p:spPr>
          <a:xfrm>
            <a:off x="338328" y="836715"/>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400" b="1" i="0" u="none" strike="noStrike" cap="none">
                <a:solidFill>
                  <a:srgbClr val="0B0B0B"/>
                </a:solidFill>
                <a:latin typeface="Arial"/>
                <a:ea typeface="Arial"/>
                <a:cs typeface="Arial"/>
                <a:sym typeface="Arial"/>
              </a:rPr>
              <a:t>Experiment 2</a:t>
            </a:r>
            <a:endParaRPr sz="2400" b="1" i="0" u="none" strike="noStrike" cap="none">
              <a:solidFill>
                <a:srgbClr val="0B0B0B"/>
              </a:solidFill>
              <a:latin typeface="Arial"/>
              <a:ea typeface="Arial"/>
              <a:cs typeface="Arial"/>
              <a:sym typeface="Arial"/>
            </a:endParaRPr>
          </a:p>
        </p:txBody>
      </p:sp>
      <p:sp>
        <p:nvSpPr>
          <p:cNvPr id="561" name="Google Shape;561;g3f5396f6f7a_0_151"/>
          <p:cNvSpPr txBox="1"/>
          <p:nvPr/>
        </p:nvSpPr>
        <p:spPr>
          <a:xfrm>
            <a:off x="448056" y="429768"/>
            <a:ext cx="9784200" cy="186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chemeClr val="dk1"/>
              </a:buClr>
              <a:buSzPts val="850"/>
              <a:buFont typeface="Arial"/>
              <a:buNone/>
            </a:pPr>
            <a:r>
              <a:rPr lang="en-US" sz="850" b="0" i="0" u="none" strike="noStrike" cap="none">
                <a:solidFill>
                  <a:srgbClr val="5A5A5A"/>
                </a:solidFill>
                <a:latin typeface="Arial"/>
                <a:ea typeface="Arial"/>
                <a:cs typeface="Arial"/>
                <a:sym typeface="Arial"/>
              </a:rPr>
              <a:t>Main benchmark: resonant Higgs over tt̄ background</a:t>
            </a:r>
            <a:endParaRPr sz="850" b="0" i="0" u="none" strike="noStrike" cap="none">
              <a:solidFill>
                <a:srgbClr val="5A5A5A"/>
              </a:solidFill>
              <a:latin typeface="Arial"/>
              <a:ea typeface="Arial"/>
              <a:cs typeface="Arial"/>
              <a:sym typeface="Arial"/>
            </a:endParaRPr>
          </a:p>
        </p:txBody>
      </p:sp>
      <p:sp>
        <p:nvSpPr>
          <p:cNvPr id="562" name="Google Shape;562;g3f5396f6f7a_0_151"/>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3" name="Google Shape;563;g3f5396f6f7a_0_151"/>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4 · DATA SIMULATION</a:t>
            </a:r>
            <a:endParaRPr sz="1000" b="1" i="0" u="none" strike="noStrike" cap="none">
              <a:solidFill>
                <a:srgbClr val="06507A"/>
              </a:solidFill>
              <a:latin typeface="Arial"/>
              <a:ea typeface="Arial"/>
              <a:cs typeface="Arial"/>
              <a:sym typeface="Arial"/>
            </a:endParaRPr>
          </a:p>
        </p:txBody>
      </p:sp>
      <p:cxnSp>
        <p:nvCxnSpPr>
          <p:cNvPr id="564" name="Google Shape;564;g3f5396f6f7a_0_151"/>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565" name="Google Shape;565;g3f5396f6f7a_0_151"/>
          <p:cNvSpPr/>
          <p:nvPr/>
        </p:nvSpPr>
        <p:spPr>
          <a:xfrm>
            <a:off x="502920" y="1648570"/>
            <a:ext cx="2880300" cy="960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g3f5396f6f7a_0_151"/>
          <p:cNvSpPr/>
          <p:nvPr/>
        </p:nvSpPr>
        <p:spPr>
          <a:xfrm>
            <a:off x="502920" y="1648570"/>
            <a:ext cx="54900" cy="9600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7" name="Google Shape;567;g3f5396f6f7a_0_151"/>
          <p:cNvSpPr txBox="1"/>
          <p:nvPr/>
        </p:nvSpPr>
        <p:spPr>
          <a:xfrm>
            <a:off x="630936" y="1721722"/>
            <a:ext cx="26793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Physics processes</a:t>
            </a:r>
            <a:endParaRPr sz="1400" b="0" i="0" u="none" strike="noStrike" cap="none">
              <a:solidFill>
                <a:srgbClr val="000000"/>
              </a:solidFill>
              <a:latin typeface="Arial"/>
              <a:ea typeface="Arial"/>
              <a:cs typeface="Arial"/>
              <a:sym typeface="Arial"/>
            </a:endParaRPr>
          </a:p>
        </p:txBody>
      </p:sp>
      <p:sp>
        <p:nvSpPr>
          <p:cNvPr id="568" name="Google Shape;568;g3f5396f6f7a_0_151"/>
          <p:cNvSpPr txBox="1"/>
          <p:nvPr/>
        </p:nvSpPr>
        <p:spPr>
          <a:xfrm>
            <a:off x="630936" y="1996042"/>
            <a:ext cx="2651700" cy="6219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US" sz="950" b="0" i="0" u="none" strike="noStrike" cap="none">
                <a:solidFill>
                  <a:srgbClr val="000000"/>
                </a:solidFill>
                <a:latin typeface="Arial"/>
                <a:ea typeface="Arial"/>
                <a:cs typeface="Arial"/>
                <a:sym typeface="Arial"/>
              </a:rPr>
              <a:t>Background: </a:t>
            </a:r>
            <a:br>
              <a:rPr lang="en-US" sz="1400" b="0" i="0" u="none" strike="noStrike" cap="none">
                <a:solidFill>
                  <a:srgbClr val="000000"/>
                </a:solidFill>
                <a:latin typeface="Arial"/>
                <a:ea typeface="Arial"/>
                <a:cs typeface="Arial"/>
                <a:sym typeface="Arial"/>
              </a:rPr>
            </a:br>
            <a:r>
              <a:rPr lang="en-US" sz="950" b="0" i="0" u="none" strike="noStrike" cap="none">
                <a:solidFill>
                  <a:srgbClr val="000000"/>
                </a:solidFill>
                <a:latin typeface="Arial"/>
                <a:ea typeface="Arial"/>
                <a:cs typeface="Arial"/>
                <a:sym typeface="Arial"/>
              </a:rPr>
              <a:t>Signal:</a:t>
            </a:r>
            <a:br>
              <a:rPr lang="en-US" sz="1400" b="0" i="0" u="none" strike="noStrike" cap="none">
                <a:solidFill>
                  <a:srgbClr val="000000"/>
                </a:solidFill>
                <a:latin typeface="Arial"/>
                <a:ea typeface="Arial"/>
                <a:cs typeface="Arial"/>
                <a:sym typeface="Arial"/>
              </a:rPr>
            </a:br>
            <a:r>
              <a:rPr lang="en-US" sz="950" b="0" i="0" u="none" strike="noStrike" cap="none">
                <a:solidFill>
                  <a:srgbClr val="000000"/>
                </a:solidFill>
                <a:latin typeface="Arial"/>
                <a:ea typeface="Arial"/>
                <a:cs typeface="Arial"/>
                <a:sym typeface="Arial"/>
              </a:rPr>
              <a:t>The Higgs decays invisibly to scalar dark matter particles.</a:t>
            </a:r>
            <a:endParaRPr sz="1400" b="0" i="0" u="none" strike="noStrike" cap="none">
              <a:solidFill>
                <a:srgbClr val="000000"/>
              </a:solidFill>
              <a:latin typeface="Arial"/>
              <a:ea typeface="Arial"/>
              <a:cs typeface="Arial"/>
              <a:sym typeface="Arial"/>
            </a:endParaRPr>
          </a:p>
        </p:txBody>
      </p:sp>
      <p:sp>
        <p:nvSpPr>
          <p:cNvPr id="569" name="Google Shape;569;g3f5396f6f7a_0_151"/>
          <p:cNvSpPr/>
          <p:nvPr/>
        </p:nvSpPr>
        <p:spPr>
          <a:xfrm>
            <a:off x="3611880" y="1648570"/>
            <a:ext cx="2423100" cy="960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g3f5396f6f7a_0_151"/>
          <p:cNvSpPr/>
          <p:nvPr/>
        </p:nvSpPr>
        <p:spPr>
          <a:xfrm>
            <a:off x="3611880" y="1648570"/>
            <a:ext cx="54900" cy="9600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1" name="Google Shape;571;g3f5396f6f7a_0_151"/>
          <p:cNvSpPr txBox="1"/>
          <p:nvPr/>
        </p:nvSpPr>
        <p:spPr>
          <a:xfrm>
            <a:off x="3739896" y="1721722"/>
            <a:ext cx="22221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Generation and cuts</a:t>
            </a:r>
            <a:endParaRPr sz="1400" b="0" i="0" u="none" strike="noStrike" cap="none">
              <a:solidFill>
                <a:srgbClr val="000000"/>
              </a:solidFill>
              <a:latin typeface="Arial"/>
              <a:ea typeface="Arial"/>
              <a:cs typeface="Arial"/>
              <a:sym typeface="Arial"/>
            </a:endParaRPr>
          </a:p>
        </p:txBody>
      </p:sp>
      <p:sp>
        <p:nvSpPr>
          <p:cNvPr id="572" name="Google Shape;572;g3f5396f6f7a_0_151"/>
          <p:cNvSpPr txBox="1"/>
          <p:nvPr/>
        </p:nvSpPr>
        <p:spPr>
          <a:xfrm>
            <a:off x="3739900" y="1996050"/>
            <a:ext cx="2278200" cy="4614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18"/>
              <a:buFont typeface="Arial"/>
              <a:buNone/>
            </a:pPr>
            <a:r>
              <a:rPr lang="en-US" sz="919" b="0" i="0" u="none" strike="noStrike" cap="none">
                <a:solidFill>
                  <a:srgbClr val="000000"/>
                </a:solidFill>
                <a:latin typeface="Arial"/>
                <a:ea typeface="Arial"/>
                <a:cs typeface="Arial"/>
                <a:sym typeface="Arial"/>
              </a:rPr>
              <a:t>Same simulation chain as Experiment 1</a:t>
            </a:r>
            <a:br>
              <a:rPr lang="en-US" sz="1400" b="0" i="0" u="none" strike="noStrike" cap="none">
                <a:solidFill>
                  <a:srgbClr val="000000"/>
                </a:solidFill>
                <a:latin typeface="Arial"/>
                <a:ea typeface="Arial"/>
                <a:cs typeface="Arial"/>
                <a:sym typeface="Arial"/>
              </a:rPr>
            </a:br>
            <a:r>
              <a:rPr lang="en-US" sz="919" b="0" i="0" u="none" strike="noStrike" cap="none">
                <a:solidFill>
                  <a:srgbClr val="000000"/>
                </a:solidFill>
                <a:latin typeface="Arial"/>
                <a:ea typeface="Arial"/>
                <a:cs typeface="Arial"/>
                <a:sym typeface="Arial"/>
              </a:rPr>
              <a:t>≥2 jets with pₜ &gt; 30 GeV</a:t>
            </a:r>
            <a:br>
              <a:rPr lang="en-US" sz="1400" b="0" i="0" u="none" strike="noStrike" cap="none">
                <a:solidFill>
                  <a:srgbClr val="000000"/>
                </a:solidFill>
                <a:latin typeface="Arial"/>
                <a:ea typeface="Arial"/>
                <a:cs typeface="Arial"/>
                <a:sym typeface="Arial"/>
              </a:rPr>
            </a:br>
            <a:r>
              <a:rPr lang="en-US" sz="919" b="0" i="0" u="none" strike="noStrike" cap="none">
                <a:solidFill>
                  <a:srgbClr val="000000"/>
                </a:solidFill>
                <a:latin typeface="Arial"/>
                <a:ea typeface="Arial"/>
                <a:cs typeface="Arial"/>
                <a:sym typeface="Arial"/>
              </a:rPr>
              <a:t>missing transverse momentum &gt; 30 GeV</a:t>
            </a:r>
            <a:endParaRPr sz="1400" b="0" i="0" u="none" strike="noStrike" cap="none">
              <a:solidFill>
                <a:srgbClr val="000000"/>
              </a:solidFill>
              <a:latin typeface="Arial"/>
              <a:ea typeface="Arial"/>
              <a:cs typeface="Arial"/>
              <a:sym typeface="Arial"/>
            </a:endParaRPr>
          </a:p>
        </p:txBody>
      </p:sp>
      <p:sp>
        <p:nvSpPr>
          <p:cNvPr id="573" name="Google Shape;573;g3f5396f6f7a_0_151"/>
          <p:cNvSpPr/>
          <p:nvPr/>
        </p:nvSpPr>
        <p:spPr>
          <a:xfrm>
            <a:off x="6263640" y="1648570"/>
            <a:ext cx="2423100" cy="960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g3f5396f6f7a_0_151"/>
          <p:cNvSpPr/>
          <p:nvPr/>
        </p:nvSpPr>
        <p:spPr>
          <a:xfrm>
            <a:off x="6263640" y="1648570"/>
            <a:ext cx="54900" cy="9600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g3f5396f6f7a_0_151"/>
          <p:cNvSpPr txBox="1"/>
          <p:nvPr/>
        </p:nvSpPr>
        <p:spPr>
          <a:xfrm>
            <a:off x="6391655" y="1721722"/>
            <a:ext cx="22221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Dataset size</a:t>
            </a:r>
            <a:endParaRPr sz="1400" b="0" i="0" u="none" strike="noStrike" cap="none">
              <a:solidFill>
                <a:srgbClr val="000000"/>
              </a:solidFill>
              <a:latin typeface="Arial"/>
              <a:ea typeface="Arial"/>
              <a:cs typeface="Arial"/>
              <a:sym typeface="Arial"/>
            </a:endParaRPr>
          </a:p>
        </p:txBody>
      </p:sp>
      <p:sp>
        <p:nvSpPr>
          <p:cNvPr id="576" name="Google Shape;576;g3f5396f6f7a_0_151"/>
          <p:cNvSpPr txBox="1"/>
          <p:nvPr/>
        </p:nvSpPr>
        <p:spPr>
          <a:xfrm>
            <a:off x="6391655" y="1996042"/>
            <a:ext cx="2194500" cy="4845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68"/>
              <a:buFont typeface="Arial"/>
              <a:buNone/>
            </a:pPr>
            <a:r>
              <a:rPr lang="en-US" sz="969" b="0" i="0" u="none" strike="noStrike" cap="none">
                <a:solidFill>
                  <a:srgbClr val="000000"/>
                </a:solidFill>
                <a:latin typeface="Arial"/>
                <a:ea typeface="Arial"/>
                <a:cs typeface="Arial"/>
                <a:sym typeface="Arial"/>
              </a:rPr>
              <a:t>Background: 30k</a:t>
            </a:r>
            <a:br>
              <a:rPr lang="en-US" sz="1400" b="0" i="0" u="none" strike="noStrike" cap="none">
                <a:solidFill>
                  <a:srgbClr val="000000"/>
                </a:solidFill>
                <a:latin typeface="Arial"/>
                <a:ea typeface="Arial"/>
                <a:cs typeface="Arial"/>
                <a:sym typeface="Arial"/>
              </a:rPr>
            </a:br>
            <a:r>
              <a:rPr lang="en-US" sz="969" b="0" i="0" u="none" strike="noStrike" cap="none">
                <a:solidFill>
                  <a:srgbClr val="000000"/>
                </a:solidFill>
                <a:latin typeface="Arial"/>
                <a:ea typeface="Arial"/>
                <a:cs typeface="Arial"/>
                <a:sym typeface="Arial"/>
              </a:rPr>
              <a:t>10k train · 5k validation · 15k test</a:t>
            </a:r>
            <a:br>
              <a:rPr lang="en-US" sz="1400" b="0" i="0" u="none" strike="noStrike" cap="none">
                <a:solidFill>
                  <a:srgbClr val="000000"/>
                </a:solidFill>
                <a:latin typeface="Arial"/>
                <a:ea typeface="Arial"/>
                <a:cs typeface="Arial"/>
                <a:sym typeface="Arial"/>
              </a:rPr>
            </a:br>
            <a:r>
              <a:rPr lang="en-US" sz="969" b="0" i="0" u="none" strike="noStrike" cap="none">
                <a:solidFill>
                  <a:srgbClr val="000000"/>
                </a:solidFill>
                <a:latin typeface="Arial"/>
                <a:ea typeface="Arial"/>
                <a:cs typeface="Arial"/>
                <a:sym typeface="Arial"/>
              </a:rPr>
              <a:t>Signal: 15k test</a:t>
            </a:r>
            <a:endParaRPr sz="1400" b="0" i="0" u="none" strike="noStrike" cap="none">
              <a:solidFill>
                <a:srgbClr val="000000"/>
              </a:solidFill>
              <a:latin typeface="Arial"/>
              <a:ea typeface="Arial"/>
              <a:cs typeface="Arial"/>
              <a:sym typeface="Arial"/>
            </a:endParaRPr>
          </a:p>
        </p:txBody>
      </p:sp>
      <p:sp>
        <p:nvSpPr>
          <p:cNvPr id="577" name="Google Shape;577;g3f5396f6f7a_0_151"/>
          <p:cNvSpPr/>
          <p:nvPr/>
        </p:nvSpPr>
        <p:spPr>
          <a:xfrm>
            <a:off x="8915400" y="1648570"/>
            <a:ext cx="2560200" cy="960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g3f5396f6f7a_0_151"/>
          <p:cNvSpPr/>
          <p:nvPr/>
        </p:nvSpPr>
        <p:spPr>
          <a:xfrm>
            <a:off x="8915400" y="1648570"/>
            <a:ext cx="54900" cy="9600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g3f5396f6f7a_0_151"/>
          <p:cNvSpPr txBox="1"/>
          <p:nvPr/>
        </p:nvSpPr>
        <p:spPr>
          <a:xfrm>
            <a:off x="9043416" y="1721722"/>
            <a:ext cx="23592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Purpose</a:t>
            </a:r>
            <a:endParaRPr sz="1400" b="0" i="0" u="none" strike="noStrike" cap="none">
              <a:solidFill>
                <a:srgbClr val="000000"/>
              </a:solidFill>
              <a:latin typeface="Arial"/>
              <a:ea typeface="Arial"/>
              <a:cs typeface="Arial"/>
              <a:sym typeface="Arial"/>
            </a:endParaRPr>
          </a:p>
        </p:txBody>
      </p:sp>
      <p:sp>
        <p:nvSpPr>
          <p:cNvPr id="580" name="Google Shape;580;g3f5396f6f7a_0_151"/>
          <p:cNvSpPr txBox="1"/>
          <p:nvPr/>
        </p:nvSpPr>
        <p:spPr>
          <a:xfrm>
            <a:off x="9043416" y="1996042"/>
            <a:ext cx="2331600" cy="494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89"/>
              <a:buFont typeface="Arial"/>
              <a:buNone/>
            </a:pPr>
            <a:r>
              <a:rPr lang="en-US" sz="990" b="0" i="0" u="none" strike="noStrike" cap="none">
                <a:solidFill>
                  <a:srgbClr val="000000"/>
                </a:solidFill>
                <a:latin typeface="Arial"/>
                <a:ea typeface="Arial"/>
                <a:cs typeface="Arial"/>
                <a:sym typeface="Arial"/>
              </a:rPr>
              <a:t>This benchmark checks that the QAE behavior is not specific to the tt̄ final state.</a:t>
            </a:r>
            <a:endParaRPr sz="1400" b="0" i="0" u="none" strike="noStrike" cap="none">
              <a:solidFill>
                <a:srgbClr val="000000"/>
              </a:solidFill>
              <a:latin typeface="Arial"/>
              <a:ea typeface="Arial"/>
              <a:cs typeface="Arial"/>
              <a:sym typeface="Arial"/>
            </a:endParaRPr>
          </a:p>
        </p:txBody>
      </p:sp>
      <p:sp>
        <p:nvSpPr>
          <p:cNvPr id="581" name="Google Shape;581;g3f5396f6f7a_0_151"/>
          <p:cNvSpPr txBox="1"/>
          <p:nvPr/>
        </p:nvSpPr>
        <p:spPr>
          <a:xfrm>
            <a:off x="594360" y="2901298"/>
            <a:ext cx="5760600" cy="2523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5276"/>
                </a:solidFill>
                <a:latin typeface="Arial"/>
                <a:ea typeface="Arial"/>
                <a:cs typeface="Arial"/>
                <a:sym typeface="Arial"/>
              </a:rPr>
              <a:t>Six-dimensional event vector</a:t>
            </a:r>
            <a:endParaRPr sz="1400" b="0" i="0" u="none" strike="noStrike" cap="none">
              <a:solidFill>
                <a:srgbClr val="000000"/>
              </a:solidFill>
              <a:latin typeface="Arial"/>
              <a:ea typeface="Arial"/>
              <a:cs typeface="Arial"/>
              <a:sym typeface="Arial"/>
            </a:endParaRPr>
          </a:p>
        </p:txBody>
      </p:sp>
      <p:sp>
        <p:nvSpPr>
          <p:cNvPr id="582" name="Google Shape;582;g3f5396f6f7a_0_151"/>
          <p:cNvSpPr/>
          <p:nvPr/>
        </p:nvSpPr>
        <p:spPr>
          <a:xfrm>
            <a:off x="594360" y="3203050"/>
            <a:ext cx="10972800" cy="594300"/>
          </a:xfrm>
          <a:prstGeom prst="rect">
            <a:avLst/>
          </a:prstGeom>
          <a:solidFill>
            <a:srgbClr val="F5F7F8"/>
          </a:solidFill>
          <a:ln w="9525" cap="flat" cmpd="sng">
            <a:solidFill>
              <a:srgbClr val="BEC4C8"/>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3" name="Google Shape;583;g3f5396f6f7a_0_151"/>
          <p:cNvSpPr/>
          <p:nvPr/>
        </p:nvSpPr>
        <p:spPr>
          <a:xfrm>
            <a:off x="594360" y="4117450"/>
            <a:ext cx="5212200" cy="685800"/>
          </a:xfrm>
          <a:prstGeom prst="rect">
            <a:avLst/>
          </a:prstGeom>
          <a:solidFill>
            <a:srgbClr val="F5F7F8"/>
          </a:solidFill>
          <a:ln w="9525" cap="flat" cmpd="sng">
            <a:solidFill>
              <a:srgbClr val="BEC4C8"/>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g3f5396f6f7a_0_151"/>
          <p:cNvSpPr/>
          <p:nvPr/>
        </p:nvSpPr>
        <p:spPr>
          <a:xfrm>
            <a:off x="6126480" y="4117450"/>
            <a:ext cx="5349300" cy="1691700"/>
          </a:xfrm>
          <a:prstGeom prst="roundRect">
            <a:avLst>
              <a:gd name="adj" fmla="val 16667"/>
            </a:avLst>
          </a:prstGeom>
          <a:solidFill>
            <a:srgbClr val="FFFFF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g3f5396f6f7a_0_151"/>
          <p:cNvSpPr/>
          <p:nvPr/>
        </p:nvSpPr>
        <p:spPr>
          <a:xfrm>
            <a:off x="6126480" y="4117450"/>
            <a:ext cx="54900" cy="16917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g3f5396f6f7a_0_151"/>
          <p:cNvSpPr txBox="1"/>
          <p:nvPr/>
        </p:nvSpPr>
        <p:spPr>
          <a:xfrm>
            <a:off x="6254496" y="4190602"/>
            <a:ext cx="51480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Feature meanings</a:t>
            </a:r>
            <a:endParaRPr sz="1400" b="0" i="0" u="none" strike="noStrike" cap="none">
              <a:solidFill>
                <a:srgbClr val="000000"/>
              </a:solidFill>
              <a:latin typeface="Arial"/>
              <a:ea typeface="Arial"/>
              <a:cs typeface="Arial"/>
              <a:sym typeface="Arial"/>
            </a:endParaRPr>
          </a:p>
        </p:txBody>
      </p:sp>
      <p:sp>
        <p:nvSpPr>
          <p:cNvPr id="587" name="Google Shape;587;g3f5396f6f7a_0_151"/>
          <p:cNvSpPr txBox="1"/>
          <p:nvPr/>
        </p:nvSpPr>
        <p:spPr>
          <a:xfrm>
            <a:off x="6254496" y="4464921"/>
            <a:ext cx="5120700" cy="609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30"/>
              <a:buFont typeface="Arial"/>
              <a:buNone/>
            </a:pPr>
            <a:r>
              <a:rPr lang="en-US" sz="930" b="0" i="0" u="none" strike="noStrike" cap="none">
                <a:solidFill>
                  <a:srgbClr val="000000"/>
                </a:solidFill>
                <a:latin typeface="Arial"/>
                <a:ea typeface="Arial"/>
                <a:cs typeface="Arial"/>
                <a:sym typeface="Arial"/>
              </a:rPr>
              <a:t>•          : separation in pseudorapidity between the two leading jets</a:t>
            </a:r>
            <a:br>
              <a:rPr lang="en-US" sz="1400" b="0" i="0" u="none" strike="noStrike" cap="none">
                <a:solidFill>
                  <a:srgbClr val="000000"/>
                </a:solidFill>
                <a:latin typeface="Arial"/>
                <a:ea typeface="Arial"/>
                <a:cs typeface="Arial"/>
                <a:sym typeface="Arial"/>
              </a:rPr>
            </a:br>
            <a:r>
              <a:rPr lang="en-US" sz="930" b="0" i="0" u="none" strike="noStrike" cap="none">
                <a:solidFill>
                  <a:srgbClr val="000000"/>
                </a:solidFill>
                <a:latin typeface="Arial"/>
                <a:ea typeface="Arial"/>
                <a:cs typeface="Arial"/>
                <a:sym typeface="Arial"/>
              </a:rPr>
              <a:t>•          : invariant mass of the dijet system</a:t>
            </a:r>
            <a:br>
              <a:rPr lang="en-US" sz="1400" b="0" i="0" u="none" strike="noStrike" cap="none">
                <a:solidFill>
                  <a:srgbClr val="000000"/>
                </a:solidFill>
                <a:latin typeface="Arial"/>
                <a:ea typeface="Arial"/>
                <a:cs typeface="Arial"/>
                <a:sym typeface="Arial"/>
              </a:rPr>
            </a:br>
            <a:r>
              <a:rPr lang="en-US" sz="930" b="0" i="0" u="none" strike="noStrike" cap="none">
                <a:solidFill>
                  <a:srgbClr val="000000"/>
                </a:solidFill>
                <a:latin typeface="Arial"/>
                <a:ea typeface="Arial"/>
                <a:cs typeface="Arial"/>
                <a:sym typeface="Arial"/>
              </a:rPr>
              <a:t>•        : transverse-energy sum inside a central pseudorapidity window</a:t>
            </a:r>
            <a:br>
              <a:rPr lang="en-US" sz="1400" b="0" i="0" u="none" strike="noStrike" cap="none">
                <a:solidFill>
                  <a:srgbClr val="000000"/>
                </a:solidFill>
                <a:latin typeface="Arial"/>
                <a:ea typeface="Arial"/>
                <a:cs typeface="Arial"/>
                <a:sym typeface="Arial"/>
              </a:rPr>
            </a:br>
            <a:r>
              <a:rPr lang="en-US" sz="930" b="0" i="0" u="none" strike="noStrike" cap="none">
                <a:solidFill>
                  <a:srgbClr val="000000"/>
                </a:solidFill>
                <a:latin typeface="Arial"/>
                <a:ea typeface="Arial"/>
                <a:cs typeface="Arial"/>
                <a:sym typeface="Arial"/>
              </a:rPr>
              <a:t>• The different        values probe how central or forward the transverse activity is</a:t>
            </a:r>
            <a:endParaRPr sz="1400" b="0" i="0" u="none" strike="noStrike" cap="none">
              <a:solidFill>
                <a:srgbClr val="000000"/>
              </a:solidFill>
              <a:latin typeface="Arial"/>
              <a:ea typeface="Arial"/>
              <a:cs typeface="Arial"/>
              <a:sym typeface="Arial"/>
            </a:endParaRPr>
          </a:p>
        </p:txBody>
      </p:sp>
      <p:sp>
        <p:nvSpPr>
          <p:cNvPr id="588" name="Google Shape;588;g3f5396f6f7a_0_151"/>
          <p:cNvSpPr txBox="1"/>
          <p:nvPr/>
        </p:nvSpPr>
        <p:spPr>
          <a:xfrm>
            <a:off x="685800" y="5077570"/>
            <a:ext cx="5074800" cy="5124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30"/>
              <a:buFont typeface="Arial"/>
              <a:buNone/>
            </a:pPr>
            <a:r>
              <a:rPr lang="en-US" sz="1030" b="0" i="0" u="none" strike="noStrike" cap="none">
                <a:solidFill>
                  <a:srgbClr val="000000"/>
                </a:solidFill>
                <a:latin typeface="Arial"/>
                <a:ea typeface="Arial"/>
                <a:cs typeface="Arial"/>
                <a:sym typeface="Arial"/>
              </a:rPr>
              <a:t>Mapping note: the paper again uses angular embedding. For this case the feature ranges are extended on the high side so that the non-periodic variables are not wrapped into equivalent angles.</a:t>
            </a:r>
            <a:endParaRPr sz="1400" b="0" i="0" u="none" strike="noStrike" cap="none">
              <a:solidFill>
                <a:srgbClr val="000000"/>
              </a:solidFill>
              <a:latin typeface="Arial"/>
              <a:ea typeface="Arial"/>
              <a:cs typeface="Arial"/>
              <a:sym typeface="Arial"/>
            </a:endParaRPr>
          </a:p>
        </p:txBody>
      </p:sp>
      <p:pic>
        <p:nvPicPr>
          <p:cNvPr id="589" name="Google Shape;589;g3f5396f6f7a_0_151"/>
          <p:cNvPicPr preferRelativeResize="0"/>
          <p:nvPr/>
        </p:nvPicPr>
        <p:blipFill rotWithShape="1">
          <a:blip r:embed="rId3">
            <a:alphaModFix/>
          </a:blip>
          <a:srcRect/>
          <a:stretch/>
        </p:blipFill>
        <p:spPr>
          <a:xfrm>
            <a:off x="1366724" y="2003486"/>
            <a:ext cx="733304" cy="164700"/>
          </a:xfrm>
          <a:prstGeom prst="rect">
            <a:avLst/>
          </a:prstGeom>
          <a:noFill/>
          <a:ln>
            <a:noFill/>
          </a:ln>
        </p:spPr>
      </p:pic>
      <p:pic>
        <p:nvPicPr>
          <p:cNvPr id="590" name="Google Shape;590;g3f5396f6f7a_0_151"/>
          <p:cNvPicPr preferRelativeResize="0"/>
          <p:nvPr/>
        </p:nvPicPr>
        <p:blipFill rotWithShape="1">
          <a:blip r:embed="rId4">
            <a:alphaModFix/>
          </a:blip>
          <a:srcRect/>
          <a:stretch/>
        </p:blipFill>
        <p:spPr>
          <a:xfrm>
            <a:off x="1032750" y="2181250"/>
            <a:ext cx="1108897" cy="125675"/>
          </a:xfrm>
          <a:prstGeom prst="rect">
            <a:avLst/>
          </a:prstGeom>
          <a:noFill/>
          <a:ln>
            <a:noFill/>
          </a:ln>
        </p:spPr>
      </p:pic>
      <p:pic>
        <p:nvPicPr>
          <p:cNvPr id="591" name="Google Shape;591;g3f5396f6f7a_0_151"/>
          <p:cNvPicPr preferRelativeResize="0"/>
          <p:nvPr/>
        </p:nvPicPr>
        <p:blipFill rotWithShape="1">
          <a:blip r:embed="rId5">
            <a:alphaModFix/>
          </a:blip>
          <a:srcRect/>
          <a:stretch/>
        </p:blipFill>
        <p:spPr>
          <a:xfrm>
            <a:off x="1279875" y="4200487"/>
            <a:ext cx="1600200" cy="544627"/>
          </a:xfrm>
          <a:prstGeom prst="rect">
            <a:avLst/>
          </a:prstGeom>
          <a:noFill/>
          <a:ln>
            <a:noFill/>
          </a:ln>
        </p:spPr>
      </p:pic>
      <p:pic>
        <p:nvPicPr>
          <p:cNvPr id="592" name="Google Shape;592;g3f5396f6f7a_0_151"/>
          <p:cNvPicPr preferRelativeResize="0"/>
          <p:nvPr/>
        </p:nvPicPr>
        <p:blipFill rotWithShape="1">
          <a:blip r:embed="rId6">
            <a:alphaModFix/>
          </a:blip>
          <a:srcRect/>
          <a:stretch/>
        </p:blipFill>
        <p:spPr>
          <a:xfrm>
            <a:off x="3077925" y="4291687"/>
            <a:ext cx="2278200" cy="291552"/>
          </a:xfrm>
          <a:prstGeom prst="rect">
            <a:avLst/>
          </a:prstGeom>
          <a:noFill/>
          <a:ln>
            <a:noFill/>
          </a:ln>
        </p:spPr>
      </p:pic>
      <p:pic>
        <p:nvPicPr>
          <p:cNvPr id="593" name="Google Shape;593;g3f5396f6f7a_0_151"/>
          <p:cNvPicPr preferRelativeResize="0"/>
          <p:nvPr/>
        </p:nvPicPr>
        <p:blipFill rotWithShape="1">
          <a:blip r:embed="rId7">
            <a:alphaModFix/>
          </a:blip>
          <a:srcRect/>
          <a:stretch/>
        </p:blipFill>
        <p:spPr>
          <a:xfrm>
            <a:off x="6354940" y="4495769"/>
            <a:ext cx="292500" cy="126270"/>
          </a:xfrm>
          <a:prstGeom prst="rect">
            <a:avLst/>
          </a:prstGeom>
          <a:noFill/>
          <a:ln>
            <a:noFill/>
          </a:ln>
        </p:spPr>
      </p:pic>
      <p:pic>
        <p:nvPicPr>
          <p:cNvPr id="594" name="Google Shape;594;g3f5396f6f7a_0_151"/>
          <p:cNvPicPr preferRelativeResize="0"/>
          <p:nvPr/>
        </p:nvPicPr>
        <p:blipFill rotWithShape="1">
          <a:blip r:embed="rId8">
            <a:alphaModFix/>
          </a:blip>
          <a:srcRect/>
          <a:stretch/>
        </p:blipFill>
        <p:spPr>
          <a:xfrm>
            <a:off x="7064450" y="4925375"/>
            <a:ext cx="198500" cy="118300"/>
          </a:xfrm>
          <a:prstGeom prst="rect">
            <a:avLst/>
          </a:prstGeom>
          <a:noFill/>
          <a:ln>
            <a:noFill/>
          </a:ln>
        </p:spPr>
      </p:pic>
      <p:pic>
        <p:nvPicPr>
          <p:cNvPr id="595" name="Google Shape;595;g3f5396f6f7a_0_151"/>
          <p:cNvPicPr preferRelativeResize="0"/>
          <p:nvPr/>
        </p:nvPicPr>
        <p:blipFill rotWithShape="1">
          <a:blip r:embed="rId9">
            <a:alphaModFix/>
          </a:blip>
          <a:srcRect/>
          <a:stretch/>
        </p:blipFill>
        <p:spPr>
          <a:xfrm>
            <a:off x="6368776" y="4769725"/>
            <a:ext cx="240041" cy="155650"/>
          </a:xfrm>
          <a:prstGeom prst="rect">
            <a:avLst/>
          </a:prstGeom>
          <a:noFill/>
          <a:ln>
            <a:noFill/>
          </a:ln>
        </p:spPr>
      </p:pic>
      <p:pic>
        <p:nvPicPr>
          <p:cNvPr id="596" name="Google Shape;596;g3f5396f6f7a_0_151"/>
          <p:cNvPicPr preferRelativeResize="0"/>
          <p:nvPr/>
        </p:nvPicPr>
        <p:blipFill rotWithShape="1">
          <a:blip r:embed="rId10">
            <a:alphaModFix/>
          </a:blip>
          <a:srcRect/>
          <a:stretch/>
        </p:blipFill>
        <p:spPr>
          <a:xfrm>
            <a:off x="6391650" y="4644050"/>
            <a:ext cx="233261" cy="125675"/>
          </a:xfrm>
          <a:prstGeom prst="rect">
            <a:avLst/>
          </a:prstGeom>
          <a:noFill/>
          <a:ln>
            <a:noFill/>
          </a:ln>
        </p:spPr>
      </p:pic>
      <p:pic>
        <p:nvPicPr>
          <p:cNvPr id="597" name="Google Shape;597;g3f5396f6f7a_0_151"/>
          <p:cNvPicPr preferRelativeResize="0"/>
          <p:nvPr/>
        </p:nvPicPr>
        <p:blipFill rotWithShape="1">
          <a:blip r:embed="rId11">
            <a:alphaModFix/>
          </a:blip>
          <a:srcRect/>
          <a:stretch/>
        </p:blipFill>
        <p:spPr>
          <a:xfrm>
            <a:off x="3493975" y="3317675"/>
            <a:ext cx="4752975" cy="438150"/>
          </a:xfrm>
          <a:prstGeom prst="rect">
            <a:avLst/>
          </a:prstGeom>
          <a:noFill/>
          <a:ln>
            <a:noFill/>
          </a:ln>
        </p:spPr>
      </p:pic>
      <p:sp>
        <p:nvSpPr>
          <p:cNvPr id="598" name="Google Shape;598;g3f5396f6f7a_0_151"/>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g3f5396f6f7a_0_151"/>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601" name="Google Shape;601;g3f5396f6f7a_0_151"/>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12</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g3f5396f6f7a_0_294"/>
          <p:cNvSpPr txBox="1"/>
          <p:nvPr/>
        </p:nvSpPr>
        <p:spPr>
          <a:xfrm>
            <a:off x="338328" y="836715"/>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400" b="1" i="0" u="none" strike="noStrike" cap="none">
                <a:solidFill>
                  <a:srgbClr val="0B0B0B"/>
                </a:solidFill>
                <a:latin typeface="Arial"/>
                <a:ea typeface="Arial"/>
                <a:cs typeface="Arial"/>
                <a:sym typeface="Arial"/>
              </a:rPr>
              <a:t>How the same QAE is trained and evaluated</a:t>
            </a:r>
            <a:endParaRPr sz="2400" b="1" i="0" u="none" strike="noStrike" cap="none">
              <a:solidFill>
                <a:srgbClr val="0B0B0B"/>
              </a:solidFill>
              <a:latin typeface="Arial"/>
              <a:ea typeface="Arial"/>
              <a:cs typeface="Arial"/>
              <a:sym typeface="Arial"/>
            </a:endParaRPr>
          </a:p>
        </p:txBody>
      </p:sp>
      <p:sp>
        <p:nvSpPr>
          <p:cNvPr id="607" name="Google Shape;607;g3f5396f6f7a_0_294"/>
          <p:cNvSpPr txBox="1"/>
          <p:nvPr/>
        </p:nvSpPr>
        <p:spPr>
          <a:xfrm>
            <a:off x="448056" y="429768"/>
            <a:ext cx="9784200" cy="186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chemeClr val="dk1"/>
              </a:buClr>
              <a:buSzPts val="850"/>
              <a:buFont typeface="Arial"/>
              <a:buNone/>
            </a:pPr>
            <a:r>
              <a:rPr lang="en-US" sz="850" b="0" i="0" u="none" strike="noStrike" cap="none">
                <a:solidFill>
                  <a:srgbClr val="5A5A5A"/>
                </a:solidFill>
                <a:latin typeface="Arial"/>
                <a:ea typeface="Arial"/>
                <a:cs typeface="Arial"/>
                <a:sym typeface="Arial"/>
              </a:rPr>
              <a:t>Same model workflow for both benchmarks</a:t>
            </a:r>
            <a:endParaRPr sz="850" b="0" i="0" u="none" strike="noStrike" cap="none">
              <a:solidFill>
                <a:srgbClr val="5A5A5A"/>
              </a:solidFill>
              <a:latin typeface="Arial"/>
              <a:ea typeface="Arial"/>
              <a:cs typeface="Arial"/>
              <a:sym typeface="Arial"/>
            </a:endParaRPr>
          </a:p>
        </p:txBody>
      </p:sp>
      <p:sp>
        <p:nvSpPr>
          <p:cNvPr id="608" name="Google Shape;608;g3f5396f6f7a_0_294"/>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g3f5396f6f7a_0_294"/>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5 · SHARED QAE PIPELINE</a:t>
            </a:r>
            <a:endParaRPr sz="1000" b="1" i="0" u="none" strike="noStrike" cap="none">
              <a:solidFill>
                <a:srgbClr val="06507A"/>
              </a:solidFill>
              <a:latin typeface="Arial"/>
              <a:ea typeface="Arial"/>
              <a:cs typeface="Arial"/>
              <a:sym typeface="Arial"/>
            </a:endParaRPr>
          </a:p>
        </p:txBody>
      </p:sp>
      <p:cxnSp>
        <p:nvCxnSpPr>
          <p:cNvPr id="610" name="Google Shape;610;g3f5396f6f7a_0_294"/>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611" name="Google Shape;611;g3f5396f6f7a_0_294"/>
          <p:cNvSpPr txBox="1"/>
          <p:nvPr/>
        </p:nvSpPr>
        <p:spPr>
          <a:xfrm>
            <a:off x="594349" y="1400102"/>
            <a:ext cx="4224600" cy="2523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5276"/>
                </a:solidFill>
                <a:latin typeface="Arial"/>
                <a:ea typeface="Arial"/>
                <a:cs typeface="Arial"/>
                <a:sym typeface="Arial"/>
              </a:rPr>
              <a:t>Training target: make trash look like reference</a:t>
            </a:r>
            <a:endParaRPr sz="1400" b="0" i="0" u="none" strike="noStrike" cap="none">
              <a:solidFill>
                <a:srgbClr val="000000"/>
              </a:solidFill>
              <a:latin typeface="Arial"/>
              <a:ea typeface="Arial"/>
              <a:cs typeface="Arial"/>
              <a:sym typeface="Arial"/>
            </a:endParaRPr>
          </a:p>
        </p:txBody>
      </p:sp>
      <p:sp>
        <p:nvSpPr>
          <p:cNvPr id="612" name="Google Shape;612;g3f5396f6f7a_0_294"/>
          <p:cNvSpPr/>
          <p:nvPr/>
        </p:nvSpPr>
        <p:spPr>
          <a:xfrm>
            <a:off x="594360" y="2680252"/>
            <a:ext cx="4937700" cy="777300"/>
          </a:xfrm>
          <a:prstGeom prst="rect">
            <a:avLst/>
          </a:prstGeom>
          <a:solidFill>
            <a:srgbClr val="F5F7F8"/>
          </a:solidFill>
          <a:ln w="9525" cap="flat" cmpd="sng">
            <a:solidFill>
              <a:srgbClr val="BEC4C8"/>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g3f5396f6f7a_0_294"/>
          <p:cNvSpPr txBox="1"/>
          <p:nvPr/>
        </p:nvSpPr>
        <p:spPr>
          <a:xfrm>
            <a:off x="685800" y="2771692"/>
            <a:ext cx="4755000" cy="2679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0" i="0" u="none" strike="noStrike" cap="none">
                <a:solidFill>
                  <a:srgbClr val="000000"/>
                </a:solidFill>
                <a:latin typeface="Cambria Math"/>
                <a:ea typeface="Cambria Math"/>
                <a:cs typeface="Cambria Math"/>
                <a:sym typeface="Cambria Math"/>
              </a:rPr>
              <a:t>C(Θ) = − Σ_i p_i F(|β⟩_{B′}, ρ̂_B′)</a:t>
            </a:r>
            <a:endParaRPr sz="1400" b="0" i="0" u="none" strike="noStrike" cap="none">
              <a:solidFill>
                <a:srgbClr val="000000"/>
              </a:solidFill>
              <a:latin typeface="Arial"/>
              <a:ea typeface="Arial"/>
              <a:cs typeface="Arial"/>
              <a:sym typeface="Arial"/>
            </a:endParaRPr>
          </a:p>
        </p:txBody>
      </p:sp>
      <p:sp>
        <p:nvSpPr>
          <p:cNvPr id="614" name="Google Shape;614;g3f5396f6f7a_0_294"/>
          <p:cNvSpPr txBox="1"/>
          <p:nvPr/>
        </p:nvSpPr>
        <p:spPr>
          <a:xfrm>
            <a:off x="731520" y="3594652"/>
            <a:ext cx="4663500" cy="3447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The negative sign converts “maximize trash fidelity” into a minimization problem. A perfect reconstruction is possible when trash fidelity equals 1.</a:t>
            </a:r>
            <a:endParaRPr sz="1400" b="0" i="0" u="none" strike="noStrike" cap="none">
              <a:solidFill>
                <a:srgbClr val="000000"/>
              </a:solidFill>
              <a:latin typeface="Arial"/>
              <a:ea typeface="Arial"/>
              <a:cs typeface="Arial"/>
              <a:sym typeface="Arial"/>
            </a:endParaRPr>
          </a:p>
        </p:txBody>
      </p:sp>
      <p:sp>
        <p:nvSpPr>
          <p:cNvPr id="615" name="Google Shape;615;g3f5396f6f7a_0_294"/>
          <p:cNvSpPr txBox="1"/>
          <p:nvPr/>
        </p:nvSpPr>
        <p:spPr>
          <a:xfrm>
            <a:off x="5852160" y="1400092"/>
            <a:ext cx="3931800" cy="2523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5276"/>
                </a:solidFill>
                <a:latin typeface="Arial"/>
                <a:ea typeface="Arial"/>
                <a:cs typeface="Arial"/>
                <a:sym typeface="Arial"/>
              </a:rPr>
              <a:t>Testing target: anomaly score</a:t>
            </a:r>
            <a:endParaRPr sz="1400" b="0" i="0" u="none" strike="noStrike" cap="none">
              <a:solidFill>
                <a:srgbClr val="000000"/>
              </a:solidFill>
              <a:latin typeface="Arial"/>
              <a:ea typeface="Arial"/>
              <a:cs typeface="Arial"/>
              <a:sym typeface="Arial"/>
            </a:endParaRPr>
          </a:p>
        </p:txBody>
      </p:sp>
      <p:sp>
        <p:nvSpPr>
          <p:cNvPr id="616" name="Google Shape;616;g3f5396f6f7a_0_294"/>
          <p:cNvSpPr/>
          <p:nvPr/>
        </p:nvSpPr>
        <p:spPr>
          <a:xfrm>
            <a:off x="5852160" y="1765852"/>
            <a:ext cx="5303400" cy="640200"/>
          </a:xfrm>
          <a:prstGeom prst="rect">
            <a:avLst/>
          </a:prstGeom>
          <a:solidFill>
            <a:srgbClr val="F5F7F8"/>
          </a:solidFill>
          <a:ln w="9525" cap="flat" cmpd="sng">
            <a:solidFill>
              <a:srgbClr val="BEC4C8"/>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g3f5396f6f7a_0_294"/>
          <p:cNvSpPr txBox="1"/>
          <p:nvPr/>
        </p:nvSpPr>
        <p:spPr>
          <a:xfrm>
            <a:off x="5943600" y="1857292"/>
            <a:ext cx="5120700" cy="2832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Math"/>
                <a:ea typeface="Cambria Math"/>
                <a:cs typeface="Cambria Math"/>
                <a:sym typeface="Cambria Math"/>
              </a:rPr>
              <a:t>s(x) = 1 − F(|β⟩, ρ̂_trash)</a:t>
            </a:r>
            <a:endParaRPr sz="1400" b="0" i="0" u="none" strike="noStrike" cap="none">
              <a:solidFill>
                <a:srgbClr val="000000"/>
              </a:solidFill>
              <a:latin typeface="Arial"/>
              <a:ea typeface="Arial"/>
              <a:cs typeface="Arial"/>
              <a:sym typeface="Arial"/>
            </a:endParaRPr>
          </a:p>
        </p:txBody>
      </p:sp>
      <p:sp>
        <p:nvSpPr>
          <p:cNvPr id="618" name="Google Shape;618;g3f5396f6f7a_0_294"/>
          <p:cNvSpPr/>
          <p:nvPr/>
        </p:nvSpPr>
        <p:spPr>
          <a:xfrm>
            <a:off x="5852160" y="2616244"/>
            <a:ext cx="2331600" cy="960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g3f5396f6f7a_0_294"/>
          <p:cNvSpPr/>
          <p:nvPr/>
        </p:nvSpPr>
        <p:spPr>
          <a:xfrm>
            <a:off x="5852160" y="2616244"/>
            <a:ext cx="54900" cy="9600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g3f5396f6f7a_0_294"/>
          <p:cNvSpPr txBox="1"/>
          <p:nvPr/>
        </p:nvSpPr>
        <p:spPr>
          <a:xfrm>
            <a:off x="5980176" y="2689396"/>
            <a:ext cx="21306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Background-like</a:t>
            </a:r>
            <a:endParaRPr sz="1400" b="0" i="0" u="none" strike="noStrike" cap="none">
              <a:solidFill>
                <a:srgbClr val="000000"/>
              </a:solidFill>
              <a:latin typeface="Arial"/>
              <a:ea typeface="Arial"/>
              <a:cs typeface="Arial"/>
              <a:sym typeface="Arial"/>
            </a:endParaRPr>
          </a:p>
        </p:txBody>
      </p:sp>
      <p:sp>
        <p:nvSpPr>
          <p:cNvPr id="621" name="Google Shape;621;g3f5396f6f7a_0_294"/>
          <p:cNvSpPr txBox="1"/>
          <p:nvPr/>
        </p:nvSpPr>
        <p:spPr>
          <a:xfrm>
            <a:off x="5980176" y="2963716"/>
            <a:ext cx="2103000" cy="498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trash ≈ |0…0⟩</a:t>
            </a:r>
            <a:br>
              <a:rPr lang="en-US" sz="1400" b="0" i="0" u="none" strike="noStrike" cap="none">
                <a:solidFill>
                  <a:srgbClr val="000000"/>
                </a:solidFill>
                <a:latin typeface="Arial"/>
                <a:ea typeface="Arial"/>
                <a:cs typeface="Arial"/>
                <a:sym typeface="Arial"/>
              </a:rPr>
            </a:br>
            <a:r>
              <a:rPr lang="en-US" sz="1000" b="0" i="0" u="none" strike="noStrike" cap="none">
                <a:solidFill>
                  <a:srgbClr val="000000"/>
                </a:solidFill>
                <a:latin typeface="Arial"/>
                <a:ea typeface="Arial"/>
                <a:cs typeface="Arial"/>
                <a:sym typeface="Arial"/>
              </a:rPr>
              <a:t>F ≈ 1</a:t>
            </a:r>
            <a:br>
              <a:rPr lang="en-US" sz="1400" b="0" i="0" u="none" strike="noStrike" cap="none">
                <a:solidFill>
                  <a:srgbClr val="000000"/>
                </a:solidFill>
                <a:latin typeface="Arial"/>
                <a:ea typeface="Arial"/>
                <a:cs typeface="Arial"/>
                <a:sym typeface="Arial"/>
              </a:rPr>
            </a:br>
            <a:r>
              <a:rPr lang="en-US" sz="1000" b="0" i="0" u="none" strike="noStrike" cap="none">
                <a:solidFill>
                  <a:srgbClr val="000000"/>
                </a:solidFill>
                <a:latin typeface="Arial"/>
                <a:ea typeface="Arial"/>
                <a:cs typeface="Arial"/>
                <a:sym typeface="Arial"/>
              </a:rPr>
              <a:t>s(x) ≈ 0</a:t>
            </a:r>
            <a:endParaRPr sz="1400" b="0" i="0" u="none" strike="noStrike" cap="none">
              <a:solidFill>
                <a:srgbClr val="000000"/>
              </a:solidFill>
              <a:latin typeface="Arial"/>
              <a:ea typeface="Arial"/>
              <a:cs typeface="Arial"/>
              <a:sym typeface="Arial"/>
            </a:endParaRPr>
          </a:p>
        </p:txBody>
      </p:sp>
      <p:sp>
        <p:nvSpPr>
          <p:cNvPr id="622" name="Google Shape;622;g3f5396f6f7a_0_294"/>
          <p:cNvSpPr/>
          <p:nvPr/>
        </p:nvSpPr>
        <p:spPr>
          <a:xfrm>
            <a:off x="8503920" y="2616244"/>
            <a:ext cx="2606100" cy="960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g3f5396f6f7a_0_294"/>
          <p:cNvSpPr/>
          <p:nvPr/>
        </p:nvSpPr>
        <p:spPr>
          <a:xfrm>
            <a:off x="8503920" y="2616244"/>
            <a:ext cx="54900" cy="9600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4" name="Google Shape;624;g3f5396f6f7a_0_294"/>
          <p:cNvSpPr txBox="1"/>
          <p:nvPr/>
        </p:nvSpPr>
        <p:spPr>
          <a:xfrm>
            <a:off x="8631936" y="2689396"/>
            <a:ext cx="24048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Anomalous</a:t>
            </a:r>
            <a:endParaRPr sz="1400" b="0" i="0" u="none" strike="noStrike" cap="none">
              <a:solidFill>
                <a:srgbClr val="000000"/>
              </a:solidFill>
              <a:latin typeface="Arial"/>
              <a:ea typeface="Arial"/>
              <a:cs typeface="Arial"/>
              <a:sym typeface="Arial"/>
            </a:endParaRPr>
          </a:p>
        </p:txBody>
      </p:sp>
      <p:sp>
        <p:nvSpPr>
          <p:cNvPr id="625" name="Google Shape;625;g3f5396f6f7a_0_294"/>
          <p:cNvSpPr txBox="1"/>
          <p:nvPr/>
        </p:nvSpPr>
        <p:spPr>
          <a:xfrm>
            <a:off x="8631936" y="2963716"/>
            <a:ext cx="2377500" cy="498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trash not close to reference</a:t>
            </a:r>
            <a:br>
              <a:rPr lang="en-US" sz="1400" b="0" i="0" u="none" strike="noStrike" cap="none">
                <a:solidFill>
                  <a:srgbClr val="000000"/>
                </a:solidFill>
                <a:latin typeface="Arial"/>
                <a:ea typeface="Arial"/>
                <a:cs typeface="Arial"/>
                <a:sym typeface="Arial"/>
              </a:rPr>
            </a:br>
            <a:r>
              <a:rPr lang="en-US" sz="1000" b="0" i="0" u="none" strike="noStrike" cap="none">
                <a:solidFill>
                  <a:srgbClr val="000000"/>
                </a:solidFill>
                <a:latin typeface="Arial"/>
                <a:ea typeface="Arial"/>
                <a:cs typeface="Arial"/>
                <a:sym typeface="Arial"/>
              </a:rPr>
              <a:t>F low</a:t>
            </a:r>
            <a:br>
              <a:rPr lang="en-US" sz="1400" b="0" i="0" u="none" strike="noStrike" cap="none">
                <a:solidFill>
                  <a:srgbClr val="000000"/>
                </a:solidFill>
                <a:latin typeface="Arial"/>
                <a:ea typeface="Arial"/>
                <a:cs typeface="Arial"/>
                <a:sym typeface="Arial"/>
              </a:rPr>
            </a:br>
            <a:r>
              <a:rPr lang="en-US" sz="1000" b="0" i="0" u="none" strike="noStrike" cap="none">
                <a:solidFill>
                  <a:srgbClr val="000000"/>
                </a:solidFill>
                <a:latin typeface="Arial"/>
                <a:ea typeface="Arial"/>
                <a:cs typeface="Arial"/>
                <a:sym typeface="Arial"/>
              </a:rPr>
              <a:t>s(x) high</a:t>
            </a:r>
            <a:endParaRPr sz="1400" b="0" i="0" u="none" strike="noStrike" cap="none">
              <a:solidFill>
                <a:srgbClr val="000000"/>
              </a:solidFill>
              <a:latin typeface="Arial"/>
              <a:ea typeface="Arial"/>
              <a:cs typeface="Arial"/>
              <a:sym typeface="Arial"/>
            </a:endParaRPr>
          </a:p>
        </p:txBody>
      </p:sp>
      <p:sp>
        <p:nvSpPr>
          <p:cNvPr id="626" name="Google Shape;626;g3f5396f6f7a_0_294"/>
          <p:cNvSpPr txBox="1"/>
          <p:nvPr/>
        </p:nvSpPr>
        <p:spPr>
          <a:xfrm>
            <a:off x="5852160" y="3914691"/>
            <a:ext cx="5257800" cy="2523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5276"/>
                </a:solidFill>
                <a:latin typeface="Arial"/>
                <a:ea typeface="Arial"/>
                <a:cs typeface="Arial"/>
                <a:sym typeface="Arial"/>
              </a:rPr>
              <a:t>SWAP-test resources</a:t>
            </a:r>
            <a:endParaRPr sz="1400" b="0" i="0" u="none" strike="noStrike" cap="none">
              <a:solidFill>
                <a:srgbClr val="000000"/>
              </a:solidFill>
              <a:latin typeface="Arial"/>
              <a:ea typeface="Arial"/>
              <a:cs typeface="Arial"/>
              <a:sym typeface="Arial"/>
            </a:endParaRPr>
          </a:p>
        </p:txBody>
      </p:sp>
      <p:sp>
        <p:nvSpPr>
          <p:cNvPr id="627" name="Google Shape;627;g3f5396f6f7a_0_294"/>
          <p:cNvSpPr txBox="1"/>
          <p:nvPr/>
        </p:nvSpPr>
        <p:spPr>
          <a:xfrm>
            <a:off x="5971020" y="4928417"/>
            <a:ext cx="5120700" cy="1908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Example: 4 input qubits + 2 reference/trash qubits + 1 ancilla = 7 total qubits.</a:t>
            </a:r>
            <a:endParaRPr sz="1400" b="0" i="0" u="none" strike="noStrike" cap="none">
              <a:solidFill>
                <a:srgbClr val="000000"/>
              </a:solidFill>
              <a:latin typeface="Arial"/>
              <a:ea typeface="Arial"/>
              <a:cs typeface="Arial"/>
              <a:sym typeface="Arial"/>
            </a:endParaRPr>
          </a:p>
        </p:txBody>
      </p:sp>
      <p:sp>
        <p:nvSpPr>
          <p:cNvPr id="628" name="Google Shape;628;g3f5396f6f7a_0_294"/>
          <p:cNvSpPr txBox="1"/>
          <p:nvPr/>
        </p:nvSpPr>
        <p:spPr>
          <a:xfrm>
            <a:off x="594360" y="4559067"/>
            <a:ext cx="3657600" cy="2523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5276"/>
                </a:solidFill>
                <a:latin typeface="Arial"/>
                <a:ea typeface="Arial"/>
                <a:cs typeface="Arial"/>
                <a:sym typeface="Arial"/>
              </a:rPr>
              <a:t>Iteration loop</a:t>
            </a:r>
            <a:endParaRPr sz="1400" b="0" i="0" u="none" strike="noStrike" cap="none">
              <a:solidFill>
                <a:srgbClr val="000000"/>
              </a:solidFill>
              <a:latin typeface="Arial"/>
              <a:ea typeface="Arial"/>
              <a:cs typeface="Arial"/>
              <a:sym typeface="Arial"/>
            </a:endParaRPr>
          </a:p>
        </p:txBody>
      </p:sp>
      <p:sp>
        <p:nvSpPr>
          <p:cNvPr id="629" name="Google Shape;629;g3f5396f6f7a_0_294"/>
          <p:cNvSpPr/>
          <p:nvPr/>
        </p:nvSpPr>
        <p:spPr>
          <a:xfrm>
            <a:off x="640080" y="4970547"/>
            <a:ext cx="822900" cy="457200"/>
          </a:xfrm>
          <a:prstGeom prst="roundRect">
            <a:avLst>
              <a:gd name="adj" fmla="val 16667"/>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0" name="Google Shape;630;g3f5396f6f7a_0_294"/>
          <p:cNvSpPr txBox="1"/>
          <p:nvPr/>
        </p:nvSpPr>
        <p:spPr>
          <a:xfrm>
            <a:off x="685800" y="5043699"/>
            <a:ext cx="731400" cy="1569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780"/>
              <a:buFont typeface="Arial"/>
              <a:buNone/>
            </a:pPr>
            <a:r>
              <a:rPr lang="en-US" sz="780" b="1" i="0" u="none" strike="noStrike" cap="none">
                <a:solidFill>
                  <a:srgbClr val="FFFFFF"/>
                </a:solidFill>
                <a:latin typeface="Arial"/>
                <a:ea typeface="Arial"/>
                <a:cs typeface="Arial"/>
                <a:sym typeface="Arial"/>
              </a:rPr>
              <a:t>initialize Θ</a:t>
            </a:r>
            <a:endParaRPr sz="1400" b="0" i="0" u="none" strike="noStrike" cap="none">
              <a:solidFill>
                <a:srgbClr val="000000"/>
              </a:solidFill>
              <a:latin typeface="Arial"/>
              <a:ea typeface="Arial"/>
              <a:cs typeface="Arial"/>
              <a:sym typeface="Arial"/>
            </a:endParaRPr>
          </a:p>
        </p:txBody>
      </p:sp>
      <p:sp>
        <p:nvSpPr>
          <p:cNvPr id="631" name="Google Shape;631;g3f5396f6f7a_0_294"/>
          <p:cNvSpPr txBox="1"/>
          <p:nvPr/>
        </p:nvSpPr>
        <p:spPr>
          <a:xfrm>
            <a:off x="1444752" y="5071131"/>
            <a:ext cx="228600" cy="221700"/>
          </a:xfrm>
          <a:prstGeom prst="rect">
            <a:avLst/>
          </a:prstGeom>
          <a:noFill/>
          <a:ln>
            <a:noFill/>
          </a:ln>
        </p:spPr>
        <p:txBody>
          <a:bodyPr spcFirstLastPara="1" wrap="square" lIns="45700" tIns="18275" rIns="45700" bIns="18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5521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632" name="Google Shape;632;g3f5396f6f7a_0_294"/>
          <p:cNvSpPr/>
          <p:nvPr/>
        </p:nvSpPr>
        <p:spPr>
          <a:xfrm>
            <a:off x="1673351" y="4970547"/>
            <a:ext cx="822900" cy="457200"/>
          </a:xfrm>
          <a:prstGeom prst="roundRect">
            <a:avLst>
              <a:gd name="adj" fmla="val 16667"/>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g3f5396f6f7a_0_294"/>
          <p:cNvSpPr txBox="1"/>
          <p:nvPr/>
        </p:nvSpPr>
        <p:spPr>
          <a:xfrm>
            <a:off x="1719072" y="5043699"/>
            <a:ext cx="731400" cy="1569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780"/>
              <a:buFont typeface="Arial"/>
              <a:buNone/>
            </a:pPr>
            <a:r>
              <a:rPr lang="en-US" sz="780" b="1" i="0" u="none" strike="noStrike" cap="none">
                <a:solidFill>
                  <a:srgbClr val="FFFFFF"/>
                </a:solidFill>
                <a:latin typeface="Arial"/>
                <a:ea typeface="Arial"/>
                <a:cs typeface="Arial"/>
                <a:sym typeface="Arial"/>
              </a:rPr>
              <a:t>encode event</a:t>
            </a:r>
            <a:endParaRPr sz="1400" b="0" i="0" u="none" strike="noStrike" cap="none">
              <a:solidFill>
                <a:srgbClr val="000000"/>
              </a:solidFill>
              <a:latin typeface="Arial"/>
              <a:ea typeface="Arial"/>
              <a:cs typeface="Arial"/>
              <a:sym typeface="Arial"/>
            </a:endParaRPr>
          </a:p>
        </p:txBody>
      </p:sp>
      <p:sp>
        <p:nvSpPr>
          <p:cNvPr id="634" name="Google Shape;634;g3f5396f6f7a_0_294"/>
          <p:cNvSpPr txBox="1"/>
          <p:nvPr/>
        </p:nvSpPr>
        <p:spPr>
          <a:xfrm>
            <a:off x="2478024" y="5071131"/>
            <a:ext cx="228600" cy="221700"/>
          </a:xfrm>
          <a:prstGeom prst="rect">
            <a:avLst/>
          </a:prstGeom>
          <a:noFill/>
          <a:ln>
            <a:noFill/>
          </a:ln>
        </p:spPr>
        <p:txBody>
          <a:bodyPr spcFirstLastPara="1" wrap="square" lIns="45700" tIns="18275" rIns="45700" bIns="18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5521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635" name="Google Shape;635;g3f5396f6f7a_0_294"/>
          <p:cNvSpPr/>
          <p:nvPr/>
        </p:nvSpPr>
        <p:spPr>
          <a:xfrm>
            <a:off x="2706624" y="4970547"/>
            <a:ext cx="822900" cy="457200"/>
          </a:xfrm>
          <a:prstGeom prst="roundRect">
            <a:avLst>
              <a:gd name="adj" fmla="val 16667"/>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6" name="Google Shape;636;g3f5396f6f7a_0_294"/>
          <p:cNvSpPr txBox="1"/>
          <p:nvPr/>
        </p:nvSpPr>
        <p:spPr>
          <a:xfrm>
            <a:off x="2752344" y="5043699"/>
            <a:ext cx="731400" cy="1569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780"/>
              <a:buFont typeface="Arial"/>
              <a:buNone/>
            </a:pPr>
            <a:r>
              <a:rPr lang="en-US" sz="780" b="1" i="0" u="none" strike="noStrike" cap="none">
                <a:solidFill>
                  <a:srgbClr val="FFFFFF"/>
                </a:solidFill>
                <a:latin typeface="Arial"/>
                <a:ea typeface="Arial"/>
                <a:cs typeface="Arial"/>
                <a:sym typeface="Arial"/>
              </a:rPr>
              <a:t>run shots</a:t>
            </a:r>
            <a:endParaRPr sz="1400" b="0" i="0" u="none" strike="noStrike" cap="none">
              <a:solidFill>
                <a:srgbClr val="000000"/>
              </a:solidFill>
              <a:latin typeface="Arial"/>
              <a:ea typeface="Arial"/>
              <a:cs typeface="Arial"/>
              <a:sym typeface="Arial"/>
            </a:endParaRPr>
          </a:p>
        </p:txBody>
      </p:sp>
      <p:sp>
        <p:nvSpPr>
          <p:cNvPr id="637" name="Google Shape;637;g3f5396f6f7a_0_294"/>
          <p:cNvSpPr txBox="1"/>
          <p:nvPr/>
        </p:nvSpPr>
        <p:spPr>
          <a:xfrm>
            <a:off x="3511296" y="5071131"/>
            <a:ext cx="228600" cy="221700"/>
          </a:xfrm>
          <a:prstGeom prst="rect">
            <a:avLst/>
          </a:prstGeom>
          <a:noFill/>
          <a:ln>
            <a:noFill/>
          </a:ln>
        </p:spPr>
        <p:txBody>
          <a:bodyPr spcFirstLastPara="1" wrap="square" lIns="45700" tIns="18275" rIns="45700" bIns="18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5521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638" name="Google Shape;638;g3f5396f6f7a_0_294"/>
          <p:cNvSpPr/>
          <p:nvPr/>
        </p:nvSpPr>
        <p:spPr>
          <a:xfrm>
            <a:off x="3739896" y="4970547"/>
            <a:ext cx="822900" cy="457200"/>
          </a:xfrm>
          <a:prstGeom prst="roundRect">
            <a:avLst>
              <a:gd name="adj" fmla="val 16667"/>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g3f5396f6f7a_0_294"/>
          <p:cNvSpPr txBox="1"/>
          <p:nvPr/>
        </p:nvSpPr>
        <p:spPr>
          <a:xfrm>
            <a:off x="3785615" y="5043699"/>
            <a:ext cx="731400" cy="1569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780"/>
              <a:buFont typeface="Arial"/>
              <a:buNone/>
            </a:pPr>
            <a:r>
              <a:rPr lang="en-US" sz="780" b="1" i="0" u="none" strike="noStrike" cap="none">
                <a:solidFill>
                  <a:srgbClr val="FFFFFF"/>
                </a:solidFill>
                <a:latin typeface="Arial"/>
                <a:ea typeface="Arial"/>
                <a:cs typeface="Arial"/>
                <a:sym typeface="Arial"/>
              </a:rPr>
              <a:t>estimate F</a:t>
            </a:r>
            <a:endParaRPr sz="1400" b="0" i="0" u="none" strike="noStrike" cap="none">
              <a:solidFill>
                <a:srgbClr val="000000"/>
              </a:solidFill>
              <a:latin typeface="Arial"/>
              <a:ea typeface="Arial"/>
              <a:cs typeface="Arial"/>
              <a:sym typeface="Arial"/>
            </a:endParaRPr>
          </a:p>
        </p:txBody>
      </p:sp>
      <p:sp>
        <p:nvSpPr>
          <p:cNvPr id="640" name="Google Shape;640;g3f5396f6f7a_0_294"/>
          <p:cNvSpPr txBox="1"/>
          <p:nvPr/>
        </p:nvSpPr>
        <p:spPr>
          <a:xfrm>
            <a:off x="4544568" y="5071131"/>
            <a:ext cx="228600" cy="221700"/>
          </a:xfrm>
          <a:prstGeom prst="rect">
            <a:avLst/>
          </a:prstGeom>
          <a:noFill/>
          <a:ln>
            <a:noFill/>
          </a:ln>
        </p:spPr>
        <p:txBody>
          <a:bodyPr spcFirstLastPara="1" wrap="square" lIns="45700" tIns="18275" rIns="45700" bIns="18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55219"/>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641" name="Google Shape;641;g3f5396f6f7a_0_294"/>
          <p:cNvSpPr/>
          <p:nvPr/>
        </p:nvSpPr>
        <p:spPr>
          <a:xfrm>
            <a:off x="4773168" y="4970547"/>
            <a:ext cx="822900" cy="457200"/>
          </a:xfrm>
          <a:prstGeom prst="roundRect">
            <a:avLst>
              <a:gd name="adj" fmla="val 16667"/>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2" name="Google Shape;642;g3f5396f6f7a_0_294"/>
          <p:cNvSpPr txBox="1"/>
          <p:nvPr/>
        </p:nvSpPr>
        <p:spPr>
          <a:xfrm>
            <a:off x="4818888" y="5043699"/>
            <a:ext cx="731400" cy="1569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780"/>
              <a:buFont typeface="Arial"/>
              <a:buNone/>
            </a:pPr>
            <a:r>
              <a:rPr lang="en-US" sz="780" b="1" i="0" u="none" strike="noStrike" cap="none">
                <a:solidFill>
                  <a:srgbClr val="FFFFFF"/>
                </a:solidFill>
                <a:latin typeface="Arial"/>
                <a:ea typeface="Arial"/>
                <a:cs typeface="Arial"/>
                <a:sym typeface="Arial"/>
              </a:rPr>
              <a:t>update Θ</a:t>
            </a:r>
            <a:endParaRPr sz="1400" b="0" i="0" u="none" strike="noStrike" cap="none">
              <a:solidFill>
                <a:srgbClr val="000000"/>
              </a:solidFill>
              <a:latin typeface="Arial"/>
              <a:ea typeface="Arial"/>
              <a:cs typeface="Arial"/>
              <a:sym typeface="Arial"/>
            </a:endParaRPr>
          </a:p>
        </p:txBody>
      </p:sp>
      <p:sp>
        <p:nvSpPr>
          <p:cNvPr id="643" name="Google Shape;643;g3f5396f6f7a_0_294"/>
          <p:cNvSpPr txBox="1"/>
          <p:nvPr/>
        </p:nvSpPr>
        <p:spPr>
          <a:xfrm>
            <a:off x="599233" y="5610625"/>
            <a:ext cx="6919500" cy="1878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80"/>
              <a:buFont typeface="Arial"/>
              <a:buNone/>
            </a:pPr>
            <a:r>
              <a:rPr lang="en-US" sz="980" b="0" i="0" u="none" strike="noStrike" cap="none">
                <a:solidFill>
                  <a:srgbClr val="5A5A5A"/>
                </a:solidFill>
                <a:latin typeface="Arial"/>
                <a:ea typeface="Arial"/>
                <a:cs typeface="Arial"/>
                <a:sym typeface="Arial"/>
              </a:rPr>
              <a:t>The paper trains and tests using only the encoder circuit, because trash fidelity acts as a proxy for reconstruction quality.</a:t>
            </a:r>
            <a:endParaRPr sz="1400" b="0" i="0" u="none" strike="noStrike" cap="none">
              <a:solidFill>
                <a:srgbClr val="000000"/>
              </a:solidFill>
              <a:latin typeface="Arial"/>
              <a:ea typeface="Arial"/>
              <a:cs typeface="Arial"/>
              <a:sym typeface="Arial"/>
            </a:endParaRPr>
          </a:p>
        </p:txBody>
      </p:sp>
      <p:pic>
        <p:nvPicPr>
          <p:cNvPr id="644" name="Google Shape;644;g3f5396f6f7a_0_294"/>
          <p:cNvPicPr preferRelativeResize="0"/>
          <p:nvPr/>
        </p:nvPicPr>
        <p:blipFill rotWithShape="1">
          <a:blip r:embed="rId3">
            <a:alphaModFix/>
          </a:blip>
          <a:srcRect/>
          <a:stretch/>
        </p:blipFill>
        <p:spPr>
          <a:xfrm>
            <a:off x="1129350" y="1762463"/>
            <a:ext cx="3689604" cy="685800"/>
          </a:xfrm>
          <a:prstGeom prst="rect">
            <a:avLst/>
          </a:prstGeom>
          <a:noFill/>
          <a:ln>
            <a:noFill/>
          </a:ln>
        </p:spPr>
      </p:pic>
      <p:pic>
        <p:nvPicPr>
          <p:cNvPr id="645" name="Google Shape;645;g3f5396f6f7a_0_294"/>
          <p:cNvPicPr preferRelativeResize="0"/>
          <p:nvPr/>
        </p:nvPicPr>
        <p:blipFill rotWithShape="1">
          <a:blip r:embed="rId4">
            <a:alphaModFix/>
          </a:blip>
          <a:srcRect t="13585"/>
          <a:stretch/>
        </p:blipFill>
        <p:spPr>
          <a:xfrm>
            <a:off x="5891275" y="4313075"/>
            <a:ext cx="5179550" cy="498600"/>
          </a:xfrm>
          <a:prstGeom prst="rect">
            <a:avLst/>
          </a:prstGeom>
          <a:noFill/>
          <a:ln>
            <a:noFill/>
          </a:ln>
        </p:spPr>
      </p:pic>
      <p:sp>
        <p:nvSpPr>
          <p:cNvPr id="646" name="Google Shape;646;g3f5396f6f7a_0_294"/>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g3f5396f6f7a_0_294"/>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649" name="Google Shape;649;g3f5396f6f7a_0_294"/>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g3f5396f6f7a_0_364"/>
          <p:cNvSpPr txBox="1"/>
          <p:nvPr/>
        </p:nvSpPr>
        <p:spPr>
          <a:xfrm>
            <a:off x="338328" y="836715"/>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400" b="1" i="0" u="none" strike="noStrike" cap="none">
                <a:solidFill>
                  <a:srgbClr val="0B0B0B"/>
                </a:solidFill>
                <a:latin typeface="Arial"/>
                <a:ea typeface="Arial"/>
                <a:cs typeface="Arial"/>
                <a:sym typeface="Arial"/>
              </a:rPr>
              <a:t>Optimization settings and classical baseline</a:t>
            </a:r>
            <a:endParaRPr sz="2400" b="1" i="0" u="none" strike="noStrike" cap="none">
              <a:solidFill>
                <a:srgbClr val="0B0B0B"/>
              </a:solidFill>
              <a:latin typeface="Arial"/>
              <a:ea typeface="Arial"/>
              <a:cs typeface="Arial"/>
              <a:sym typeface="Arial"/>
            </a:endParaRPr>
          </a:p>
        </p:txBody>
      </p:sp>
      <p:sp>
        <p:nvSpPr>
          <p:cNvPr id="655" name="Google Shape;655;g3f5396f6f7a_0_364"/>
          <p:cNvSpPr txBox="1"/>
          <p:nvPr/>
        </p:nvSpPr>
        <p:spPr>
          <a:xfrm>
            <a:off x="448056" y="429768"/>
            <a:ext cx="9784200" cy="186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chemeClr val="dk1"/>
              </a:buClr>
              <a:buSzPts val="850"/>
              <a:buFont typeface="Arial"/>
              <a:buNone/>
            </a:pPr>
            <a:r>
              <a:rPr lang="en-US" sz="850" b="0" i="0" u="none" strike="noStrike" cap="none">
                <a:solidFill>
                  <a:srgbClr val="5A5A5A"/>
                </a:solidFill>
                <a:latin typeface="Arial"/>
                <a:ea typeface="Arial"/>
                <a:cs typeface="Arial"/>
                <a:sym typeface="Arial"/>
              </a:rPr>
              <a:t>Numbers required to reproduce the experiment</a:t>
            </a:r>
            <a:endParaRPr sz="850" b="0" i="0" u="none" strike="noStrike" cap="none">
              <a:solidFill>
                <a:srgbClr val="5A5A5A"/>
              </a:solidFill>
              <a:latin typeface="Arial"/>
              <a:ea typeface="Arial"/>
              <a:cs typeface="Arial"/>
              <a:sym typeface="Arial"/>
            </a:endParaRPr>
          </a:p>
        </p:txBody>
      </p:sp>
      <p:sp>
        <p:nvSpPr>
          <p:cNvPr id="656" name="Google Shape;656;g3f5396f6f7a_0_364"/>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g3f5396f6f7a_0_364"/>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6 · TRAINING DETAILS</a:t>
            </a:r>
            <a:endParaRPr sz="1000" b="1" i="0" u="none" strike="noStrike" cap="none">
              <a:solidFill>
                <a:srgbClr val="06507A"/>
              </a:solidFill>
              <a:latin typeface="Arial"/>
              <a:ea typeface="Arial"/>
              <a:cs typeface="Arial"/>
              <a:sym typeface="Arial"/>
            </a:endParaRPr>
          </a:p>
        </p:txBody>
      </p:sp>
      <p:cxnSp>
        <p:nvCxnSpPr>
          <p:cNvPr id="658" name="Google Shape;658;g3f5396f6f7a_0_364"/>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659" name="Google Shape;659;g3f5396f6f7a_0_364"/>
          <p:cNvSpPr txBox="1"/>
          <p:nvPr/>
        </p:nvSpPr>
        <p:spPr>
          <a:xfrm>
            <a:off x="548640" y="1432361"/>
            <a:ext cx="3200400" cy="2523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5276"/>
                </a:solidFill>
                <a:latin typeface="Arial"/>
                <a:ea typeface="Arial"/>
                <a:cs typeface="Arial"/>
                <a:sym typeface="Arial"/>
              </a:rPr>
              <a:t>QAE training schedule</a:t>
            </a:r>
            <a:endParaRPr sz="1400" b="0" i="0" u="none" strike="noStrike" cap="none">
              <a:solidFill>
                <a:srgbClr val="000000"/>
              </a:solidFill>
              <a:latin typeface="Arial"/>
              <a:ea typeface="Arial"/>
              <a:cs typeface="Arial"/>
              <a:sym typeface="Arial"/>
            </a:endParaRPr>
          </a:p>
        </p:txBody>
      </p:sp>
      <p:sp>
        <p:nvSpPr>
          <p:cNvPr id="660" name="Google Shape;660;g3f5396f6f7a_0_364"/>
          <p:cNvSpPr/>
          <p:nvPr/>
        </p:nvSpPr>
        <p:spPr>
          <a:xfrm>
            <a:off x="548640" y="1807265"/>
            <a:ext cx="1005900" cy="347400"/>
          </a:xfrm>
          <a:prstGeom prst="roundRect">
            <a:avLst>
              <a:gd name="adj" fmla="val 16667"/>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g3f5396f6f7a_0_364"/>
          <p:cNvSpPr txBox="1"/>
          <p:nvPr/>
        </p:nvSpPr>
        <p:spPr>
          <a:xfrm>
            <a:off x="594360" y="1880417"/>
            <a:ext cx="914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1" i="0" u="none" strike="noStrike" cap="none">
                <a:solidFill>
                  <a:srgbClr val="FFFFFF"/>
                </a:solidFill>
                <a:latin typeface="Arial"/>
                <a:ea typeface="Arial"/>
                <a:cs typeface="Arial"/>
                <a:sym typeface="Arial"/>
              </a:rPr>
              <a:t>Train events</a:t>
            </a:r>
            <a:endParaRPr sz="1400" b="0" i="0" u="none" strike="noStrike" cap="none">
              <a:solidFill>
                <a:srgbClr val="000000"/>
              </a:solidFill>
              <a:latin typeface="Arial"/>
              <a:ea typeface="Arial"/>
              <a:cs typeface="Arial"/>
              <a:sym typeface="Arial"/>
            </a:endParaRPr>
          </a:p>
        </p:txBody>
      </p:sp>
      <p:sp>
        <p:nvSpPr>
          <p:cNvPr id="662" name="Google Shape;662;g3f5396f6f7a_0_364"/>
          <p:cNvSpPr/>
          <p:nvPr/>
        </p:nvSpPr>
        <p:spPr>
          <a:xfrm>
            <a:off x="1554480" y="1807265"/>
            <a:ext cx="822900" cy="347400"/>
          </a:xfrm>
          <a:prstGeom prst="roundRect">
            <a:avLst>
              <a:gd name="adj" fmla="val 16667"/>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g3f5396f6f7a_0_364"/>
          <p:cNvSpPr txBox="1"/>
          <p:nvPr/>
        </p:nvSpPr>
        <p:spPr>
          <a:xfrm>
            <a:off x="1600200" y="1880417"/>
            <a:ext cx="731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1" i="0" u="none" strike="noStrike" cap="none">
                <a:solidFill>
                  <a:srgbClr val="FFFFFF"/>
                </a:solidFill>
                <a:latin typeface="Arial"/>
                <a:ea typeface="Arial"/>
                <a:cs typeface="Arial"/>
                <a:sym typeface="Arial"/>
              </a:rPr>
              <a:t>Epochs</a:t>
            </a:r>
            <a:endParaRPr sz="1400" b="0" i="0" u="none" strike="noStrike" cap="none">
              <a:solidFill>
                <a:srgbClr val="000000"/>
              </a:solidFill>
              <a:latin typeface="Arial"/>
              <a:ea typeface="Arial"/>
              <a:cs typeface="Arial"/>
              <a:sym typeface="Arial"/>
            </a:endParaRPr>
          </a:p>
        </p:txBody>
      </p:sp>
      <p:sp>
        <p:nvSpPr>
          <p:cNvPr id="664" name="Google Shape;664;g3f5396f6f7a_0_364"/>
          <p:cNvSpPr/>
          <p:nvPr/>
        </p:nvSpPr>
        <p:spPr>
          <a:xfrm>
            <a:off x="2377440" y="1807265"/>
            <a:ext cx="1097400" cy="347400"/>
          </a:xfrm>
          <a:prstGeom prst="roundRect">
            <a:avLst>
              <a:gd name="adj" fmla="val 16667"/>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g3f5396f6f7a_0_364"/>
          <p:cNvSpPr txBox="1"/>
          <p:nvPr/>
        </p:nvSpPr>
        <p:spPr>
          <a:xfrm>
            <a:off x="2423160" y="1880417"/>
            <a:ext cx="10059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1" i="0" u="none" strike="noStrike" cap="none">
                <a:solidFill>
                  <a:srgbClr val="FFFFFF"/>
                </a:solidFill>
                <a:latin typeface="Arial"/>
                <a:ea typeface="Arial"/>
                <a:cs typeface="Arial"/>
                <a:sym typeface="Arial"/>
              </a:rPr>
              <a:t>Updates</a:t>
            </a:r>
            <a:endParaRPr sz="1400" b="0" i="0" u="none" strike="noStrike" cap="none">
              <a:solidFill>
                <a:srgbClr val="000000"/>
              </a:solidFill>
              <a:latin typeface="Arial"/>
              <a:ea typeface="Arial"/>
              <a:cs typeface="Arial"/>
              <a:sym typeface="Arial"/>
            </a:endParaRPr>
          </a:p>
        </p:txBody>
      </p:sp>
      <p:sp>
        <p:nvSpPr>
          <p:cNvPr id="666" name="Google Shape;666;g3f5396f6f7a_0_364"/>
          <p:cNvSpPr/>
          <p:nvPr/>
        </p:nvSpPr>
        <p:spPr>
          <a:xfrm>
            <a:off x="548640" y="2191313"/>
            <a:ext cx="10059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g3f5396f6f7a_0_364"/>
          <p:cNvSpPr txBox="1"/>
          <p:nvPr/>
        </p:nvSpPr>
        <p:spPr>
          <a:xfrm>
            <a:off x="594360" y="2264465"/>
            <a:ext cx="914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668" name="Google Shape;668;g3f5396f6f7a_0_364"/>
          <p:cNvSpPr/>
          <p:nvPr/>
        </p:nvSpPr>
        <p:spPr>
          <a:xfrm>
            <a:off x="1554480" y="2191313"/>
            <a:ext cx="8229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9" name="Google Shape;669;g3f5396f6f7a_0_364"/>
          <p:cNvSpPr txBox="1"/>
          <p:nvPr/>
        </p:nvSpPr>
        <p:spPr>
          <a:xfrm>
            <a:off x="1600200" y="2264465"/>
            <a:ext cx="731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500</a:t>
            </a:r>
            <a:endParaRPr sz="1400" b="0" i="0" u="none" strike="noStrike" cap="none">
              <a:solidFill>
                <a:srgbClr val="000000"/>
              </a:solidFill>
              <a:latin typeface="Arial"/>
              <a:ea typeface="Arial"/>
              <a:cs typeface="Arial"/>
              <a:sym typeface="Arial"/>
            </a:endParaRPr>
          </a:p>
        </p:txBody>
      </p:sp>
      <p:sp>
        <p:nvSpPr>
          <p:cNvPr id="670" name="Google Shape;670;g3f5396f6f7a_0_364"/>
          <p:cNvSpPr/>
          <p:nvPr/>
        </p:nvSpPr>
        <p:spPr>
          <a:xfrm>
            <a:off x="2377440" y="2191313"/>
            <a:ext cx="10974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1" name="Google Shape;671;g3f5396f6f7a_0_364"/>
          <p:cNvSpPr txBox="1"/>
          <p:nvPr/>
        </p:nvSpPr>
        <p:spPr>
          <a:xfrm>
            <a:off x="2423160" y="2264465"/>
            <a:ext cx="10059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500</a:t>
            </a:r>
            <a:endParaRPr sz="1400" b="0" i="0" u="none" strike="noStrike" cap="none">
              <a:solidFill>
                <a:srgbClr val="000000"/>
              </a:solidFill>
              <a:latin typeface="Arial"/>
              <a:ea typeface="Arial"/>
              <a:cs typeface="Arial"/>
              <a:sym typeface="Arial"/>
            </a:endParaRPr>
          </a:p>
        </p:txBody>
      </p:sp>
      <p:sp>
        <p:nvSpPr>
          <p:cNvPr id="672" name="Google Shape;672;g3f5396f6f7a_0_364"/>
          <p:cNvSpPr/>
          <p:nvPr/>
        </p:nvSpPr>
        <p:spPr>
          <a:xfrm>
            <a:off x="548640" y="2575361"/>
            <a:ext cx="10059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g3f5396f6f7a_0_364"/>
          <p:cNvSpPr txBox="1"/>
          <p:nvPr/>
        </p:nvSpPr>
        <p:spPr>
          <a:xfrm>
            <a:off x="594360" y="2648513"/>
            <a:ext cx="914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10</a:t>
            </a:r>
            <a:endParaRPr sz="1400" b="0" i="0" u="none" strike="noStrike" cap="none">
              <a:solidFill>
                <a:srgbClr val="000000"/>
              </a:solidFill>
              <a:latin typeface="Arial"/>
              <a:ea typeface="Arial"/>
              <a:cs typeface="Arial"/>
              <a:sym typeface="Arial"/>
            </a:endParaRPr>
          </a:p>
        </p:txBody>
      </p:sp>
      <p:sp>
        <p:nvSpPr>
          <p:cNvPr id="674" name="Google Shape;674;g3f5396f6f7a_0_364"/>
          <p:cNvSpPr/>
          <p:nvPr/>
        </p:nvSpPr>
        <p:spPr>
          <a:xfrm>
            <a:off x="1554480" y="2575361"/>
            <a:ext cx="8229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g3f5396f6f7a_0_364"/>
          <p:cNvSpPr txBox="1"/>
          <p:nvPr/>
        </p:nvSpPr>
        <p:spPr>
          <a:xfrm>
            <a:off x="1600200" y="2648513"/>
            <a:ext cx="731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200</a:t>
            </a:r>
            <a:endParaRPr sz="1400" b="0" i="0" u="none" strike="noStrike" cap="none">
              <a:solidFill>
                <a:srgbClr val="000000"/>
              </a:solidFill>
              <a:latin typeface="Arial"/>
              <a:ea typeface="Arial"/>
              <a:cs typeface="Arial"/>
              <a:sym typeface="Arial"/>
            </a:endParaRPr>
          </a:p>
        </p:txBody>
      </p:sp>
      <p:sp>
        <p:nvSpPr>
          <p:cNvPr id="676" name="Google Shape;676;g3f5396f6f7a_0_364"/>
          <p:cNvSpPr/>
          <p:nvPr/>
        </p:nvSpPr>
        <p:spPr>
          <a:xfrm>
            <a:off x="2377440" y="2575361"/>
            <a:ext cx="10974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g3f5396f6f7a_0_364"/>
          <p:cNvSpPr txBox="1"/>
          <p:nvPr/>
        </p:nvSpPr>
        <p:spPr>
          <a:xfrm>
            <a:off x="2423160" y="2648513"/>
            <a:ext cx="10059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2,000</a:t>
            </a:r>
            <a:endParaRPr sz="1400" b="0" i="0" u="none" strike="noStrike" cap="none">
              <a:solidFill>
                <a:srgbClr val="000000"/>
              </a:solidFill>
              <a:latin typeface="Arial"/>
              <a:ea typeface="Arial"/>
              <a:cs typeface="Arial"/>
              <a:sym typeface="Arial"/>
            </a:endParaRPr>
          </a:p>
        </p:txBody>
      </p:sp>
      <p:sp>
        <p:nvSpPr>
          <p:cNvPr id="678" name="Google Shape;678;g3f5396f6f7a_0_364"/>
          <p:cNvSpPr/>
          <p:nvPr/>
        </p:nvSpPr>
        <p:spPr>
          <a:xfrm>
            <a:off x="548640" y="2959409"/>
            <a:ext cx="10059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g3f5396f6f7a_0_364"/>
          <p:cNvSpPr txBox="1"/>
          <p:nvPr/>
        </p:nvSpPr>
        <p:spPr>
          <a:xfrm>
            <a:off x="594360" y="3032561"/>
            <a:ext cx="914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100</a:t>
            </a:r>
            <a:endParaRPr sz="1400" b="0" i="0" u="none" strike="noStrike" cap="none">
              <a:solidFill>
                <a:srgbClr val="000000"/>
              </a:solidFill>
              <a:latin typeface="Arial"/>
              <a:ea typeface="Arial"/>
              <a:cs typeface="Arial"/>
              <a:sym typeface="Arial"/>
            </a:endParaRPr>
          </a:p>
        </p:txBody>
      </p:sp>
      <p:sp>
        <p:nvSpPr>
          <p:cNvPr id="680" name="Google Shape;680;g3f5396f6f7a_0_364"/>
          <p:cNvSpPr/>
          <p:nvPr/>
        </p:nvSpPr>
        <p:spPr>
          <a:xfrm>
            <a:off x="1554480" y="2959409"/>
            <a:ext cx="8229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g3f5396f6f7a_0_364"/>
          <p:cNvSpPr txBox="1"/>
          <p:nvPr/>
        </p:nvSpPr>
        <p:spPr>
          <a:xfrm>
            <a:off x="1600200" y="3032561"/>
            <a:ext cx="731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50</a:t>
            </a:r>
            <a:endParaRPr sz="1400" b="0" i="0" u="none" strike="noStrike" cap="none">
              <a:solidFill>
                <a:srgbClr val="000000"/>
              </a:solidFill>
              <a:latin typeface="Arial"/>
              <a:ea typeface="Arial"/>
              <a:cs typeface="Arial"/>
              <a:sym typeface="Arial"/>
            </a:endParaRPr>
          </a:p>
        </p:txBody>
      </p:sp>
      <p:sp>
        <p:nvSpPr>
          <p:cNvPr id="682" name="Google Shape;682;g3f5396f6f7a_0_364"/>
          <p:cNvSpPr/>
          <p:nvPr/>
        </p:nvSpPr>
        <p:spPr>
          <a:xfrm>
            <a:off x="2377440" y="2959409"/>
            <a:ext cx="10974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g3f5396f6f7a_0_364"/>
          <p:cNvSpPr txBox="1"/>
          <p:nvPr/>
        </p:nvSpPr>
        <p:spPr>
          <a:xfrm>
            <a:off x="2423160" y="3032561"/>
            <a:ext cx="10059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5,000</a:t>
            </a:r>
            <a:endParaRPr sz="1400" b="0" i="0" u="none" strike="noStrike" cap="none">
              <a:solidFill>
                <a:srgbClr val="000000"/>
              </a:solidFill>
              <a:latin typeface="Arial"/>
              <a:ea typeface="Arial"/>
              <a:cs typeface="Arial"/>
              <a:sym typeface="Arial"/>
            </a:endParaRPr>
          </a:p>
        </p:txBody>
      </p:sp>
      <p:sp>
        <p:nvSpPr>
          <p:cNvPr id="684" name="Google Shape;684;g3f5396f6f7a_0_364"/>
          <p:cNvSpPr/>
          <p:nvPr/>
        </p:nvSpPr>
        <p:spPr>
          <a:xfrm>
            <a:off x="548640" y="3343456"/>
            <a:ext cx="10059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g3f5396f6f7a_0_364"/>
          <p:cNvSpPr txBox="1"/>
          <p:nvPr/>
        </p:nvSpPr>
        <p:spPr>
          <a:xfrm>
            <a:off x="594360" y="3416609"/>
            <a:ext cx="914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1,000</a:t>
            </a:r>
            <a:endParaRPr sz="1400" b="0" i="0" u="none" strike="noStrike" cap="none">
              <a:solidFill>
                <a:srgbClr val="000000"/>
              </a:solidFill>
              <a:latin typeface="Arial"/>
              <a:ea typeface="Arial"/>
              <a:cs typeface="Arial"/>
              <a:sym typeface="Arial"/>
            </a:endParaRPr>
          </a:p>
        </p:txBody>
      </p:sp>
      <p:sp>
        <p:nvSpPr>
          <p:cNvPr id="686" name="Google Shape;686;g3f5396f6f7a_0_364"/>
          <p:cNvSpPr/>
          <p:nvPr/>
        </p:nvSpPr>
        <p:spPr>
          <a:xfrm>
            <a:off x="1554480" y="3343456"/>
            <a:ext cx="8229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7" name="Google Shape;687;g3f5396f6f7a_0_364"/>
          <p:cNvSpPr txBox="1"/>
          <p:nvPr/>
        </p:nvSpPr>
        <p:spPr>
          <a:xfrm>
            <a:off x="1600200" y="3416609"/>
            <a:ext cx="731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50</a:t>
            </a:r>
            <a:endParaRPr sz="1400" b="0" i="0" u="none" strike="noStrike" cap="none">
              <a:solidFill>
                <a:srgbClr val="000000"/>
              </a:solidFill>
              <a:latin typeface="Arial"/>
              <a:ea typeface="Arial"/>
              <a:cs typeface="Arial"/>
              <a:sym typeface="Arial"/>
            </a:endParaRPr>
          </a:p>
        </p:txBody>
      </p:sp>
      <p:sp>
        <p:nvSpPr>
          <p:cNvPr id="688" name="Google Shape;688;g3f5396f6f7a_0_364"/>
          <p:cNvSpPr/>
          <p:nvPr/>
        </p:nvSpPr>
        <p:spPr>
          <a:xfrm>
            <a:off x="2377440" y="3343456"/>
            <a:ext cx="10974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9" name="Google Shape;689;g3f5396f6f7a_0_364"/>
          <p:cNvSpPr txBox="1"/>
          <p:nvPr/>
        </p:nvSpPr>
        <p:spPr>
          <a:xfrm>
            <a:off x="2423160" y="3416609"/>
            <a:ext cx="10059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50,000</a:t>
            </a:r>
            <a:endParaRPr sz="1400" b="0" i="0" u="none" strike="noStrike" cap="none">
              <a:solidFill>
                <a:srgbClr val="000000"/>
              </a:solidFill>
              <a:latin typeface="Arial"/>
              <a:ea typeface="Arial"/>
              <a:cs typeface="Arial"/>
              <a:sym typeface="Arial"/>
            </a:endParaRPr>
          </a:p>
        </p:txBody>
      </p:sp>
      <p:sp>
        <p:nvSpPr>
          <p:cNvPr id="690" name="Google Shape;690;g3f5396f6f7a_0_364"/>
          <p:cNvSpPr/>
          <p:nvPr/>
        </p:nvSpPr>
        <p:spPr>
          <a:xfrm>
            <a:off x="548640" y="3705429"/>
            <a:ext cx="10059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1" name="Google Shape;691;g3f5396f6f7a_0_364"/>
          <p:cNvSpPr txBox="1"/>
          <p:nvPr/>
        </p:nvSpPr>
        <p:spPr>
          <a:xfrm>
            <a:off x="594360" y="3800657"/>
            <a:ext cx="914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10,000</a:t>
            </a:r>
            <a:endParaRPr sz="1400" b="0" i="0" u="none" strike="noStrike" cap="none">
              <a:solidFill>
                <a:srgbClr val="000000"/>
              </a:solidFill>
              <a:latin typeface="Arial"/>
              <a:ea typeface="Arial"/>
              <a:cs typeface="Arial"/>
              <a:sym typeface="Arial"/>
            </a:endParaRPr>
          </a:p>
        </p:txBody>
      </p:sp>
      <p:sp>
        <p:nvSpPr>
          <p:cNvPr id="692" name="Google Shape;692;g3f5396f6f7a_0_364"/>
          <p:cNvSpPr/>
          <p:nvPr/>
        </p:nvSpPr>
        <p:spPr>
          <a:xfrm>
            <a:off x="1577405" y="3705429"/>
            <a:ext cx="8229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3" name="Google Shape;693;g3f5396f6f7a_0_364"/>
          <p:cNvSpPr txBox="1"/>
          <p:nvPr/>
        </p:nvSpPr>
        <p:spPr>
          <a:xfrm>
            <a:off x="1600200" y="3800657"/>
            <a:ext cx="7314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50</a:t>
            </a:r>
            <a:endParaRPr sz="1400" b="0" i="0" u="none" strike="noStrike" cap="none">
              <a:solidFill>
                <a:srgbClr val="000000"/>
              </a:solidFill>
              <a:latin typeface="Arial"/>
              <a:ea typeface="Arial"/>
              <a:cs typeface="Arial"/>
              <a:sym typeface="Arial"/>
            </a:endParaRPr>
          </a:p>
        </p:txBody>
      </p:sp>
      <p:sp>
        <p:nvSpPr>
          <p:cNvPr id="694" name="Google Shape;694;g3f5396f6f7a_0_364"/>
          <p:cNvSpPr/>
          <p:nvPr/>
        </p:nvSpPr>
        <p:spPr>
          <a:xfrm>
            <a:off x="2400290" y="3710504"/>
            <a:ext cx="1097400" cy="329100"/>
          </a:xfrm>
          <a:prstGeom prst="roundRect">
            <a:avLst>
              <a:gd name="adj" fmla="val 16667"/>
            </a:avLst>
          </a:prstGeom>
          <a:solidFill>
            <a:srgbClr val="F8F5EF"/>
          </a:solidFill>
          <a:ln w="9525" cap="flat" cmpd="sng">
            <a:solidFill>
              <a:srgbClr val="F8F5E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g3f5396f6f7a_0_364"/>
          <p:cNvSpPr txBox="1"/>
          <p:nvPr/>
        </p:nvSpPr>
        <p:spPr>
          <a:xfrm>
            <a:off x="2423160" y="3800657"/>
            <a:ext cx="1005900" cy="167700"/>
          </a:xfrm>
          <a:prstGeom prst="rect">
            <a:avLst/>
          </a:prstGeom>
          <a:noFill/>
          <a:ln>
            <a:noFill/>
          </a:ln>
        </p:spPr>
        <p:txBody>
          <a:bodyPr spcFirstLastPara="1" wrap="square" lIns="45700" tIns="18275" rIns="45700" bIns="18275" anchor="ctr" anchorCtr="0">
            <a:spAutoFit/>
          </a:bodyPr>
          <a:lstStyle/>
          <a:p>
            <a:pPr marL="0" marR="0" lvl="0" indent="0" algn="ctr" rtl="0">
              <a:lnSpc>
                <a:spcPct val="100000"/>
              </a:lnSpc>
              <a:spcBef>
                <a:spcPts val="0"/>
              </a:spcBef>
              <a:spcAft>
                <a:spcPts val="0"/>
              </a:spcAft>
              <a:buClr>
                <a:srgbClr val="000000"/>
              </a:buClr>
              <a:buSzPts val="850"/>
              <a:buFont typeface="Arial"/>
              <a:buNone/>
            </a:pPr>
            <a:r>
              <a:rPr lang="en-US" sz="850" b="0" i="0" u="none" strike="noStrike" cap="none">
                <a:solidFill>
                  <a:srgbClr val="000000"/>
                </a:solidFill>
                <a:latin typeface="Arial"/>
                <a:ea typeface="Arial"/>
                <a:cs typeface="Arial"/>
                <a:sym typeface="Arial"/>
              </a:rPr>
              <a:t>500,000</a:t>
            </a:r>
            <a:endParaRPr sz="1400" b="0" i="0" u="none" strike="noStrike" cap="none">
              <a:solidFill>
                <a:srgbClr val="000000"/>
              </a:solidFill>
              <a:latin typeface="Arial"/>
              <a:ea typeface="Arial"/>
              <a:cs typeface="Arial"/>
              <a:sym typeface="Arial"/>
            </a:endParaRPr>
          </a:p>
        </p:txBody>
      </p:sp>
      <p:sp>
        <p:nvSpPr>
          <p:cNvPr id="696" name="Google Shape;696;g3f5396f6f7a_0_364"/>
          <p:cNvSpPr/>
          <p:nvPr/>
        </p:nvSpPr>
        <p:spPr>
          <a:xfrm>
            <a:off x="3886200" y="1779833"/>
            <a:ext cx="3154800" cy="10974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g3f5396f6f7a_0_364"/>
          <p:cNvSpPr/>
          <p:nvPr/>
        </p:nvSpPr>
        <p:spPr>
          <a:xfrm>
            <a:off x="3886200" y="1779833"/>
            <a:ext cx="54900" cy="10974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g3f5396f6f7a_0_364"/>
          <p:cNvSpPr txBox="1"/>
          <p:nvPr/>
        </p:nvSpPr>
        <p:spPr>
          <a:xfrm>
            <a:off x="4014215" y="1852985"/>
            <a:ext cx="29535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Quantum-gradient descent</a:t>
            </a:r>
            <a:endParaRPr sz="1400" b="0" i="0" u="none" strike="noStrike" cap="none">
              <a:solidFill>
                <a:srgbClr val="000000"/>
              </a:solidFill>
              <a:latin typeface="Arial"/>
              <a:ea typeface="Arial"/>
              <a:cs typeface="Arial"/>
              <a:sym typeface="Arial"/>
            </a:endParaRPr>
          </a:p>
        </p:txBody>
      </p:sp>
      <p:sp>
        <p:nvSpPr>
          <p:cNvPr id="699" name="Google Shape;699;g3f5396f6f7a_0_364"/>
          <p:cNvSpPr txBox="1"/>
          <p:nvPr/>
        </p:nvSpPr>
        <p:spPr>
          <a:xfrm>
            <a:off x="4014215" y="2127305"/>
            <a:ext cx="2926200" cy="4710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40"/>
              <a:buFont typeface="Arial"/>
              <a:buNone/>
            </a:pPr>
            <a:endParaRPr sz="94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39"/>
              <a:buFont typeface="Arial"/>
              <a:buNone/>
            </a:pPr>
            <a:r>
              <a:rPr lang="en-US" sz="940" b="0" i="0" u="none" strike="noStrike" cap="none">
                <a:solidFill>
                  <a:srgbClr val="000000"/>
                </a:solidFill>
                <a:latin typeface="Arial"/>
                <a:ea typeface="Arial"/>
                <a:cs typeface="Arial"/>
                <a:sym typeface="Arial"/>
              </a:rPr>
              <a:t>G is the Fubini–Study metric; the update respects quantum-state geometry.</a:t>
            </a:r>
            <a:endParaRPr sz="1400" b="0" i="0" u="none" strike="noStrike" cap="none">
              <a:solidFill>
                <a:srgbClr val="000000"/>
              </a:solidFill>
              <a:latin typeface="Arial"/>
              <a:ea typeface="Arial"/>
              <a:cs typeface="Arial"/>
              <a:sym typeface="Arial"/>
            </a:endParaRPr>
          </a:p>
        </p:txBody>
      </p:sp>
      <p:sp>
        <p:nvSpPr>
          <p:cNvPr id="700" name="Google Shape;700;g3f5396f6f7a_0_364"/>
          <p:cNvSpPr/>
          <p:nvPr/>
        </p:nvSpPr>
        <p:spPr>
          <a:xfrm>
            <a:off x="7360920" y="1779833"/>
            <a:ext cx="4114800" cy="10974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1" name="Google Shape;701;g3f5396f6f7a_0_364"/>
          <p:cNvSpPr/>
          <p:nvPr/>
        </p:nvSpPr>
        <p:spPr>
          <a:xfrm>
            <a:off x="7360920" y="1779833"/>
            <a:ext cx="54900" cy="10974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g3f5396f6f7a_0_364"/>
          <p:cNvSpPr txBox="1"/>
          <p:nvPr/>
        </p:nvSpPr>
        <p:spPr>
          <a:xfrm>
            <a:off x="7488936" y="1852985"/>
            <a:ext cx="39135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QAE fixed settings</a:t>
            </a:r>
            <a:endParaRPr sz="1400" b="0" i="0" u="none" strike="noStrike" cap="none">
              <a:solidFill>
                <a:srgbClr val="000000"/>
              </a:solidFill>
              <a:latin typeface="Arial"/>
              <a:ea typeface="Arial"/>
              <a:cs typeface="Arial"/>
              <a:sym typeface="Arial"/>
            </a:endParaRPr>
          </a:p>
        </p:txBody>
      </p:sp>
      <p:sp>
        <p:nvSpPr>
          <p:cNvPr id="703" name="Google Shape;703;g3f5396f6f7a_0_364"/>
          <p:cNvSpPr txBox="1"/>
          <p:nvPr/>
        </p:nvSpPr>
        <p:spPr>
          <a:xfrm>
            <a:off x="7488936" y="2127305"/>
            <a:ext cx="3886200" cy="4614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18"/>
              <a:buFont typeface="Arial"/>
              <a:buNone/>
            </a:pPr>
            <a:r>
              <a:rPr lang="en-US" sz="919" b="0" i="0" u="none" strike="noStrike" cap="none">
                <a:solidFill>
                  <a:srgbClr val="000000"/>
                </a:solidFill>
                <a:latin typeface="Arial"/>
                <a:ea typeface="Arial"/>
                <a:cs typeface="Arial"/>
                <a:sym typeface="Arial"/>
              </a:rPr>
              <a:t>5,000 shots per circuit evaluation</a:t>
            </a:r>
            <a:br>
              <a:rPr lang="en-US" sz="1400" b="0" i="0" u="none" strike="noStrike" cap="none">
                <a:solidFill>
                  <a:srgbClr val="000000"/>
                </a:solidFill>
                <a:latin typeface="Arial"/>
                <a:ea typeface="Arial"/>
                <a:cs typeface="Arial"/>
                <a:sym typeface="Arial"/>
              </a:rPr>
            </a:br>
            <a:r>
              <a:rPr lang="en-US" sz="919" b="0" i="0" u="none" strike="noStrike" cap="none">
                <a:solidFill>
                  <a:srgbClr val="000000"/>
                </a:solidFill>
                <a:latin typeface="Arial"/>
                <a:ea typeface="Arial"/>
                <a:cs typeface="Arial"/>
                <a:sym typeface="Arial"/>
              </a:rPr>
              <a:t>Weights updated for each data sample</a:t>
            </a:r>
            <a:br>
              <a:rPr lang="en-US" sz="1400" b="0" i="0" u="none" strike="noStrike" cap="none">
                <a:solidFill>
                  <a:srgbClr val="000000"/>
                </a:solidFill>
                <a:latin typeface="Arial"/>
                <a:ea typeface="Arial"/>
                <a:cs typeface="Arial"/>
                <a:sym typeface="Arial"/>
              </a:rPr>
            </a:br>
            <a:r>
              <a:rPr lang="en-US" sz="919" b="0" i="0" u="none" strike="noStrike" cap="none">
                <a:solidFill>
                  <a:srgbClr val="000000"/>
                </a:solidFill>
                <a:latin typeface="Arial"/>
                <a:ea typeface="Arial"/>
                <a:cs typeface="Arial"/>
                <a:sym typeface="Arial"/>
              </a:rPr>
              <a:t>Latent dimensions: 1, 2, 3</a:t>
            </a:r>
            <a:endParaRPr sz="1400" b="0" i="0" u="none" strike="noStrike" cap="none">
              <a:solidFill>
                <a:srgbClr val="000000"/>
              </a:solidFill>
              <a:latin typeface="Arial"/>
              <a:ea typeface="Arial"/>
              <a:cs typeface="Arial"/>
              <a:sym typeface="Arial"/>
            </a:endParaRPr>
          </a:p>
        </p:txBody>
      </p:sp>
      <p:sp>
        <p:nvSpPr>
          <p:cNvPr id="704" name="Google Shape;704;g3f5396f6f7a_0_364"/>
          <p:cNvSpPr txBox="1"/>
          <p:nvPr/>
        </p:nvSpPr>
        <p:spPr>
          <a:xfrm>
            <a:off x="548640" y="4158460"/>
            <a:ext cx="3657600" cy="2523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5276"/>
                </a:solidFill>
                <a:latin typeface="Arial"/>
                <a:ea typeface="Arial"/>
                <a:cs typeface="Arial"/>
                <a:sym typeface="Arial"/>
              </a:rPr>
              <a:t>Classical autoencoder baseline</a:t>
            </a:r>
            <a:endParaRPr sz="1400" b="0" i="0" u="none" strike="noStrike" cap="none">
              <a:solidFill>
                <a:srgbClr val="000000"/>
              </a:solidFill>
              <a:latin typeface="Arial"/>
              <a:ea typeface="Arial"/>
              <a:cs typeface="Arial"/>
              <a:sym typeface="Arial"/>
            </a:endParaRPr>
          </a:p>
        </p:txBody>
      </p:sp>
      <p:sp>
        <p:nvSpPr>
          <p:cNvPr id="705" name="Google Shape;705;g3f5396f6f7a_0_364"/>
          <p:cNvSpPr/>
          <p:nvPr/>
        </p:nvSpPr>
        <p:spPr>
          <a:xfrm>
            <a:off x="562340" y="4491457"/>
            <a:ext cx="5212200" cy="13716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g3f5396f6f7a_0_364"/>
          <p:cNvSpPr/>
          <p:nvPr/>
        </p:nvSpPr>
        <p:spPr>
          <a:xfrm>
            <a:off x="548640" y="4478582"/>
            <a:ext cx="54900" cy="13716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g3f5396f6f7a_0_364"/>
          <p:cNvSpPr txBox="1"/>
          <p:nvPr/>
        </p:nvSpPr>
        <p:spPr>
          <a:xfrm>
            <a:off x="676656" y="4592484"/>
            <a:ext cx="50109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Dense CAE used for comparison</a:t>
            </a:r>
            <a:endParaRPr sz="1400" b="0" i="0" u="none" strike="noStrike" cap="none">
              <a:solidFill>
                <a:srgbClr val="000000"/>
              </a:solidFill>
              <a:latin typeface="Arial"/>
              <a:ea typeface="Arial"/>
              <a:cs typeface="Arial"/>
              <a:sym typeface="Arial"/>
            </a:endParaRPr>
          </a:p>
        </p:txBody>
      </p:sp>
      <p:sp>
        <p:nvSpPr>
          <p:cNvPr id="708" name="Google Shape;708;g3f5396f6f7a_0_364"/>
          <p:cNvSpPr txBox="1"/>
          <p:nvPr/>
        </p:nvSpPr>
        <p:spPr>
          <a:xfrm>
            <a:off x="676656" y="4826054"/>
            <a:ext cx="4983600" cy="885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18"/>
              <a:buFont typeface="Arial"/>
              <a:buNone/>
            </a:pPr>
            <a:r>
              <a:rPr lang="en-US" sz="919" b="0" i="0" u="none" strike="noStrike" cap="none">
                <a:solidFill>
                  <a:srgbClr val="000000"/>
                </a:solidFill>
                <a:latin typeface="Arial"/>
                <a:ea typeface="Arial"/>
                <a:cs typeface="Arial"/>
                <a:sym typeface="Arial"/>
              </a:rPr>
              <a:t>Encoder: input → 20 → 15 → 10 → latent</a:t>
            </a:r>
            <a:br>
              <a:rPr lang="en-US" sz="1400" b="0" i="0" u="none" strike="noStrike" cap="none">
                <a:solidFill>
                  <a:srgbClr val="000000"/>
                </a:solidFill>
                <a:latin typeface="Arial"/>
                <a:ea typeface="Arial"/>
                <a:cs typeface="Arial"/>
                <a:sym typeface="Arial"/>
              </a:rPr>
            </a:br>
            <a:r>
              <a:rPr lang="en-US" sz="919" b="0" i="0" u="none" strike="noStrike" cap="none">
                <a:solidFill>
                  <a:srgbClr val="000000"/>
                </a:solidFill>
                <a:latin typeface="Arial"/>
                <a:ea typeface="Arial"/>
                <a:cs typeface="Arial"/>
                <a:sym typeface="Arial"/>
              </a:rPr>
              <a:t>Decoder: symmetric architecture</a:t>
            </a:r>
            <a:br>
              <a:rPr lang="en-US" sz="1400" b="0" i="0" u="none" strike="noStrike" cap="none">
                <a:solidFill>
                  <a:srgbClr val="000000"/>
                </a:solidFill>
                <a:latin typeface="Arial"/>
                <a:ea typeface="Arial"/>
                <a:cs typeface="Arial"/>
                <a:sym typeface="Arial"/>
              </a:rPr>
            </a:br>
            <a:r>
              <a:rPr lang="en-US" sz="919" b="0" i="0" u="none" strike="noStrike" cap="none">
                <a:solidFill>
                  <a:srgbClr val="000000"/>
                </a:solidFill>
                <a:latin typeface="Arial"/>
                <a:ea typeface="Arial"/>
                <a:cs typeface="Arial"/>
                <a:sym typeface="Arial"/>
              </a:rPr>
              <a:t>Hidden activation: ReLU; latent activation: Linear</a:t>
            </a:r>
            <a:br>
              <a:rPr lang="en-US" sz="1400" b="0" i="0" u="none" strike="noStrike" cap="none">
                <a:solidFill>
                  <a:srgbClr val="000000"/>
                </a:solidFill>
                <a:latin typeface="Arial"/>
                <a:ea typeface="Arial"/>
                <a:cs typeface="Arial"/>
                <a:sym typeface="Arial"/>
              </a:rPr>
            </a:br>
            <a:r>
              <a:rPr lang="en-US" sz="919" b="0" i="0" u="none" strike="noStrike" cap="none">
                <a:solidFill>
                  <a:srgbClr val="000000"/>
                </a:solidFill>
                <a:latin typeface="Arial"/>
                <a:ea typeface="Arial"/>
                <a:cs typeface="Arial"/>
                <a:sym typeface="Arial"/>
              </a:rPr>
              <a:t>Optimizer: Adam; learning rate: 10⁻³</a:t>
            </a:r>
            <a:br>
              <a:rPr lang="en-US" sz="1400" b="0" i="0" u="none" strike="noStrike" cap="none">
                <a:solidFill>
                  <a:srgbClr val="000000"/>
                </a:solidFill>
                <a:latin typeface="Arial"/>
                <a:ea typeface="Arial"/>
                <a:cs typeface="Arial"/>
                <a:sym typeface="Arial"/>
              </a:rPr>
            </a:br>
            <a:r>
              <a:rPr lang="en-US" sz="919" b="0" i="0" u="none" strike="noStrike" cap="none">
                <a:solidFill>
                  <a:srgbClr val="000000"/>
                </a:solidFill>
                <a:latin typeface="Arial"/>
                <a:ea typeface="Arial"/>
                <a:cs typeface="Arial"/>
                <a:sym typeface="Arial"/>
              </a:rPr>
              <a:t>Loss: RMSE; batch size: 64</a:t>
            </a:r>
            <a:br>
              <a:rPr lang="en-US" sz="1400" b="0" i="0" u="none" strike="noStrike" cap="none">
                <a:solidFill>
                  <a:srgbClr val="000000"/>
                </a:solidFill>
                <a:latin typeface="Arial"/>
                <a:ea typeface="Arial"/>
                <a:cs typeface="Arial"/>
                <a:sym typeface="Arial"/>
              </a:rPr>
            </a:br>
            <a:r>
              <a:rPr lang="en-US" sz="919" b="0" i="0" u="none" strike="noStrike" cap="none">
                <a:solidFill>
                  <a:srgbClr val="000000"/>
                </a:solidFill>
                <a:latin typeface="Arial"/>
                <a:ea typeface="Arial"/>
                <a:cs typeface="Arial"/>
                <a:sym typeface="Arial"/>
              </a:rPr>
              <a:t>Parameters: O(1000)</a:t>
            </a:r>
            <a:endParaRPr sz="1400" b="0" i="0" u="none" strike="noStrike" cap="none">
              <a:solidFill>
                <a:srgbClr val="000000"/>
              </a:solidFill>
              <a:latin typeface="Arial"/>
              <a:ea typeface="Arial"/>
              <a:cs typeface="Arial"/>
              <a:sym typeface="Arial"/>
            </a:endParaRPr>
          </a:p>
        </p:txBody>
      </p:sp>
      <p:sp>
        <p:nvSpPr>
          <p:cNvPr id="709" name="Google Shape;709;g3f5396f6f7a_0_364"/>
          <p:cNvSpPr/>
          <p:nvPr/>
        </p:nvSpPr>
        <p:spPr>
          <a:xfrm>
            <a:off x="6126480" y="4478582"/>
            <a:ext cx="5349300" cy="13716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g3f5396f6f7a_0_364"/>
          <p:cNvSpPr/>
          <p:nvPr/>
        </p:nvSpPr>
        <p:spPr>
          <a:xfrm>
            <a:off x="6126480" y="4478582"/>
            <a:ext cx="54900" cy="13716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g3f5396f6f7a_0_364"/>
          <p:cNvSpPr txBox="1"/>
          <p:nvPr/>
        </p:nvSpPr>
        <p:spPr>
          <a:xfrm>
            <a:off x="6254496" y="4551734"/>
            <a:ext cx="51480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Why this comparison matters</a:t>
            </a:r>
            <a:endParaRPr sz="1400" b="0" i="0" u="none" strike="noStrike" cap="none">
              <a:solidFill>
                <a:srgbClr val="000000"/>
              </a:solidFill>
              <a:latin typeface="Arial"/>
              <a:ea typeface="Arial"/>
              <a:cs typeface="Arial"/>
              <a:sym typeface="Arial"/>
            </a:endParaRPr>
          </a:p>
        </p:txBody>
      </p:sp>
      <p:sp>
        <p:nvSpPr>
          <p:cNvPr id="712" name="Google Shape;712;g3f5396f6f7a_0_364"/>
          <p:cNvSpPr txBox="1"/>
          <p:nvPr/>
        </p:nvSpPr>
        <p:spPr>
          <a:xfrm>
            <a:off x="6254496" y="4826054"/>
            <a:ext cx="5120700" cy="4755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US" sz="950" b="0" i="0" u="none" strike="noStrike" cap="none">
                <a:solidFill>
                  <a:srgbClr val="000000"/>
                </a:solidFill>
                <a:latin typeface="Arial"/>
                <a:ea typeface="Arial"/>
                <a:cs typeface="Arial"/>
                <a:sym typeface="Arial"/>
              </a:rPr>
              <a:t>The QAE uses the same input variables as the CAE, but has only O(10) trainable parameters. The paper is testing whether a shallow variational quantum circuit can learn a useful background compression with far fewer parameters.</a:t>
            </a:r>
            <a:endParaRPr sz="1400" b="0" i="0" u="none" strike="noStrike" cap="none">
              <a:solidFill>
                <a:srgbClr val="000000"/>
              </a:solidFill>
              <a:latin typeface="Arial"/>
              <a:ea typeface="Arial"/>
              <a:cs typeface="Arial"/>
              <a:sym typeface="Arial"/>
            </a:endParaRPr>
          </a:p>
        </p:txBody>
      </p:sp>
      <p:pic>
        <p:nvPicPr>
          <p:cNvPr id="713" name="Google Shape;713;g3f5396f6f7a_0_364"/>
          <p:cNvPicPr preferRelativeResize="0"/>
          <p:nvPr/>
        </p:nvPicPr>
        <p:blipFill rotWithShape="1">
          <a:blip r:embed="rId3">
            <a:alphaModFix/>
          </a:blip>
          <a:srcRect/>
          <a:stretch/>
        </p:blipFill>
        <p:spPr>
          <a:xfrm>
            <a:off x="4067999" y="2059074"/>
            <a:ext cx="2423038" cy="209400"/>
          </a:xfrm>
          <a:prstGeom prst="rect">
            <a:avLst/>
          </a:prstGeom>
          <a:noFill/>
          <a:ln>
            <a:noFill/>
          </a:ln>
        </p:spPr>
      </p:pic>
      <p:pic>
        <p:nvPicPr>
          <p:cNvPr id="714" name="Google Shape;714;g3f5396f6f7a_0_364"/>
          <p:cNvPicPr preferRelativeResize="0"/>
          <p:nvPr/>
        </p:nvPicPr>
        <p:blipFill>
          <a:blip r:embed="rId4">
            <a:alphaModFix/>
          </a:blip>
          <a:stretch>
            <a:fillRect/>
          </a:stretch>
        </p:blipFill>
        <p:spPr>
          <a:xfrm>
            <a:off x="3778971" y="3106588"/>
            <a:ext cx="3424000" cy="384000"/>
          </a:xfrm>
          <a:prstGeom prst="rect">
            <a:avLst/>
          </a:prstGeom>
          <a:noFill/>
          <a:ln>
            <a:noFill/>
          </a:ln>
        </p:spPr>
      </p:pic>
      <p:sp>
        <p:nvSpPr>
          <p:cNvPr id="715" name="Google Shape;715;g3f5396f6f7a_0_364"/>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6" name="Google Shape;716;g3f5396f6f7a_0_364"/>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718" name="Google Shape;718;g3f5396f6f7a_0_364"/>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3f5396f6f7a_0_468"/>
          <p:cNvSpPr txBox="1"/>
          <p:nvPr/>
        </p:nvSpPr>
        <p:spPr>
          <a:xfrm>
            <a:off x="338328" y="836715"/>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400" b="1" i="0" u="none" strike="noStrike" cap="none">
                <a:solidFill>
                  <a:srgbClr val="0B0B0B"/>
                </a:solidFill>
                <a:latin typeface="Arial"/>
                <a:ea typeface="Arial"/>
                <a:cs typeface="Arial"/>
                <a:sym typeface="Arial"/>
              </a:rPr>
              <a:t>QAE learns from much smaller background samples</a:t>
            </a:r>
            <a:endParaRPr sz="2400" b="1" i="0" u="none" strike="noStrike" cap="none">
              <a:solidFill>
                <a:srgbClr val="0B0B0B"/>
              </a:solidFill>
              <a:latin typeface="Arial"/>
              <a:ea typeface="Arial"/>
              <a:cs typeface="Arial"/>
              <a:sym typeface="Arial"/>
            </a:endParaRPr>
          </a:p>
        </p:txBody>
      </p:sp>
      <p:sp>
        <p:nvSpPr>
          <p:cNvPr id="724" name="Google Shape;724;g3f5396f6f7a_0_468"/>
          <p:cNvSpPr txBox="1"/>
          <p:nvPr/>
        </p:nvSpPr>
        <p:spPr>
          <a:xfrm>
            <a:off x="448056" y="429768"/>
            <a:ext cx="9784200" cy="186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chemeClr val="dk1"/>
              </a:buClr>
              <a:buSzPts val="850"/>
              <a:buFont typeface="Arial"/>
              <a:buNone/>
            </a:pPr>
            <a:r>
              <a:rPr lang="en-US" sz="850" b="0" i="0" u="none" strike="noStrike" cap="none">
                <a:solidFill>
                  <a:srgbClr val="5A5A5A"/>
                </a:solidFill>
                <a:latin typeface="Arial"/>
                <a:ea typeface="Arial"/>
                <a:cs typeface="Arial"/>
                <a:sym typeface="Arial"/>
              </a:rPr>
              <a:t>Evidence 1: training-size dependence</a:t>
            </a:r>
            <a:endParaRPr sz="850" b="0" i="0" u="none" strike="noStrike" cap="none">
              <a:solidFill>
                <a:srgbClr val="5A5A5A"/>
              </a:solidFill>
              <a:latin typeface="Arial"/>
              <a:ea typeface="Arial"/>
              <a:cs typeface="Arial"/>
              <a:sym typeface="Arial"/>
            </a:endParaRPr>
          </a:p>
        </p:txBody>
      </p:sp>
      <p:sp>
        <p:nvSpPr>
          <p:cNvPr id="725" name="Google Shape;725;g3f5396f6f7a_0_468"/>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g3f5396f6f7a_0_468"/>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7 · RESULTS</a:t>
            </a:r>
            <a:endParaRPr sz="1000" b="1" i="0" u="none" strike="noStrike" cap="none">
              <a:solidFill>
                <a:srgbClr val="06507A"/>
              </a:solidFill>
              <a:latin typeface="Arial"/>
              <a:ea typeface="Arial"/>
              <a:cs typeface="Arial"/>
              <a:sym typeface="Arial"/>
            </a:endParaRPr>
          </a:p>
        </p:txBody>
      </p:sp>
      <p:cxnSp>
        <p:nvCxnSpPr>
          <p:cNvPr id="727" name="Google Shape;727;g3f5396f6f7a_0_468"/>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pic>
        <p:nvPicPr>
          <p:cNvPr id="728" name="Google Shape;728;g3f5396f6f7a_0_468" descr="fig3_loss.png"/>
          <p:cNvPicPr preferRelativeResize="0"/>
          <p:nvPr/>
        </p:nvPicPr>
        <p:blipFill rotWithShape="1">
          <a:blip r:embed="rId3">
            <a:alphaModFix/>
          </a:blip>
          <a:srcRect b="12671"/>
          <a:stretch/>
        </p:blipFill>
        <p:spPr>
          <a:xfrm>
            <a:off x="548650" y="1509201"/>
            <a:ext cx="5303500" cy="1467374"/>
          </a:xfrm>
          <a:prstGeom prst="rect">
            <a:avLst/>
          </a:prstGeom>
          <a:noFill/>
          <a:ln>
            <a:noFill/>
          </a:ln>
        </p:spPr>
      </p:pic>
      <p:sp>
        <p:nvSpPr>
          <p:cNvPr id="729" name="Google Shape;729;g3f5396f6f7a_0_468"/>
          <p:cNvSpPr txBox="1"/>
          <p:nvPr/>
        </p:nvSpPr>
        <p:spPr>
          <a:xfrm>
            <a:off x="1088550" y="3090275"/>
            <a:ext cx="4223700" cy="2139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50"/>
              <a:buFont typeface="Arial"/>
              <a:buNone/>
            </a:pPr>
            <a:r>
              <a:rPr lang="en-US" sz="1150" b="1" i="0" u="none" strike="noStrike" cap="none">
                <a:solidFill>
                  <a:srgbClr val="005276"/>
                </a:solidFill>
                <a:latin typeface="Arial"/>
                <a:ea typeface="Arial"/>
                <a:cs typeface="Arial"/>
                <a:sym typeface="Arial"/>
              </a:rPr>
              <a:t>CAE: test RMSE distribution shifts strongly with more data</a:t>
            </a:r>
            <a:endParaRPr sz="1400" b="0" i="0" u="none" strike="noStrike" cap="none">
              <a:solidFill>
                <a:srgbClr val="000000"/>
              </a:solidFill>
              <a:latin typeface="Arial"/>
              <a:ea typeface="Arial"/>
              <a:cs typeface="Arial"/>
              <a:sym typeface="Arial"/>
            </a:endParaRPr>
          </a:p>
        </p:txBody>
      </p:sp>
      <p:sp>
        <p:nvSpPr>
          <p:cNvPr id="730" name="Google Shape;730;g3f5396f6f7a_0_468"/>
          <p:cNvSpPr txBox="1"/>
          <p:nvPr/>
        </p:nvSpPr>
        <p:spPr>
          <a:xfrm>
            <a:off x="6987512" y="3090532"/>
            <a:ext cx="3489900" cy="2139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50"/>
              <a:buFont typeface="Arial"/>
              <a:buNone/>
            </a:pPr>
            <a:r>
              <a:rPr lang="en-US" sz="1150" b="1" i="0" u="none" strike="noStrike" cap="none">
                <a:solidFill>
                  <a:srgbClr val="005276"/>
                </a:solidFill>
                <a:latin typeface="Arial"/>
                <a:ea typeface="Arial"/>
                <a:cs typeface="Arial"/>
                <a:sym typeface="Arial"/>
              </a:rPr>
              <a:t>QAE: test fidelity stabilizes after about 10 events</a:t>
            </a:r>
            <a:endParaRPr sz="1400" b="0" i="0" u="none" strike="noStrike" cap="none">
              <a:solidFill>
                <a:srgbClr val="000000"/>
              </a:solidFill>
              <a:latin typeface="Arial"/>
              <a:ea typeface="Arial"/>
              <a:cs typeface="Arial"/>
              <a:sym typeface="Arial"/>
            </a:endParaRPr>
          </a:p>
        </p:txBody>
      </p:sp>
      <p:sp>
        <p:nvSpPr>
          <p:cNvPr id="731" name="Google Shape;731;g3f5396f6f7a_0_468"/>
          <p:cNvSpPr/>
          <p:nvPr/>
        </p:nvSpPr>
        <p:spPr>
          <a:xfrm>
            <a:off x="731520" y="3949565"/>
            <a:ext cx="3383400" cy="12345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g3f5396f6f7a_0_468"/>
          <p:cNvSpPr/>
          <p:nvPr/>
        </p:nvSpPr>
        <p:spPr>
          <a:xfrm>
            <a:off x="731520" y="3949565"/>
            <a:ext cx="54900" cy="12345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g3f5396f6f7a_0_468"/>
          <p:cNvSpPr txBox="1"/>
          <p:nvPr/>
        </p:nvSpPr>
        <p:spPr>
          <a:xfrm>
            <a:off x="859536" y="4022717"/>
            <a:ext cx="31821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Classical behavior</a:t>
            </a:r>
            <a:endParaRPr sz="1400" b="0" i="0" u="none" strike="noStrike" cap="none">
              <a:solidFill>
                <a:srgbClr val="000000"/>
              </a:solidFill>
              <a:latin typeface="Arial"/>
              <a:ea typeface="Arial"/>
              <a:cs typeface="Arial"/>
              <a:sym typeface="Arial"/>
            </a:endParaRPr>
          </a:p>
        </p:txBody>
      </p:sp>
      <p:sp>
        <p:nvSpPr>
          <p:cNvPr id="734" name="Google Shape;734;g3f5396f6f7a_0_468"/>
          <p:cNvSpPr txBox="1"/>
          <p:nvPr/>
        </p:nvSpPr>
        <p:spPr>
          <a:xfrm>
            <a:off x="859536" y="4297037"/>
            <a:ext cx="3154800" cy="4755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US" sz="950" b="0" i="0" u="none" strike="noStrike" cap="none">
                <a:solidFill>
                  <a:srgbClr val="000000"/>
                </a:solidFill>
                <a:latin typeface="Arial"/>
                <a:ea typeface="Arial"/>
                <a:cs typeface="Arial"/>
                <a:sym typeface="Arial"/>
              </a:rPr>
              <a:t>Efficient reconstruction needs roughly ≥10³ training samples; small samples show high uncertainty and poor generalization.</a:t>
            </a:r>
            <a:endParaRPr sz="1400" b="0" i="0" u="none" strike="noStrike" cap="none">
              <a:solidFill>
                <a:srgbClr val="000000"/>
              </a:solidFill>
              <a:latin typeface="Arial"/>
              <a:ea typeface="Arial"/>
              <a:cs typeface="Arial"/>
              <a:sym typeface="Arial"/>
            </a:endParaRPr>
          </a:p>
        </p:txBody>
      </p:sp>
      <p:sp>
        <p:nvSpPr>
          <p:cNvPr id="735" name="Google Shape;735;g3f5396f6f7a_0_468"/>
          <p:cNvSpPr/>
          <p:nvPr/>
        </p:nvSpPr>
        <p:spPr>
          <a:xfrm>
            <a:off x="4389120" y="3949565"/>
            <a:ext cx="3383400" cy="12345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g3f5396f6f7a_0_468"/>
          <p:cNvSpPr/>
          <p:nvPr/>
        </p:nvSpPr>
        <p:spPr>
          <a:xfrm>
            <a:off x="4389120" y="3949565"/>
            <a:ext cx="54900" cy="12345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g3f5396f6f7a_0_468"/>
          <p:cNvSpPr txBox="1"/>
          <p:nvPr/>
        </p:nvSpPr>
        <p:spPr>
          <a:xfrm>
            <a:off x="4517136" y="4022717"/>
            <a:ext cx="31821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Quantum behavior</a:t>
            </a:r>
            <a:endParaRPr sz="1400" b="0" i="0" u="none" strike="noStrike" cap="none">
              <a:solidFill>
                <a:srgbClr val="000000"/>
              </a:solidFill>
              <a:latin typeface="Arial"/>
              <a:ea typeface="Arial"/>
              <a:cs typeface="Arial"/>
              <a:sym typeface="Arial"/>
            </a:endParaRPr>
          </a:p>
        </p:txBody>
      </p:sp>
      <p:sp>
        <p:nvSpPr>
          <p:cNvPr id="738" name="Google Shape;738;g3f5396f6f7a_0_468"/>
          <p:cNvSpPr txBox="1"/>
          <p:nvPr/>
        </p:nvSpPr>
        <p:spPr>
          <a:xfrm>
            <a:off x="4517136" y="4297037"/>
            <a:ext cx="3154800" cy="4755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50"/>
              <a:buFont typeface="Arial"/>
              <a:buNone/>
            </a:pPr>
            <a:r>
              <a:rPr lang="en-US" sz="950" b="0" i="0" u="none" strike="noStrike" cap="none">
                <a:solidFill>
                  <a:srgbClr val="000000"/>
                </a:solidFill>
                <a:latin typeface="Arial"/>
                <a:ea typeface="Arial"/>
                <a:cs typeface="Arial"/>
                <a:sym typeface="Arial"/>
              </a:rPr>
              <a:t>One training event does not fully converge, but from 10 events upward the fidelity distributions become nearly identical.</a:t>
            </a:r>
            <a:endParaRPr sz="1400" b="0" i="0" u="none" strike="noStrike" cap="none">
              <a:solidFill>
                <a:srgbClr val="000000"/>
              </a:solidFill>
              <a:latin typeface="Arial"/>
              <a:ea typeface="Arial"/>
              <a:cs typeface="Arial"/>
              <a:sym typeface="Arial"/>
            </a:endParaRPr>
          </a:p>
        </p:txBody>
      </p:sp>
      <p:sp>
        <p:nvSpPr>
          <p:cNvPr id="739" name="Google Shape;739;g3f5396f6f7a_0_468"/>
          <p:cNvSpPr/>
          <p:nvPr/>
        </p:nvSpPr>
        <p:spPr>
          <a:xfrm>
            <a:off x="8046720" y="3949565"/>
            <a:ext cx="3017400" cy="12345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 name="Google Shape;740;g3f5396f6f7a_0_468"/>
          <p:cNvSpPr/>
          <p:nvPr/>
        </p:nvSpPr>
        <p:spPr>
          <a:xfrm>
            <a:off x="8046720" y="3949565"/>
            <a:ext cx="54900" cy="12345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1" name="Google Shape;741;g3f5396f6f7a_0_468"/>
          <p:cNvSpPr txBox="1"/>
          <p:nvPr/>
        </p:nvSpPr>
        <p:spPr>
          <a:xfrm>
            <a:off x="8174736" y="4022717"/>
            <a:ext cx="28164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Interpretation</a:t>
            </a:r>
            <a:endParaRPr sz="1400" b="0" i="0" u="none" strike="noStrike" cap="none">
              <a:solidFill>
                <a:srgbClr val="000000"/>
              </a:solidFill>
              <a:latin typeface="Arial"/>
              <a:ea typeface="Arial"/>
              <a:cs typeface="Arial"/>
              <a:sym typeface="Arial"/>
            </a:endParaRPr>
          </a:p>
        </p:txBody>
      </p:sp>
      <p:sp>
        <p:nvSpPr>
          <p:cNvPr id="742" name="Google Shape;742;g3f5396f6f7a_0_468"/>
          <p:cNvSpPr txBox="1"/>
          <p:nvPr/>
        </p:nvSpPr>
        <p:spPr>
          <a:xfrm>
            <a:off x="8174736" y="4297037"/>
            <a:ext cx="2788800" cy="4665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30"/>
              <a:buFont typeface="Arial"/>
              <a:buNone/>
            </a:pPr>
            <a:r>
              <a:rPr lang="en-US" sz="930" b="0" i="0" u="none" strike="noStrike" cap="none">
                <a:solidFill>
                  <a:srgbClr val="000000"/>
                </a:solidFill>
                <a:latin typeface="Arial"/>
                <a:ea typeface="Arial"/>
                <a:cs typeface="Arial"/>
                <a:sym typeface="Arial"/>
              </a:rPr>
              <a:t>The authors suggest the simple circuit, measurement statistics, and quantum gradient descent may explain this small-sample efficiency.</a:t>
            </a:r>
            <a:endParaRPr sz="1400" b="0" i="0" u="none" strike="noStrike" cap="none">
              <a:solidFill>
                <a:srgbClr val="000000"/>
              </a:solidFill>
              <a:latin typeface="Arial"/>
              <a:ea typeface="Arial"/>
              <a:cs typeface="Arial"/>
              <a:sym typeface="Arial"/>
            </a:endParaRPr>
          </a:p>
        </p:txBody>
      </p:sp>
      <p:sp>
        <p:nvSpPr>
          <p:cNvPr id="743" name="Google Shape;743;g3f5396f6f7a_0_468"/>
          <p:cNvSpPr txBox="1"/>
          <p:nvPr/>
        </p:nvSpPr>
        <p:spPr>
          <a:xfrm>
            <a:off x="777240" y="5778366"/>
            <a:ext cx="10332600" cy="198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5A5A5A"/>
                </a:solidFill>
                <a:latin typeface="Arial"/>
                <a:ea typeface="Arial"/>
                <a:cs typeface="Arial"/>
                <a:sym typeface="Arial"/>
              </a:rPr>
              <a:t>This is the first major empirical claim: in the studied LHC benchmark, the QAE is much less dependent on training sample size than the dense CAE.</a:t>
            </a:r>
            <a:endParaRPr sz="1400" b="0" i="0" u="none" strike="noStrike" cap="none">
              <a:solidFill>
                <a:srgbClr val="000000"/>
              </a:solidFill>
              <a:latin typeface="Arial"/>
              <a:ea typeface="Arial"/>
              <a:cs typeface="Arial"/>
              <a:sym typeface="Arial"/>
            </a:endParaRPr>
          </a:p>
        </p:txBody>
      </p:sp>
      <p:pic>
        <p:nvPicPr>
          <p:cNvPr id="744" name="Google Shape;744;g3f5396f6f7a_0_468"/>
          <p:cNvPicPr preferRelativeResize="0"/>
          <p:nvPr/>
        </p:nvPicPr>
        <p:blipFill rotWithShape="1">
          <a:blip r:embed="rId4">
            <a:alphaModFix/>
          </a:blip>
          <a:srcRect/>
          <a:stretch/>
        </p:blipFill>
        <p:spPr>
          <a:xfrm>
            <a:off x="6446200" y="1596000"/>
            <a:ext cx="4572495" cy="1373663"/>
          </a:xfrm>
          <a:prstGeom prst="rect">
            <a:avLst/>
          </a:prstGeom>
          <a:noFill/>
          <a:ln>
            <a:noFill/>
          </a:ln>
        </p:spPr>
      </p:pic>
      <p:sp>
        <p:nvSpPr>
          <p:cNvPr id="745" name="Google Shape;745;g3f5396f6f7a_0_468"/>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g3f5396f6f7a_0_468"/>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748" name="Google Shape;748;g3f5396f6f7a_0_468"/>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3f5396f6f7a_0_552"/>
          <p:cNvSpPr txBox="1"/>
          <p:nvPr/>
        </p:nvSpPr>
        <p:spPr>
          <a:xfrm>
            <a:off x="338328" y="836715"/>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400" b="1" i="0" u="none" strike="noStrike" cap="none">
                <a:solidFill>
                  <a:srgbClr val="0B0B0B"/>
                </a:solidFill>
                <a:latin typeface="Arial"/>
                <a:ea typeface="Arial"/>
                <a:cs typeface="Arial"/>
                <a:sym typeface="Arial"/>
              </a:rPr>
              <a:t>QAE beats the dense CAE on ROC and significance</a:t>
            </a:r>
            <a:endParaRPr sz="2400" b="1" i="0" u="none" strike="noStrike" cap="none">
              <a:solidFill>
                <a:srgbClr val="0B0B0B"/>
              </a:solidFill>
              <a:latin typeface="Arial"/>
              <a:ea typeface="Arial"/>
              <a:cs typeface="Arial"/>
              <a:sym typeface="Arial"/>
            </a:endParaRPr>
          </a:p>
        </p:txBody>
      </p:sp>
      <p:sp>
        <p:nvSpPr>
          <p:cNvPr id="754" name="Google Shape;754;g3f5396f6f7a_0_552"/>
          <p:cNvSpPr txBox="1"/>
          <p:nvPr/>
        </p:nvSpPr>
        <p:spPr>
          <a:xfrm>
            <a:off x="448056" y="429768"/>
            <a:ext cx="9784200" cy="186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chemeClr val="dk1"/>
              </a:buClr>
              <a:buSzPts val="850"/>
              <a:buFont typeface="Arial"/>
              <a:buNone/>
            </a:pPr>
            <a:r>
              <a:rPr lang="en-US" sz="850" b="0" i="0" u="none" strike="noStrike" cap="none">
                <a:solidFill>
                  <a:srgbClr val="5A5A5A"/>
                </a:solidFill>
                <a:latin typeface="Arial"/>
                <a:ea typeface="Arial"/>
                <a:cs typeface="Arial"/>
                <a:sym typeface="Arial"/>
              </a:rPr>
              <a:t>Evidence 2: anomaly discrimination</a:t>
            </a:r>
            <a:endParaRPr sz="850" b="0" i="0" u="none" strike="noStrike" cap="none">
              <a:solidFill>
                <a:srgbClr val="5A5A5A"/>
              </a:solidFill>
              <a:latin typeface="Arial"/>
              <a:ea typeface="Arial"/>
              <a:cs typeface="Arial"/>
              <a:sym typeface="Arial"/>
            </a:endParaRPr>
          </a:p>
        </p:txBody>
      </p:sp>
      <p:sp>
        <p:nvSpPr>
          <p:cNvPr id="755" name="Google Shape;755;g3f5396f6f7a_0_552"/>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g3f5396f6f7a_0_552"/>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7 · RESULTS</a:t>
            </a:r>
            <a:endParaRPr sz="1000" b="1" i="0" u="none" strike="noStrike" cap="none">
              <a:solidFill>
                <a:srgbClr val="06507A"/>
              </a:solidFill>
              <a:latin typeface="Arial"/>
              <a:ea typeface="Arial"/>
              <a:cs typeface="Arial"/>
              <a:sym typeface="Arial"/>
            </a:endParaRPr>
          </a:p>
        </p:txBody>
      </p:sp>
      <p:cxnSp>
        <p:nvCxnSpPr>
          <p:cNvPr id="757" name="Google Shape;757;g3f5396f6f7a_0_552"/>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sp>
        <p:nvSpPr>
          <p:cNvPr id="758" name="Google Shape;758;g3f5396f6f7a_0_552"/>
          <p:cNvSpPr/>
          <p:nvPr/>
        </p:nvSpPr>
        <p:spPr>
          <a:xfrm>
            <a:off x="662917" y="4441646"/>
            <a:ext cx="3429000" cy="12345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g3f5396f6f7a_0_552"/>
          <p:cNvSpPr/>
          <p:nvPr/>
        </p:nvSpPr>
        <p:spPr>
          <a:xfrm>
            <a:off x="662918" y="4441646"/>
            <a:ext cx="54900" cy="12345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g3f5396f6f7a_0_552"/>
          <p:cNvSpPr txBox="1"/>
          <p:nvPr/>
        </p:nvSpPr>
        <p:spPr>
          <a:xfrm>
            <a:off x="790933" y="4514798"/>
            <a:ext cx="32277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ROC curves</a:t>
            </a:r>
            <a:endParaRPr sz="1400" b="0" i="0" u="none" strike="noStrike" cap="none">
              <a:solidFill>
                <a:srgbClr val="000000"/>
              </a:solidFill>
              <a:latin typeface="Arial"/>
              <a:ea typeface="Arial"/>
              <a:cs typeface="Arial"/>
              <a:sym typeface="Arial"/>
            </a:endParaRPr>
          </a:p>
        </p:txBody>
      </p:sp>
      <p:sp>
        <p:nvSpPr>
          <p:cNvPr id="761" name="Google Shape;761;g3f5396f6f7a_0_552"/>
          <p:cNvSpPr txBox="1"/>
          <p:nvPr/>
        </p:nvSpPr>
        <p:spPr>
          <a:xfrm>
            <a:off x="790933" y="4789118"/>
            <a:ext cx="3200400" cy="3198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18"/>
              <a:buFont typeface="Arial"/>
              <a:buNone/>
            </a:pPr>
            <a:r>
              <a:rPr lang="en-US" sz="919" b="0" i="0" u="none" strike="noStrike" cap="none">
                <a:solidFill>
                  <a:srgbClr val="000000"/>
                </a:solidFill>
                <a:latin typeface="Arial"/>
                <a:ea typeface="Arial"/>
                <a:cs typeface="Arial"/>
                <a:sym typeface="Arial"/>
              </a:rPr>
              <a:t>For mH = 1.0, 1.5, 2.0, and 2.5 TeV, QAE curves lie above CAE curves for all tested latent dimensions.</a:t>
            </a:r>
            <a:endParaRPr sz="1400" b="0" i="0" u="none" strike="noStrike" cap="none">
              <a:solidFill>
                <a:srgbClr val="000000"/>
              </a:solidFill>
              <a:latin typeface="Arial"/>
              <a:ea typeface="Arial"/>
              <a:cs typeface="Arial"/>
              <a:sym typeface="Arial"/>
            </a:endParaRPr>
          </a:p>
        </p:txBody>
      </p:sp>
      <p:sp>
        <p:nvSpPr>
          <p:cNvPr id="762" name="Google Shape;762;g3f5396f6f7a_0_552"/>
          <p:cNvSpPr/>
          <p:nvPr/>
        </p:nvSpPr>
        <p:spPr>
          <a:xfrm>
            <a:off x="4411958" y="4441646"/>
            <a:ext cx="3429000" cy="12345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g3f5396f6f7a_0_552"/>
          <p:cNvSpPr/>
          <p:nvPr/>
        </p:nvSpPr>
        <p:spPr>
          <a:xfrm>
            <a:off x="4411958" y="4441646"/>
            <a:ext cx="54900" cy="12345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g3f5396f6f7a_0_552"/>
          <p:cNvSpPr txBox="1"/>
          <p:nvPr/>
        </p:nvSpPr>
        <p:spPr>
          <a:xfrm>
            <a:off x="4539974" y="4514798"/>
            <a:ext cx="32277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Bottleneck effect</a:t>
            </a:r>
            <a:endParaRPr sz="1400" b="0" i="0" u="none" strike="noStrike" cap="none">
              <a:solidFill>
                <a:srgbClr val="000000"/>
              </a:solidFill>
              <a:latin typeface="Arial"/>
              <a:ea typeface="Arial"/>
              <a:cs typeface="Arial"/>
              <a:sym typeface="Arial"/>
            </a:endParaRPr>
          </a:p>
        </p:txBody>
      </p:sp>
      <p:sp>
        <p:nvSpPr>
          <p:cNvPr id="765" name="Google Shape;765;g3f5396f6f7a_0_552"/>
          <p:cNvSpPr txBox="1"/>
          <p:nvPr/>
        </p:nvSpPr>
        <p:spPr>
          <a:xfrm>
            <a:off x="4539974" y="4789118"/>
            <a:ext cx="3200400" cy="4614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18"/>
              <a:buFont typeface="Arial"/>
              <a:buNone/>
            </a:pPr>
            <a:r>
              <a:rPr lang="en-US" sz="919" b="0" i="0" u="none" strike="noStrike" cap="none">
                <a:solidFill>
                  <a:srgbClr val="000000"/>
                </a:solidFill>
                <a:latin typeface="Arial"/>
                <a:ea typeface="Arial"/>
                <a:cs typeface="Arial"/>
                <a:sym typeface="Arial"/>
              </a:rPr>
              <a:t>The </a:t>
            </a:r>
            <a:r>
              <a:rPr lang="en-US" sz="919" b="1" i="0" u="none" strike="noStrike" cap="none">
                <a:solidFill>
                  <a:srgbClr val="000000"/>
                </a:solidFill>
              </a:rPr>
              <a:t>smallest latent dimension</a:t>
            </a:r>
            <a:r>
              <a:rPr lang="en-US" sz="919" b="0" i="0" u="none" strike="noStrike" cap="none">
                <a:solidFill>
                  <a:srgbClr val="000000"/>
                </a:solidFill>
                <a:latin typeface="Arial"/>
                <a:ea typeface="Arial"/>
                <a:cs typeface="Arial"/>
                <a:sym typeface="Arial"/>
              </a:rPr>
              <a:t> gives the strongest background rejection. Strong compression makes signal-like events harder to pass through.</a:t>
            </a:r>
            <a:endParaRPr sz="1400" b="0" i="0" u="none" strike="noStrike" cap="none">
              <a:solidFill>
                <a:srgbClr val="000000"/>
              </a:solidFill>
              <a:latin typeface="Arial"/>
              <a:ea typeface="Arial"/>
              <a:cs typeface="Arial"/>
              <a:sym typeface="Arial"/>
            </a:endParaRPr>
          </a:p>
        </p:txBody>
      </p:sp>
      <p:sp>
        <p:nvSpPr>
          <p:cNvPr id="766" name="Google Shape;766;g3f5396f6f7a_0_552"/>
          <p:cNvSpPr/>
          <p:nvPr/>
        </p:nvSpPr>
        <p:spPr>
          <a:xfrm>
            <a:off x="8160998" y="4441646"/>
            <a:ext cx="3063300" cy="12345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7" name="Google Shape;767;g3f5396f6f7a_0_552"/>
          <p:cNvSpPr/>
          <p:nvPr/>
        </p:nvSpPr>
        <p:spPr>
          <a:xfrm>
            <a:off x="8160998" y="4441646"/>
            <a:ext cx="54900" cy="12345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8" name="Google Shape;768;g3f5396f6f7a_0_552"/>
          <p:cNvSpPr txBox="1"/>
          <p:nvPr/>
        </p:nvSpPr>
        <p:spPr>
          <a:xfrm>
            <a:off x="8289014" y="4514798"/>
            <a:ext cx="28620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Significance</a:t>
            </a:r>
            <a:endParaRPr sz="1400" b="0" i="0" u="none" strike="noStrike" cap="none">
              <a:solidFill>
                <a:srgbClr val="000000"/>
              </a:solidFill>
              <a:latin typeface="Arial"/>
              <a:ea typeface="Arial"/>
              <a:cs typeface="Arial"/>
              <a:sym typeface="Arial"/>
            </a:endParaRPr>
          </a:p>
        </p:txBody>
      </p:sp>
      <p:sp>
        <p:nvSpPr>
          <p:cNvPr id="769" name="Google Shape;769;g3f5396f6f7a_0_552"/>
          <p:cNvSpPr txBox="1"/>
          <p:nvPr/>
        </p:nvSpPr>
        <p:spPr>
          <a:xfrm>
            <a:off x="8289014" y="4789118"/>
            <a:ext cx="2834700" cy="4572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10"/>
              <a:buFont typeface="Arial"/>
              <a:buNone/>
            </a:pPr>
            <a:r>
              <a:rPr lang="en-US" sz="910" b="0" i="0" u="none" strike="noStrike" cap="none">
                <a:solidFill>
                  <a:srgbClr val="000000"/>
                </a:solidFill>
                <a:latin typeface="Arial"/>
                <a:ea typeface="Arial"/>
                <a:cs typeface="Arial"/>
                <a:sym typeface="Arial"/>
              </a:rPr>
              <a:t>Using 1−F for QAE and RMSE for CAE, the peak N_S/√N_B is higher for QAE under σ_S = 10 fb and L = 3000 fb⁻¹.</a:t>
            </a:r>
            <a:endParaRPr sz="1400" b="0" i="0" u="none" strike="noStrike" cap="none">
              <a:solidFill>
                <a:srgbClr val="000000"/>
              </a:solidFill>
              <a:latin typeface="Arial"/>
              <a:ea typeface="Arial"/>
              <a:cs typeface="Arial"/>
              <a:sym typeface="Arial"/>
            </a:endParaRPr>
          </a:p>
        </p:txBody>
      </p:sp>
      <p:sp>
        <p:nvSpPr>
          <p:cNvPr id="770" name="Google Shape;770;g3f5396f6f7a_0_552"/>
          <p:cNvSpPr txBox="1"/>
          <p:nvPr/>
        </p:nvSpPr>
        <p:spPr>
          <a:xfrm>
            <a:off x="727007" y="5757063"/>
            <a:ext cx="10332600" cy="1908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5A5A5A"/>
                </a:solidFill>
                <a:latin typeface="Arial"/>
                <a:ea typeface="Arial"/>
                <a:cs typeface="Arial"/>
                <a:sym typeface="Arial"/>
              </a:rPr>
              <a:t>The paper stresses that these metrics compare classifiers; the real LHC background rate remains much larger than the benchmark signal rate.</a:t>
            </a:r>
            <a:endParaRPr sz="1400" b="0" i="0" u="none" strike="noStrike" cap="none">
              <a:solidFill>
                <a:srgbClr val="000000"/>
              </a:solidFill>
              <a:latin typeface="Arial"/>
              <a:ea typeface="Arial"/>
              <a:cs typeface="Arial"/>
              <a:sym typeface="Arial"/>
            </a:endParaRPr>
          </a:p>
        </p:txBody>
      </p:sp>
      <p:pic>
        <p:nvPicPr>
          <p:cNvPr id="771" name="Google Shape;771;g3f5396f6f7a_0_552"/>
          <p:cNvPicPr preferRelativeResize="0"/>
          <p:nvPr/>
        </p:nvPicPr>
        <p:blipFill rotWithShape="1">
          <a:blip r:embed="rId3">
            <a:alphaModFix/>
          </a:blip>
          <a:srcRect/>
          <a:stretch/>
        </p:blipFill>
        <p:spPr>
          <a:xfrm>
            <a:off x="2201975" y="1369628"/>
            <a:ext cx="3193973" cy="3029493"/>
          </a:xfrm>
          <a:prstGeom prst="rect">
            <a:avLst/>
          </a:prstGeom>
          <a:noFill/>
          <a:ln>
            <a:noFill/>
          </a:ln>
        </p:spPr>
      </p:pic>
      <p:pic>
        <p:nvPicPr>
          <p:cNvPr id="772" name="Google Shape;772;g3f5396f6f7a_0_552"/>
          <p:cNvPicPr preferRelativeResize="0"/>
          <p:nvPr/>
        </p:nvPicPr>
        <p:blipFill rotWithShape="1">
          <a:blip r:embed="rId4">
            <a:alphaModFix/>
          </a:blip>
          <a:srcRect/>
          <a:stretch/>
        </p:blipFill>
        <p:spPr>
          <a:xfrm>
            <a:off x="6541873" y="1352415"/>
            <a:ext cx="4659576" cy="3029494"/>
          </a:xfrm>
          <a:prstGeom prst="rect">
            <a:avLst/>
          </a:prstGeom>
          <a:noFill/>
          <a:ln>
            <a:noFill/>
          </a:ln>
        </p:spPr>
      </p:pic>
      <p:sp>
        <p:nvSpPr>
          <p:cNvPr id="773" name="Google Shape;773;g3f5396f6f7a_0_552"/>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4" name="Google Shape;774;g3f5396f6f7a_0_552"/>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776" name="Google Shape;776;g3f5396f6f7a_0_552"/>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16</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3f5396f6f7a_0_600"/>
          <p:cNvSpPr txBox="1"/>
          <p:nvPr/>
        </p:nvSpPr>
        <p:spPr>
          <a:xfrm>
            <a:off x="338328" y="836715"/>
            <a:ext cx="11064300" cy="4248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400" b="1" i="0" u="none" strike="noStrike" cap="none">
                <a:solidFill>
                  <a:srgbClr val="0B0B0B"/>
                </a:solidFill>
                <a:latin typeface="Arial"/>
                <a:ea typeface="Arial"/>
                <a:cs typeface="Arial"/>
                <a:sym typeface="Arial"/>
              </a:rPr>
              <a:t>Hardware benchmark and second physical signature</a:t>
            </a:r>
            <a:endParaRPr sz="2400" b="1" i="0" u="none" strike="noStrike" cap="none">
              <a:solidFill>
                <a:srgbClr val="0B0B0B"/>
              </a:solidFill>
              <a:latin typeface="Arial"/>
              <a:ea typeface="Arial"/>
              <a:cs typeface="Arial"/>
              <a:sym typeface="Arial"/>
            </a:endParaRPr>
          </a:p>
        </p:txBody>
      </p:sp>
      <p:sp>
        <p:nvSpPr>
          <p:cNvPr id="782" name="Google Shape;782;g3f5396f6f7a_0_600"/>
          <p:cNvSpPr txBox="1"/>
          <p:nvPr/>
        </p:nvSpPr>
        <p:spPr>
          <a:xfrm>
            <a:off x="448056" y="429768"/>
            <a:ext cx="9784200" cy="186300"/>
          </a:xfrm>
          <a:prstGeom prst="rect">
            <a:avLst/>
          </a:prstGeom>
          <a:noFill/>
          <a:ln>
            <a:noFill/>
          </a:ln>
        </p:spPr>
        <p:txBody>
          <a:bodyPr spcFirstLastPara="1" wrap="square" lIns="27425" tIns="27425" rIns="27425" bIns="27425" anchor="t" anchorCtr="0">
            <a:spAutoFit/>
          </a:bodyPr>
          <a:lstStyle/>
          <a:p>
            <a:pPr marL="0" marR="0" lvl="0" indent="0" algn="l" rtl="0">
              <a:lnSpc>
                <a:spcPct val="100000"/>
              </a:lnSpc>
              <a:spcBef>
                <a:spcPts val="0"/>
              </a:spcBef>
              <a:spcAft>
                <a:spcPts val="0"/>
              </a:spcAft>
              <a:buClr>
                <a:schemeClr val="dk1"/>
              </a:buClr>
              <a:buSzPts val="850"/>
              <a:buFont typeface="Arial"/>
              <a:buNone/>
            </a:pPr>
            <a:r>
              <a:rPr lang="en-US" sz="850" b="0" i="0" u="none" strike="noStrike" cap="none">
                <a:solidFill>
                  <a:srgbClr val="5A5A5A"/>
                </a:solidFill>
                <a:latin typeface="Arial"/>
                <a:ea typeface="Arial"/>
                <a:cs typeface="Arial"/>
                <a:sym typeface="Arial"/>
              </a:rPr>
              <a:t>Evidence 3: robustness checks</a:t>
            </a:r>
            <a:endParaRPr sz="850" b="0" i="0" u="none" strike="noStrike" cap="none">
              <a:solidFill>
                <a:srgbClr val="5A5A5A"/>
              </a:solidFill>
              <a:latin typeface="Arial"/>
              <a:ea typeface="Arial"/>
              <a:cs typeface="Arial"/>
              <a:sym typeface="Arial"/>
            </a:endParaRPr>
          </a:p>
        </p:txBody>
      </p:sp>
      <p:sp>
        <p:nvSpPr>
          <p:cNvPr id="783" name="Google Shape;783;g3f5396f6f7a_0_600"/>
          <p:cNvSpPr/>
          <p:nvPr/>
        </p:nvSpPr>
        <p:spPr>
          <a:xfrm>
            <a:off x="338328" y="256032"/>
            <a:ext cx="504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g3f5396f6f7a_0_600"/>
          <p:cNvSpPr txBox="1"/>
          <p:nvPr/>
        </p:nvSpPr>
        <p:spPr>
          <a:xfrm>
            <a:off x="448056" y="256032"/>
            <a:ext cx="9784200" cy="2094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1000"/>
              <a:buFont typeface="Arial"/>
              <a:buNone/>
            </a:pPr>
            <a:r>
              <a:rPr lang="en-US" sz="1000" b="1" i="0" u="none" strike="noStrike" cap="none">
                <a:solidFill>
                  <a:srgbClr val="06507A"/>
                </a:solidFill>
                <a:latin typeface="Arial"/>
                <a:ea typeface="Arial"/>
                <a:cs typeface="Arial"/>
                <a:sym typeface="Arial"/>
              </a:rPr>
              <a:t>7 · RESULTS</a:t>
            </a:r>
            <a:endParaRPr sz="1000" b="1" i="0" u="none" strike="noStrike" cap="none">
              <a:solidFill>
                <a:srgbClr val="06507A"/>
              </a:solidFill>
              <a:latin typeface="Arial"/>
              <a:ea typeface="Arial"/>
              <a:cs typeface="Arial"/>
              <a:sym typeface="Arial"/>
            </a:endParaRPr>
          </a:p>
        </p:txBody>
      </p:sp>
      <p:cxnSp>
        <p:nvCxnSpPr>
          <p:cNvPr id="785" name="Google Shape;785;g3f5396f6f7a_0_600"/>
          <p:cNvCxnSpPr/>
          <p:nvPr/>
        </p:nvCxnSpPr>
        <p:spPr>
          <a:xfrm>
            <a:off x="347472" y="1234440"/>
            <a:ext cx="11493900" cy="0"/>
          </a:xfrm>
          <a:prstGeom prst="straightConnector1">
            <a:avLst/>
          </a:prstGeom>
          <a:noFill/>
          <a:ln w="15225" cap="flat" cmpd="sng">
            <a:solidFill>
              <a:srgbClr val="E7E1D5"/>
            </a:solidFill>
            <a:prstDash val="solid"/>
            <a:round/>
            <a:headEnd type="none" w="sm" len="sm"/>
            <a:tailEnd type="none" w="sm" len="sm"/>
          </a:ln>
          <a:effectLst>
            <a:outerShdw blurRad="40000" dist="20000" dir="5400000" rotWithShape="0">
              <a:srgbClr val="000000">
                <a:alpha val="38039"/>
              </a:srgbClr>
            </a:outerShdw>
          </a:effectLst>
        </p:spPr>
      </p:cxnSp>
      <p:pic>
        <p:nvPicPr>
          <p:cNvPr id="786" name="Google Shape;786;g3f5396f6f7a_0_600" descr="fig9_hw_roc.png"/>
          <p:cNvPicPr preferRelativeResize="0"/>
          <p:nvPr/>
        </p:nvPicPr>
        <p:blipFill rotWithShape="1">
          <a:blip r:embed="rId3">
            <a:alphaModFix/>
          </a:blip>
          <a:srcRect/>
          <a:stretch/>
        </p:blipFill>
        <p:spPr>
          <a:xfrm>
            <a:off x="502920" y="1427577"/>
            <a:ext cx="5120641" cy="2166424"/>
          </a:xfrm>
          <a:prstGeom prst="rect">
            <a:avLst/>
          </a:prstGeom>
          <a:noFill/>
          <a:ln>
            <a:noFill/>
          </a:ln>
        </p:spPr>
      </p:pic>
      <p:pic>
        <p:nvPicPr>
          <p:cNvPr id="787" name="Google Shape;787;g3f5396f6f7a_0_600" descr="fig10_second.png"/>
          <p:cNvPicPr preferRelativeResize="0"/>
          <p:nvPr/>
        </p:nvPicPr>
        <p:blipFill rotWithShape="1">
          <a:blip r:embed="rId4">
            <a:alphaModFix/>
          </a:blip>
          <a:srcRect/>
          <a:stretch/>
        </p:blipFill>
        <p:spPr>
          <a:xfrm>
            <a:off x="5989320" y="1579188"/>
            <a:ext cx="5303519" cy="1680323"/>
          </a:xfrm>
          <a:prstGeom prst="rect">
            <a:avLst/>
          </a:prstGeom>
          <a:noFill/>
          <a:ln>
            <a:noFill/>
          </a:ln>
        </p:spPr>
      </p:pic>
      <p:sp>
        <p:nvSpPr>
          <p:cNvPr id="788" name="Google Shape;788;g3f5396f6f7a_0_600"/>
          <p:cNvSpPr/>
          <p:nvPr/>
        </p:nvSpPr>
        <p:spPr>
          <a:xfrm>
            <a:off x="594360" y="3950970"/>
            <a:ext cx="4892100" cy="1326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9" name="Google Shape;789;g3f5396f6f7a_0_600"/>
          <p:cNvSpPr/>
          <p:nvPr/>
        </p:nvSpPr>
        <p:spPr>
          <a:xfrm>
            <a:off x="594360" y="3950970"/>
            <a:ext cx="54900" cy="1326000"/>
          </a:xfrm>
          <a:prstGeom prst="rect">
            <a:avLst/>
          </a:prstGeom>
          <a:solidFill>
            <a:srgbClr val="005276"/>
          </a:solidFill>
          <a:ln w="9525" cap="flat" cmpd="sng">
            <a:solidFill>
              <a:srgbClr val="005276"/>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g3f5396f6f7a_0_600"/>
          <p:cNvSpPr txBox="1"/>
          <p:nvPr/>
        </p:nvSpPr>
        <p:spPr>
          <a:xfrm>
            <a:off x="722376" y="4024122"/>
            <a:ext cx="46908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IBM-Q hardware lesson</a:t>
            </a:r>
            <a:endParaRPr sz="1400" b="0" i="0" u="none" strike="noStrike" cap="none">
              <a:solidFill>
                <a:srgbClr val="000000"/>
              </a:solidFill>
              <a:latin typeface="Arial"/>
              <a:ea typeface="Arial"/>
              <a:cs typeface="Arial"/>
              <a:sym typeface="Arial"/>
            </a:endParaRPr>
          </a:p>
        </p:txBody>
      </p:sp>
      <p:sp>
        <p:nvSpPr>
          <p:cNvPr id="791" name="Google Shape;791;g3f5396f6f7a_0_600"/>
          <p:cNvSpPr txBox="1"/>
          <p:nvPr/>
        </p:nvSpPr>
        <p:spPr>
          <a:xfrm>
            <a:off x="722376" y="4298441"/>
            <a:ext cx="4663500" cy="4614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18"/>
              <a:buFont typeface="Arial"/>
              <a:buNone/>
            </a:pPr>
            <a:r>
              <a:rPr lang="en-US" sz="919" b="0" i="0" u="none" strike="noStrike" cap="none">
                <a:solidFill>
                  <a:srgbClr val="000000"/>
                </a:solidFill>
                <a:latin typeface="Arial"/>
                <a:ea typeface="Arial"/>
                <a:cs typeface="Arial"/>
                <a:sym typeface="Arial"/>
              </a:rPr>
              <a:t>The 2-input QAE is tested on IBMQ Belem. The SWAP-test version loses AUC because CSWAP is too deep and decoheres. Direct Pauli-Z trash measurement reproduces simulator AUC almost exactly.</a:t>
            </a:r>
            <a:endParaRPr sz="1400" b="0" i="0" u="none" strike="noStrike" cap="none">
              <a:solidFill>
                <a:srgbClr val="000000"/>
              </a:solidFill>
              <a:latin typeface="Arial"/>
              <a:ea typeface="Arial"/>
              <a:cs typeface="Arial"/>
              <a:sym typeface="Arial"/>
            </a:endParaRPr>
          </a:p>
        </p:txBody>
      </p:sp>
      <p:sp>
        <p:nvSpPr>
          <p:cNvPr id="792" name="Google Shape;792;g3f5396f6f7a_0_600"/>
          <p:cNvSpPr/>
          <p:nvPr/>
        </p:nvSpPr>
        <p:spPr>
          <a:xfrm>
            <a:off x="5989320" y="3950970"/>
            <a:ext cx="5074800" cy="1326000"/>
          </a:xfrm>
          <a:prstGeom prst="roundRect">
            <a:avLst>
              <a:gd name="adj" fmla="val 16667"/>
            </a:avLst>
          </a:prstGeom>
          <a:solidFill>
            <a:srgbClr val="F8F5EF"/>
          </a:solidFill>
          <a:ln w="12700" cap="flat" cmpd="sng">
            <a:solidFill>
              <a:srgbClr val="D9D6CF"/>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3" name="Google Shape;793;g3f5396f6f7a_0_600"/>
          <p:cNvSpPr/>
          <p:nvPr/>
        </p:nvSpPr>
        <p:spPr>
          <a:xfrm>
            <a:off x="5989320" y="3950970"/>
            <a:ext cx="54900" cy="1326000"/>
          </a:xfrm>
          <a:prstGeom prst="rect">
            <a:avLst/>
          </a:prstGeom>
          <a:solidFill>
            <a:srgbClr val="F55219"/>
          </a:solidFill>
          <a:ln w="9525" cap="flat" cmpd="sng">
            <a:solidFill>
              <a:srgbClr val="F55219"/>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4" name="Google Shape;794;g3f5396f6f7a_0_600"/>
          <p:cNvSpPr txBox="1"/>
          <p:nvPr/>
        </p:nvSpPr>
        <p:spPr>
          <a:xfrm>
            <a:off x="6117336" y="4024122"/>
            <a:ext cx="4873800" cy="2061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100" b="1" i="0" u="none" strike="noStrike" cap="none">
                <a:solidFill>
                  <a:srgbClr val="005276"/>
                </a:solidFill>
                <a:latin typeface="Arial"/>
                <a:ea typeface="Arial"/>
                <a:cs typeface="Arial"/>
                <a:sym typeface="Arial"/>
              </a:rPr>
              <a:t>Second benchmark lesson</a:t>
            </a:r>
            <a:endParaRPr sz="1400" b="0" i="0" u="none" strike="noStrike" cap="none">
              <a:solidFill>
                <a:srgbClr val="000000"/>
              </a:solidFill>
              <a:latin typeface="Arial"/>
              <a:ea typeface="Arial"/>
              <a:cs typeface="Arial"/>
              <a:sym typeface="Arial"/>
            </a:endParaRPr>
          </a:p>
        </p:txBody>
      </p:sp>
      <p:sp>
        <p:nvSpPr>
          <p:cNvPr id="795" name="Google Shape;795;g3f5396f6f7a_0_600"/>
          <p:cNvSpPr txBox="1"/>
          <p:nvPr/>
        </p:nvSpPr>
        <p:spPr>
          <a:xfrm>
            <a:off x="6117336" y="4298441"/>
            <a:ext cx="4846200" cy="4614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918"/>
              <a:buFont typeface="Arial"/>
              <a:buNone/>
            </a:pPr>
            <a:r>
              <a:rPr lang="en-US" sz="919" b="0" i="0" u="none" strike="noStrike" cap="none">
                <a:solidFill>
                  <a:srgbClr val="000000"/>
                </a:solidFill>
                <a:latin typeface="Arial"/>
                <a:ea typeface="Arial"/>
                <a:cs typeface="Arial"/>
                <a:sym typeface="Arial"/>
              </a:rPr>
              <a:t>For invisible Z background vs invisible Higgs signal, the QAE again converges with smaller data and outperforms the optimized dense CAE: QAE AUC = 0.7524 vs CAE AUC = 0.7000.</a:t>
            </a:r>
            <a:endParaRPr sz="1400" b="0" i="0" u="none" strike="noStrike" cap="none">
              <a:solidFill>
                <a:srgbClr val="000000"/>
              </a:solidFill>
              <a:latin typeface="Arial"/>
              <a:ea typeface="Arial"/>
              <a:cs typeface="Arial"/>
              <a:sym typeface="Arial"/>
            </a:endParaRPr>
          </a:p>
        </p:txBody>
      </p:sp>
      <p:sp>
        <p:nvSpPr>
          <p:cNvPr id="796" name="Google Shape;796;g3f5396f6f7a_0_600"/>
          <p:cNvSpPr txBox="1"/>
          <p:nvPr/>
        </p:nvSpPr>
        <p:spPr>
          <a:xfrm>
            <a:off x="731520" y="5734050"/>
            <a:ext cx="10332600" cy="195600"/>
          </a:xfrm>
          <a:prstGeom prst="rect">
            <a:avLst/>
          </a:prstGeom>
          <a:noFill/>
          <a:ln>
            <a:noFill/>
          </a:ln>
        </p:spPr>
        <p:txBody>
          <a:bodyPr spcFirstLastPara="1" wrap="square" lIns="45700" tIns="18275" rIns="45700" bIns="18275" anchor="t" anchorCtr="0">
            <a:spAutoFit/>
          </a:bodyPr>
          <a:lstStyle/>
          <a:p>
            <a:pPr marL="0" marR="0" lvl="0" indent="0" algn="l" rtl="0">
              <a:lnSpc>
                <a:spcPct val="100000"/>
              </a:lnSpc>
              <a:spcBef>
                <a:spcPts val="0"/>
              </a:spcBef>
              <a:spcAft>
                <a:spcPts val="0"/>
              </a:spcAft>
              <a:buClr>
                <a:srgbClr val="000000"/>
              </a:buClr>
              <a:buSzPts val="1030"/>
              <a:buFont typeface="Arial"/>
              <a:buNone/>
            </a:pPr>
            <a:r>
              <a:rPr lang="en-US" sz="1030" b="0" i="0" u="none" strike="noStrike" cap="none">
                <a:solidFill>
                  <a:srgbClr val="5A5A5A"/>
                </a:solidFill>
                <a:latin typeface="Arial"/>
                <a:ea typeface="Arial"/>
                <a:cs typeface="Arial"/>
                <a:sym typeface="Arial"/>
              </a:rPr>
              <a:t>Together, these checks support the authors’ claim that the behavior is not just a one-process artifact and that shallow measurement design is critical on NISQ devices.</a:t>
            </a:r>
            <a:endParaRPr sz="1400" b="0" i="0" u="none" strike="noStrike" cap="none">
              <a:solidFill>
                <a:srgbClr val="000000"/>
              </a:solidFill>
              <a:latin typeface="Arial"/>
              <a:ea typeface="Arial"/>
              <a:cs typeface="Arial"/>
              <a:sym typeface="Arial"/>
            </a:endParaRPr>
          </a:p>
        </p:txBody>
      </p:sp>
      <p:sp>
        <p:nvSpPr>
          <p:cNvPr id="797" name="Google Shape;797;g3f5396f6f7a_0_600"/>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8" name="Google Shape;798;g3f5396f6f7a_0_600"/>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800" name="Google Shape;800;g3f5396f6f7a_0_600"/>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dirty="0">
                <a:solidFill>
                  <a:srgbClr val="06507A"/>
                </a:solidFill>
              </a:rPr>
              <a:t>17</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5519"/>
        </a:solidFill>
        <a:effectLst/>
      </p:bgPr>
    </p:bg>
    <p:spTree>
      <p:nvGrpSpPr>
        <p:cNvPr id="1" name="Shape 804"/>
        <p:cNvGrpSpPr/>
        <p:nvPr/>
      </p:nvGrpSpPr>
      <p:grpSpPr>
        <a:xfrm>
          <a:off x="0" y="0"/>
          <a:ext cx="0" cy="0"/>
          <a:chOff x="0" y="0"/>
          <a:chExt cx="0" cy="0"/>
        </a:xfrm>
      </p:grpSpPr>
      <p:sp>
        <p:nvSpPr>
          <p:cNvPr id="805" name="Google Shape;805;g3f5404c3592_0_27"/>
          <p:cNvSpPr txBox="1"/>
          <p:nvPr/>
        </p:nvSpPr>
        <p:spPr>
          <a:xfrm>
            <a:off x="576005" y="324000"/>
            <a:ext cx="5760000" cy="1861500"/>
          </a:xfrm>
          <a:prstGeom prst="rect">
            <a:avLst/>
          </a:prstGeom>
          <a:noFill/>
          <a:ln>
            <a:noFill/>
          </a:ln>
        </p:spPr>
        <p:txBody>
          <a:bodyPr spcFirstLastPara="1" wrap="square" lIns="18000" tIns="7200" rIns="18000" bIns="7200" anchor="t" anchorCtr="0">
            <a:spAutoFit/>
          </a:bodyPr>
          <a:lstStyle/>
          <a:p>
            <a:pPr marL="0" marR="0" lvl="0" indent="0" algn="l" rtl="0">
              <a:lnSpc>
                <a:spcPct val="100000"/>
              </a:lnSpc>
              <a:spcBef>
                <a:spcPts val="0"/>
              </a:spcBef>
              <a:spcAft>
                <a:spcPts val="0"/>
              </a:spcAft>
              <a:buClr>
                <a:srgbClr val="000000"/>
              </a:buClr>
              <a:buSzPts val="12000"/>
              <a:buFont typeface="Arial"/>
              <a:buNone/>
            </a:pPr>
            <a:r>
              <a:rPr lang="en-US" sz="3600" b="0" i="0" u="none" strike="noStrike" cap="none">
                <a:solidFill>
                  <a:srgbClr val="FFFFFF"/>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806" name="Google Shape;806;g3f5404c3592_0_27"/>
          <p:cNvSpPr/>
          <p:nvPr/>
        </p:nvSpPr>
        <p:spPr>
          <a:xfrm>
            <a:off x="672006" y="4752000"/>
            <a:ext cx="1536000" cy="36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7" name="Google Shape;807;g3f5404c3592_0_27"/>
          <p:cNvSpPr txBox="1"/>
          <p:nvPr/>
        </p:nvSpPr>
        <p:spPr>
          <a:xfrm>
            <a:off x="672005" y="1828950"/>
            <a:ext cx="10560000" cy="2785200"/>
          </a:xfrm>
          <a:prstGeom prst="rect">
            <a:avLst/>
          </a:prstGeom>
          <a:noFill/>
          <a:ln>
            <a:noFill/>
          </a:ln>
        </p:spPr>
        <p:txBody>
          <a:bodyPr spcFirstLastPara="1" wrap="square" lIns="18000" tIns="7200" rIns="18000" bIns="72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6000" b="1" i="0" u="none" strike="noStrike" cap="none">
                <a:solidFill>
                  <a:srgbClr val="FFFFFF"/>
                </a:solidFill>
                <a:latin typeface="Arial"/>
                <a:ea typeface="Arial"/>
                <a:cs typeface="Arial"/>
                <a:sym typeface="Arial"/>
              </a:rPr>
              <a:t>Paper 2 · Applying Quantum Autoencoders for Time Series Anomaly Detection</a:t>
            </a:r>
            <a:endParaRPr sz="60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3f548fae03d_1_0"/>
          <p:cNvSpPr/>
          <p:nvPr/>
        </p:nvSpPr>
        <p:spPr>
          <a:xfrm>
            <a:off x="338328" y="256032"/>
            <a:ext cx="54864"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4" name="Google Shape;814;g3f548fae03d_1_0"/>
          <p:cNvSpPr txBox="1"/>
          <p:nvPr/>
        </p:nvSpPr>
        <p:spPr>
          <a:xfrm>
            <a:off x="448056" y="256032"/>
            <a:ext cx="9784080" cy="2011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OVERVIEW</a:t>
            </a:r>
            <a:endParaRPr/>
          </a:p>
        </p:txBody>
      </p:sp>
      <p:sp>
        <p:nvSpPr>
          <p:cNvPr id="815" name="Google Shape;815;g3f548fae03d_1_0"/>
          <p:cNvSpPr txBox="1"/>
          <p:nvPr/>
        </p:nvSpPr>
        <p:spPr>
          <a:xfrm>
            <a:off x="448056" y="429768"/>
            <a:ext cx="9784080" cy="210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The complete story in one slide</a:t>
            </a:r>
            <a:endParaRPr/>
          </a:p>
        </p:txBody>
      </p:sp>
      <p:sp>
        <p:nvSpPr>
          <p:cNvPr id="816" name="Google Shape;816;g3f548fae03d_1_0"/>
          <p:cNvSpPr txBox="1"/>
          <p:nvPr/>
        </p:nvSpPr>
        <p:spPr>
          <a:xfrm>
            <a:off x="338328" y="804672"/>
            <a:ext cx="11064240" cy="475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What does this paper do?</a:t>
            </a:r>
            <a:endParaRPr/>
          </a:p>
        </p:txBody>
      </p:sp>
      <p:sp>
        <p:nvSpPr>
          <p:cNvPr id="817" name="Google Shape;817;g3f548fae03d_1_0"/>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8" name="Google Shape;818;g3f548fae03d_1_0"/>
          <p:cNvSpPr/>
          <p:nvPr/>
        </p:nvSpPr>
        <p:spPr>
          <a:xfrm>
            <a:off x="502920" y="1508760"/>
            <a:ext cx="2743200" cy="1600200"/>
          </a:xfrm>
          <a:prstGeom prst="roundRect">
            <a:avLst>
              <a:gd name="adj" fmla="val 16667"/>
            </a:avLst>
          </a:prstGeom>
          <a:solidFill>
            <a:srgbClr val="FBF8F1"/>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19" name="Google Shape;819;g3f548fae03d_1_0"/>
          <p:cNvSpPr/>
          <p:nvPr/>
        </p:nvSpPr>
        <p:spPr>
          <a:xfrm>
            <a:off x="502920" y="1508760"/>
            <a:ext cx="59436" cy="16002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0" name="Google Shape;820;g3f548fae03d_1_0"/>
          <p:cNvSpPr txBox="1"/>
          <p:nvPr/>
        </p:nvSpPr>
        <p:spPr>
          <a:xfrm>
            <a:off x="649224" y="1581912"/>
            <a:ext cx="25146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1 · Research goal</a:t>
            </a:r>
            <a:endParaRPr/>
          </a:p>
        </p:txBody>
      </p:sp>
      <p:sp>
        <p:nvSpPr>
          <p:cNvPr id="821" name="Google Shape;821;g3f548fae03d_1_0"/>
          <p:cNvSpPr txBox="1"/>
          <p:nvPr/>
        </p:nvSpPr>
        <p:spPr>
          <a:xfrm>
            <a:off x="649224" y="1856231"/>
            <a:ext cx="2514600" cy="11887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Apply quantum autoencoders to time-series anomaly detection where training data contains only normal behavior.</a:t>
            </a:r>
            <a:endParaRPr/>
          </a:p>
        </p:txBody>
      </p:sp>
      <p:sp>
        <p:nvSpPr>
          <p:cNvPr id="822" name="Google Shape;822;g3f548fae03d_1_0"/>
          <p:cNvSpPr/>
          <p:nvPr/>
        </p:nvSpPr>
        <p:spPr>
          <a:xfrm>
            <a:off x="3401568" y="1508760"/>
            <a:ext cx="2743200" cy="1600200"/>
          </a:xfrm>
          <a:prstGeom prst="roundRect">
            <a:avLst>
              <a:gd name="adj" fmla="val 16667"/>
            </a:avLst>
          </a:prstGeom>
          <a:solidFill>
            <a:srgbClr val="FBF8F1"/>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3" name="Google Shape;823;g3f548fae03d_1_0"/>
          <p:cNvSpPr/>
          <p:nvPr/>
        </p:nvSpPr>
        <p:spPr>
          <a:xfrm>
            <a:off x="3401568" y="1508760"/>
            <a:ext cx="59436" cy="160020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4" name="Google Shape;824;g3f548fae03d_1_0"/>
          <p:cNvSpPr txBox="1"/>
          <p:nvPr/>
        </p:nvSpPr>
        <p:spPr>
          <a:xfrm>
            <a:off x="3547872" y="1581912"/>
            <a:ext cx="25146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2 · Data preparation</a:t>
            </a:r>
            <a:endParaRPr/>
          </a:p>
        </p:txBody>
      </p:sp>
      <p:sp>
        <p:nvSpPr>
          <p:cNvPr id="825" name="Google Shape;825;g3f548fae03d_1_0"/>
          <p:cNvSpPr txBox="1"/>
          <p:nvPr/>
        </p:nvSpPr>
        <p:spPr>
          <a:xfrm>
            <a:off x="3547872" y="1856231"/>
            <a:ext cx="2514600" cy="11887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Use UCR univariate time series; cut each signal into 128-point sliding windows with stride 1.</a:t>
            </a:r>
            <a:endParaRPr/>
          </a:p>
        </p:txBody>
      </p:sp>
      <p:sp>
        <p:nvSpPr>
          <p:cNvPr id="826" name="Google Shape;826;g3f548fae03d_1_0"/>
          <p:cNvSpPr/>
          <p:nvPr/>
        </p:nvSpPr>
        <p:spPr>
          <a:xfrm>
            <a:off x="6300216" y="1508760"/>
            <a:ext cx="2743200" cy="1600200"/>
          </a:xfrm>
          <a:prstGeom prst="roundRect">
            <a:avLst>
              <a:gd name="adj" fmla="val 16667"/>
            </a:avLst>
          </a:prstGeom>
          <a:solidFill>
            <a:srgbClr val="FBF8F1"/>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7" name="Google Shape;827;g3f548fae03d_1_0"/>
          <p:cNvSpPr/>
          <p:nvPr/>
        </p:nvSpPr>
        <p:spPr>
          <a:xfrm>
            <a:off x="6300216" y="1508760"/>
            <a:ext cx="59436" cy="1600200"/>
          </a:xfrm>
          <a:prstGeom prst="rect">
            <a:avLst/>
          </a:prstGeom>
          <a:solidFill>
            <a:srgbClr val="317A6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28" name="Google Shape;828;g3f548fae03d_1_0"/>
          <p:cNvSpPr txBox="1"/>
          <p:nvPr/>
        </p:nvSpPr>
        <p:spPr>
          <a:xfrm>
            <a:off x="6446520" y="1581912"/>
            <a:ext cx="25146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317A61"/>
                </a:solidFill>
                <a:latin typeface="Arial"/>
                <a:ea typeface="Arial"/>
                <a:cs typeface="Arial"/>
                <a:sym typeface="Arial"/>
              </a:rPr>
              <a:t>3 · Encoding focus</a:t>
            </a:r>
            <a:endParaRPr/>
          </a:p>
        </p:txBody>
      </p:sp>
      <p:sp>
        <p:nvSpPr>
          <p:cNvPr id="829" name="Google Shape;829;g3f548fae03d_1_0"/>
          <p:cNvSpPr txBox="1"/>
          <p:nvPr/>
        </p:nvSpPr>
        <p:spPr>
          <a:xfrm>
            <a:off x="6446520" y="1856231"/>
            <a:ext cx="2514600" cy="11887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Convert each 128-value window into a 7-qubit quantum state using amplitude encoding; use quasi-amplitude encoding on hardware.</a:t>
            </a:r>
            <a:endParaRPr/>
          </a:p>
        </p:txBody>
      </p:sp>
      <p:sp>
        <p:nvSpPr>
          <p:cNvPr id="830" name="Google Shape;830;g3f548fae03d_1_0"/>
          <p:cNvSpPr/>
          <p:nvPr/>
        </p:nvSpPr>
        <p:spPr>
          <a:xfrm>
            <a:off x="9198864" y="1508760"/>
            <a:ext cx="2487168" cy="1600200"/>
          </a:xfrm>
          <a:prstGeom prst="roundRect">
            <a:avLst>
              <a:gd name="adj" fmla="val 16667"/>
            </a:avLst>
          </a:prstGeom>
          <a:solidFill>
            <a:srgbClr val="FBF8F1"/>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1" name="Google Shape;831;g3f548fae03d_1_0"/>
          <p:cNvSpPr/>
          <p:nvPr/>
        </p:nvSpPr>
        <p:spPr>
          <a:xfrm>
            <a:off x="9198864" y="1508760"/>
            <a:ext cx="59436" cy="16002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2" name="Google Shape;832;g3f548fae03d_1_0"/>
          <p:cNvSpPr txBox="1"/>
          <p:nvPr/>
        </p:nvSpPr>
        <p:spPr>
          <a:xfrm>
            <a:off x="9345168" y="1581912"/>
            <a:ext cx="2258568"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4 · Experiments</a:t>
            </a:r>
            <a:endParaRPr/>
          </a:p>
        </p:txBody>
      </p:sp>
      <p:sp>
        <p:nvSpPr>
          <p:cNvPr id="833" name="Google Shape;833;g3f548fae03d_1_0"/>
          <p:cNvSpPr txBox="1"/>
          <p:nvPr/>
        </p:nvSpPr>
        <p:spPr>
          <a:xfrm>
            <a:off x="9345168" y="1856231"/>
            <a:ext cx="2258568" cy="11887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Compare MSE reconstruction and Swap-Test latent analysis in simulation, then run a reduced setup on IBM Torino.</a:t>
            </a:r>
            <a:endParaRPr/>
          </a:p>
        </p:txBody>
      </p:sp>
      <p:sp>
        <p:nvSpPr>
          <p:cNvPr id="834" name="Google Shape;834;g3f548fae03d_1_0"/>
          <p:cNvSpPr txBox="1"/>
          <p:nvPr/>
        </p:nvSpPr>
        <p:spPr>
          <a:xfrm>
            <a:off x="594360" y="3429000"/>
            <a:ext cx="10972800" cy="3200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5276"/>
                </a:solidFill>
                <a:latin typeface="Arial"/>
                <a:ea typeface="Arial"/>
                <a:cs typeface="Arial"/>
                <a:sym typeface="Arial"/>
              </a:rPr>
              <a:t>Core pipeline studied in the paper</a:t>
            </a:r>
            <a:endParaRPr/>
          </a:p>
        </p:txBody>
      </p:sp>
      <p:sp>
        <p:nvSpPr>
          <p:cNvPr id="835" name="Google Shape;835;g3f548fae03d_1_0"/>
          <p:cNvSpPr/>
          <p:nvPr/>
        </p:nvSpPr>
        <p:spPr>
          <a:xfrm>
            <a:off x="594360" y="3840480"/>
            <a:ext cx="10972800" cy="1234440"/>
          </a:xfrm>
          <a:prstGeom prst="roundRect">
            <a:avLst>
              <a:gd name="adj" fmla="val 16667"/>
            </a:avLst>
          </a:prstGeom>
          <a:solidFill>
            <a:srgbClr val="FBF8F1"/>
          </a:solidFill>
          <a:ln w="9525"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36" name="Google Shape;836;g3f548fae03d_1_0"/>
          <p:cNvSpPr txBox="1"/>
          <p:nvPr/>
        </p:nvSpPr>
        <p:spPr>
          <a:xfrm>
            <a:off x="960120" y="4160520"/>
            <a:ext cx="1371600" cy="5486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raw time</a:t>
            </a:r>
            <a:br>
              <a:rPr lang="en-US" sz="1400" b="1" i="0" u="none" strike="noStrike" cap="none">
                <a:solidFill>
                  <a:srgbClr val="000000"/>
                </a:solidFill>
                <a:latin typeface="Arial"/>
                <a:ea typeface="Arial"/>
                <a:cs typeface="Arial"/>
                <a:sym typeface="Arial"/>
              </a:rPr>
            </a:br>
            <a:r>
              <a:rPr lang="en-US" sz="1400" b="1" i="0" u="none" strike="noStrike" cap="none">
                <a:solidFill>
                  <a:srgbClr val="000000"/>
                </a:solidFill>
                <a:latin typeface="Arial"/>
                <a:ea typeface="Arial"/>
                <a:cs typeface="Arial"/>
                <a:sym typeface="Arial"/>
              </a:rPr>
              <a:t>series</a:t>
            </a:r>
            <a:endParaRPr/>
          </a:p>
        </p:txBody>
      </p:sp>
      <p:sp>
        <p:nvSpPr>
          <p:cNvPr id="837" name="Google Shape;837;g3f548fae03d_1_0"/>
          <p:cNvSpPr txBox="1"/>
          <p:nvPr/>
        </p:nvSpPr>
        <p:spPr>
          <a:xfrm>
            <a:off x="2743200" y="4160520"/>
            <a:ext cx="1371600" cy="5486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128-point</a:t>
            </a:r>
            <a:br>
              <a:rPr lang="en-US" sz="1400" b="1" i="0" u="none" strike="noStrike" cap="none">
                <a:solidFill>
                  <a:srgbClr val="000000"/>
                </a:solidFill>
                <a:latin typeface="Arial"/>
                <a:ea typeface="Arial"/>
                <a:cs typeface="Arial"/>
                <a:sym typeface="Arial"/>
              </a:rPr>
            </a:br>
            <a:r>
              <a:rPr lang="en-US" sz="1400" b="1" i="0" u="none" strike="noStrike" cap="none">
                <a:solidFill>
                  <a:srgbClr val="000000"/>
                </a:solidFill>
                <a:latin typeface="Arial"/>
                <a:ea typeface="Arial"/>
                <a:cs typeface="Arial"/>
                <a:sym typeface="Arial"/>
              </a:rPr>
              <a:t>window</a:t>
            </a:r>
            <a:endParaRPr/>
          </a:p>
        </p:txBody>
      </p:sp>
      <p:sp>
        <p:nvSpPr>
          <p:cNvPr id="838" name="Google Shape;838;g3f548fae03d_1_0"/>
          <p:cNvSpPr txBox="1"/>
          <p:nvPr/>
        </p:nvSpPr>
        <p:spPr>
          <a:xfrm>
            <a:off x="4617720" y="4160520"/>
            <a:ext cx="1371600" cy="5486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7-qubit</a:t>
            </a:r>
            <a:br>
              <a:rPr lang="en-US" sz="1400" b="1" i="0" u="none" strike="noStrike" cap="none">
                <a:solidFill>
                  <a:srgbClr val="000000"/>
                </a:solidFill>
                <a:latin typeface="Arial"/>
                <a:ea typeface="Arial"/>
                <a:cs typeface="Arial"/>
                <a:sym typeface="Arial"/>
              </a:rPr>
            </a:br>
            <a:r>
              <a:rPr lang="en-US" sz="1400" b="1" i="0" u="none" strike="noStrike" cap="none">
                <a:solidFill>
                  <a:srgbClr val="000000"/>
                </a:solidFill>
                <a:latin typeface="Arial"/>
                <a:ea typeface="Arial"/>
                <a:cs typeface="Arial"/>
                <a:sym typeface="Arial"/>
              </a:rPr>
              <a:t>amplitude state</a:t>
            </a:r>
            <a:endParaRPr/>
          </a:p>
        </p:txBody>
      </p:sp>
      <p:sp>
        <p:nvSpPr>
          <p:cNvPr id="839" name="Google Shape;839;g3f548fae03d_1_0"/>
          <p:cNvSpPr txBox="1"/>
          <p:nvPr/>
        </p:nvSpPr>
        <p:spPr>
          <a:xfrm>
            <a:off x="6675120" y="4160520"/>
            <a:ext cx="1371600" cy="5486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latent + trash</a:t>
            </a:r>
            <a:br>
              <a:rPr lang="en-US" sz="1400" b="1" i="0" u="none" strike="noStrike" cap="none">
                <a:solidFill>
                  <a:srgbClr val="000000"/>
                </a:solidFill>
                <a:latin typeface="Arial"/>
                <a:ea typeface="Arial"/>
                <a:cs typeface="Arial"/>
                <a:sym typeface="Arial"/>
              </a:rPr>
            </a:br>
            <a:r>
              <a:rPr lang="en-US" sz="1400" b="1" i="0" u="none" strike="noStrike" cap="none">
                <a:solidFill>
                  <a:srgbClr val="000000"/>
                </a:solidFill>
                <a:latin typeface="Arial"/>
                <a:ea typeface="Arial"/>
                <a:cs typeface="Arial"/>
                <a:sym typeface="Arial"/>
              </a:rPr>
              <a:t>QAE</a:t>
            </a:r>
            <a:endParaRPr/>
          </a:p>
        </p:txBody>
      </p:sp>
      <p:sp>
        <p:nvSpPr>
          <p:cNvPr id="840" name="Google Shape;840;g3f548fae03d_1_0"/>
          <p:cNvSpPr txBox="1"/>
          <p:nvPr/>
        </p:nvSpPr>
        <p:spPr>
          <a:xfrm>
            <a:off x="9006840" y="4160520"/>
            <a:ext cx="1371600" cy="5486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MSE / Swap</a:t>
            </a:r>
            <a:br>
              <a:rPr lang="en-US" sz="1400" b="1" i="0" u="none" strike="noStrike" cap="none">
                <a:solidFill>
                  <a:srgbClr val="000000"/>
                </a:solidFill>
                <a:latin typeface="Arial"/>
                <a:ea typeface="Arial"/>
                <a:cs typeface="Arial"/>
                <a:sym typeface="Arial"/>
              </a:rPr>
            </a:br>
            <a:r>
              <a:rPr lang="en-US" sz="1400" b="1" i="0" u="none" strike="noStrike" cap="none">
                <a:solidFill>
                  <a:srgbClr val="000000"/>
                </a:solidFill>
                <a:latin typeface="Arial"/>
                <a:ea typeface="Arial"/>
                <a:cs typeface="Arial"/>
                <a:sym typeface="Arial"/>
              </a:rPr>
              <a:t>score</a:t>
            </a:r>
            <a:endParaRPr/>
          </a:p>
        </p:txBody>
      </p:sp>
      <p:sp>
        <p:nvSpPr>
          <p:cNvPr id="841" name="Google Shape;841;g3f548fae03d_1_0"/>
          <p:cNvSpPr txBox="1"/>
          <p:nvPr/>
        </p:nvSpPr>
        <p:spPr>
          <a:xfrm>
            <a:off x="2331720" y="4279392"/>
            <a:ext cx="457200" cy="3657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F05519"/>
                </a:solidFill>
                <a:latin typeface="Arial"/>
                <a:ea typeface="Arial"/>
                <a:cs typeface="Arial"/>
                <a:sym typeface="Arial"/>
              </a:rPr>
              <a:t>→</a:t>
            </a:r>
            <a:endParaRPr/>
          </a:p>
        </p:txBody>
      </p:sp>
      <p:sp>
        <p:nvSpPr>
          <p:cNvPr id="842" name="Google Shape;842;g3f548fae03d_1_0"/>
          <p:cNvSpPr txBox="1"/>
          <p:nvPr/>
        </p:nvSpPr>
        <p:spPr>
          <a:xfrm>
            <a:off x="4206240" y="4279392"/>
            <a:ext cx="457200" cy="3657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F05519"/>
                </a:solidFill>
                <a:latin typeface="Arial"/>
                <a:ea typeface="Arial"/>
                <a:cs typeface="Arial"/>
                <a:sym typeface="Arial"/>
              </a:rPr>
              <a:t>→</a:t>
            </a:r>
            <a:endParaRPr/>
          </a:p>
        </p:txBody>
      </p:sp>
      <p:sp>
        <p:nvSpPr>
          <p:cNvPr id="843" name="Google Shape;843;g3f548fae03d_1_0"/>
          <p:cNvSpPr txBox="1"/>
          <p:nvPr/>
        </p:nvSpPr>
        <p:spPr>
          <a:xfrm>
            <a:off x="6291072" y="4279392"/>
            <a:ext cx="457200" cy="3657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F05519"/>
                </a:solidFill>
                <a:latin typeface="Arial"/>
                <a:ea typeface="Arial"/>
                <a:cs typeface="Arial"/>
                <a:sym typeface="Arial"/>
              </a:rPr>
              <a:t>→</a:t>
            </a:r>
            <a:endParaRPr/>
          </a:p>
        </p:txBody>
      </p:sp>
      <p:sp>
        <p:nvSpPr>
          <p:cNvPr id="844" name="Google Shape;844;g3f548fae03d_1_0"/>
          <p:cNvSpPr txBox="1"/>
          <p:nvPr/>
        </p:nvSpPr>
        <p:spPr>
          <a:xfrm>
            <a:off x="8458200" y="4279392"/>
            <a:ext cx="457200" cy="3657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F05519"/>
                </a:solidFill>
                <a:latin typeface="Arial"/>
                <a:ea typeface="Arial"/>
                <a:cs typeface="Arial"/>
                <a:sym typeface="Arial"/>
              </a:rPr>
              <a:t>→</a:t>
            </a:r>
            <a:endParaRPr/>
          </a:p>
        </p:txBody>
      </p:sp>
      <p:sp>
        <p:nvSpPr>
          <p:cNvPr id="845" name="Google Shape;845;g3f548fae03d_1_0"/>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6" name="Google Shape;846;g3f548fae03d_1_0"/>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848" name="Google Shape;848;g3f548fae03d_1_0"/>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18</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3f548fae03d_1_45"/>
          <p:cNvSpPr/>
          <p:nvPr/>
        </p:nvSpPr>
        <p:spPr>
          <a:xfrm>
            <a:off x="338328" y="256032"/>
            <a:ext cx="54864"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4" name="Google Shape;854;g3f548fae03d_1_45"/>
          <p:cNvSpPr txBox="1"/>
          <p:nvPr/>
        </p:nvSpPr>
        <p:spPr>
          <a:xfrm>
            <a:off x="448056" y="256032"/>
            <a:ext cx="9784080" cy="2011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1 · MOTIVATION</a:t>
            </a:r>
            <a:endParaRPr/>
          </a:p>
        </p:txBody>
      </p:sp>
      <p:sp>
        <p:nvSpPr>
          <p:cNvPr id="855" name="Google Shape;855;g3f548fae03d_1_45"/>
          <p:cNvSpPr txBox="1"/>
          <p:nvPr/>
        </p:nvSpPr>
        <p:spPr>
          <a:xfrm>
            <a:off x="448056" y="429768"/>
            <a:ext cx="9784080" cy="210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Why time-series anomaly detection is difficult</a:t>
            </a:r>
            <a:endParaRPr/>
          </a:p>
        </p:txBody>
      </p:sp>
      <p:sp>
        <p:nvSpPr>
          <p:cNvPr id="856" name="Google Shape;856;g3f548fae03d_1_45"/>
          <p:cNvSpPr txBox="1"/>
          <p:nvPr/>
        </p:nvSpPr>
        <p:spPr>
          <a:xfrm>
            <a:off x="338328" y="804672"/>
            <a:ext cx="11064240" cy="475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Research motivation and question</a:t>
            </a:r>
            <a:endParaRPr/>
          </a:p>
        </p:txBody>
      </p:sp>
      <p:sp>
        <p:nvSpPr>
          <p:cNvPr id="857" name="Google Shape;857;g3f548fae03d_1_45"/>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8" name="Google Shape;858;g3f548fae03d_1_45"/>
          <p:cNvSpPr/>
          <p:nvPr/>
        </p:nvSpPr>
        <p:spPr>
          <a:xfrm>
            <a:off x="548640" y="1417320"/>
            <a:ext cx="3291840" cy="123444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59" name="Google Shape;859;g3f548fae03d_1_45"/>
          <p:cNvSpPr/>
          <p:nvPr/>
        </p:nvSpPr>
        <p:spPr>
          <a:xfrm>
            <a:off x="548640" y="1417320"/>
            <a:ext cx="59436" cy="123444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0" name="Google Shape;860;g3f548fae03d_1_45"/>
          <p:cNvSpPr txBox="1"/>
          <p:nvPr/>
        </p:nvSpPr>
        <p:spPr>
          <a:xfrm>
            <a:off x="694944" y="1490472"/>
            <a:ext cx="306324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Problem setting</a:t>
            </a:r>
            <a:endParaRPr/>
          </a:p>
        </p:txBody>
      </p:sp>
      <p:sp>
        <p:nvSpPr>
          <p:cNvPr id="861" name="Google Shape;861;g3f548fae03d_1_45"/>
          <p:cNvSpPr txBox="1"/>
          <p:nvPr/>
        </p:nvSpPr>
        <p:spPr>
          <a:xfrm>
            <a:off x="694944" y="1764792"/>
            <a:ext cx="3063240" cy="8229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Anomalies are rare; many benchmarks provide normal training data and place the only anomaly in the test series.</a:t>
            </a:r>
            <a:endParaRPr/>
          </a:p>
        </p:txBody>
      </p:sp>
      <p:sp>
        <p:nvSpPr>
          <p:cNvPr id="862" name="Google Shape;862;g3f548fae03d_1_45"/>
          <p:cNvSpPr/>
          <p:nvPr/>
        </p:nvSpPr>
        <p:spPr>
          <a:xfrm>
            <a:off x="4251960" y="1417320"/>
            <a:ext cx="3291840" cy="123444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3" name="Google Shape;863;g3f548fae03d_1_45"/>
          <p:cNvSpPr/>
          <p:nvPr/>
        </p:nvSpPr>
        <p:spPr>
          <a:xfrm>
            <a:off x="4251960" y="1417320"/>
            <a:ext cx="59436" cy="123444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4" name="Google Shape;864;g3f548fae03d_1_45"/>
          <p:cNvSpPr txBox="1"/>
          <p:nvPr/>
        </p:nvSpPr>
        <p:spPr>
          <a:xfrm>
            <a:off x="4398264" y="1490472"/>
            <a:ext cx="306324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Why time context matters</a:t>
            </a:r>
            <a:endParaRPr/>
          </a:p>
        </p:txBody>
      </p:sp>
      <p:sp>
        <p:nvSpPr>
          <p:cNvPr id="865" name="Google Shape;865;g3f548fae03d_1_45"/>
          <p:cNvSpPr txBox="1"/>
          <p:nvPr/>
        </p:nvSpPr>
        <p:spPr>
          <a:xfrm>
            <a:off x="4398264" y="1764792"/>
            <a:ext cx="3063240" cy="8229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A value can look normal by itself but become anomalous within a local temporal pattern or over a longer segment.</a:t>
            </a:r>
            <a:endParaRPr/>
          </a:p>
        </p:txBody>
      </p:sp>
      <p:sp>
        <p:nvSpPr>
          <p:cNvPr id="866" name="Google Shape;866;g3f548fae03d_1_45"/>
          <p:cNvSpPr/>
          <p:nvPr/>
        </p:nvSpPr>
        <p:spPr>
          <a:xfrm>
            <a:off x="7955279" y="1417320"/>
            <a:ext cx="3291840" cy="123444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7" name="Google Shape;867;g3f548fae03d_1_45"/>
          <p:cNvSpPr/>
          <p:nvPr/>
        </p:nvSpPr>
        <p:spPr>
          <a:xfrm>
            <a:off x="7955279" y="1417320"/>
            <a:ext cx="59436" cy="1234440"/>
          </a:xfrm>
          <a:prstGeom prst="rect">
            <a:avLst/>
          </a:prstGeom>
          <a:solidFill>
            <a:srgbClr val="317A6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68" name="Google Shape;868;g3f548fae03d_1_45"/>
          <p:cNvSpPr txBox="1"/>
          <p:nvPr/>
        </p:nvSpPr>
        <p:spPr>
          <a:xfrm>
            <a:off x="8101583" y="1490472"/>
            <a:ext cx="306324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317A61"/>
                </a:solidFill>
                <a:latin typeface="Arial"/>
                <a:ea typeface="Arial"/>
                <a:cs typeface="Arial"/>
                <a:sym typeface="Arial"/>
              </a:rPr>
              <a:t>Paper’s goal</a:t>
            </a:r>
            <a:endParaRPr/>
          </a:p>
        </p:txBody>
      </p:sp>
      <p:sp>
        <p:nvSpPr>
          <p:cNvPr id="869" name="Google Shape;869;g3f548fae03d_1_45"/>
          <p:cNvSpPr txBox="1"/>
          <p:nvPr/>
        </p:nvSpPr>
        <p:spPr>
          <a:xfrm>
            <a:off x="8101583" y="1764792"/>
            <a:ext cx="3063240" cy="8229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Evaluate whether QAE can detect anomalies in time windows and run on real NISQ hardware.</a:t>
            </a:r>
            <a:endParaRPr/>
          </a:p>
        </p:txBody>
      </p:sp>
      <p:sp>
        <p:nvSpPr>
          <p:cNvPr id="870" name="Google Shape;870;g3f548fae03d_1_45"/>
          <p:cNvSpPr txBox="1"/>
          <p:nvPr/>
        </p:nvSpPr>
        <p:spPr>
          <a:xfrm>
            <a:off x="594360" y="2971800"/>
            <a:ext cx="5029200" cy="274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5276"/>
                </a:solidFill>
                <a:latin typeface="Arial"/>
                <a:ea typeface="Arial"/>
                <a:cs typeface="Arial"/>
                <a:sym typeface="Arial"/>
              </a:rPr>
              <a:t>The paper studies two anomaly scores</a:t>
            </a:r>
            <a:endParaRPr/>
          </a:p>
        </p:txBody>
      </p:sp>
      <p:sp>
        <p:nvSpPr>
          <p:cNvPr id="871" name="Google Shape;871;g3f548fae03d_1_45"/>
          <p:cNvSpPr/>
          <p:nvPr/>
        </p:nvSpPr>
        <p:spPr>
          <a:xfrm>
            <a:off x="594360" y="3337560"/>
            <a:ext cx="5120640" cy="109728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2" name="Google Shape;872;g3f548fae03d_1_45"/>
          <p:cNvSpPr/>
          <p:nvPr/>
        </p:nvSpPr>
        <p:spPr>
          <a:xfrm>
            <a:off x="594360" y="3337560"/>
            <a:ext cx="59436" cy="109728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3" name="Google Shape;873;g3f548fae03d_1_45"/>
          <p:cNvSpPr txBox="1"/>
          <p:nvPr/>
        </p:nvSpPr>
        <p:spPr>
          <a:xfrm>
            <a:off x="740664" y="3410712"/>
            <a:ext cx="489204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Reconstruction error</a:t>
            </a:r>
            <a:endParaRPr/>
          </a:p>
        </p:txBody>
      </p:sp>
      <p:sp>
        <p:nvSpPr>
          <p:cNvPr id="874" name="Google Shape;874;g3f548fae03d_1_45"/>
          <p:cNvSpPr txBox="1"/>
          <p:nvPr/>
        </p:nvSpPr>
        <p:spPr>
          <a:xfrm>
            <a:off x="740664" y="3685032"/>
            <a:ext cx="4892040" cy="68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Run encoder → reset trash → Encoder† and compute MSE between input and reconstructed window.</a:t>
            </a:r>
            <a:endParaRPr/>
          </a:p>
        </p:txBody>
      </p:sp>
      <p:sp>
        <p:nvSpPr>
          <p:cNvPr id="875" name="Google Shape;875;g3f548fae03d_1_45"/>
          <p:cNvSpPr/>
          <p:nvPr/>
        </p:nvSpPr>
        <p:spPr>
          <a:xfrm>
            <a:off x="6126480" y="3337560"/>
            <a:ext cx="5120640" cy="109728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6" name="Google Shape;876;g3f548fae03d_1_45"/>
          <p:cNvSpPr/>
          <p:nvPr/>
        </p:nvSpPr>
        <p:spPr>
          <a:xfrm>
            <a:off x="6126480" y="3337560"/>
            <a:ext cx="59436" cy="109728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77" name="Google Shape;877;g3f548fae03d_1_45"/>
          <p:cNvSpPr txBox="1"/>
          <p:nvPr/>
        </p:nvSpPr>
        <p:spPr>
          <a:xfrm>
            <a:off x="6272784" y="3410712"/>
            <a:ext cx="489204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Latent representation analysis</a:t>
            </a:r>
            <a:endParaRPr/>
          </a:p>
        </p:txBody>
      </p:sp>
      <p:sp>
        <p:nvSpPr>
          <p:cNvPr id="878" name="Google Shape;878;g3f548fae03d_1_45"/>
          <p:cNvSpPr txBox="1"/>
          <p:nvPr/>
        </p:nvSpPr>
        <p:spPr>
          <a:xfrm>
            <a:off x="6272784" y="3685032"/>
            <a:ext cx="4892040" cy="68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Skip reconstruction and use the Swap-Test measurement: if trash differs from |0⟩, the window compresses poorly.</a:t>
            </a:r>
            <a:endParaRPr/>
          </a:p>
        </p:txBody>
      </p:sp>
      <p:sp>
        <p:nvSpPr>
          <p:cNvPr id="879" name="Google Shape;879;g3f548fae03d_1_45"/>
          <p:cNvSpPr txBox="1"/>
          <p:nvPr/>
        </p:nvSpPr>
        <p:spPr>
          <a:xfrm>
            <a:off x="731520" y="4983480"/>
            <a:ext cx="10789920" cy="457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Main research question: can a small QAE learn normal time-series structure from benign windows and separate unseen anomalous windows?</a:t>
            </a:r>
            <a:endParaRPr/>
          </a:p>
        </p:txBody>
      </p:sp>
      <p:sp>
        <p:nvSpPr>
          <p:cNvPr id="880" name="Google Shape;880;g3f548fae03d_1_45"/>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g3f548fae03d_1_45"/>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883" name="Google Shape;883;g3f548fae03d_1_45"/>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19</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3f932066f69_0_5"/>
          <p:cNvSpPr txBox="1"/>
          <p:nvPr/>
        </p:nvSpPr>
        <p:spPr>
          <a:xfrm>
            <a:off x="338328" y="804672"/>
            <a:ext cx="110643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rPr>
              <a:t>What data and tools did they use?</a:t>
            </a:r>
            <a:endParaRPr sz="2400" b="1"/>
          </a:p>
        </p:txBody>
      </p:sp>
      <p:sp>
        <p:nvSpPr>
          <p:cNvPr id="889" name="Google Shape;889;g3f932066f69_0_5"/>
          <p:cNvSpPr/>
          <p:nvPr/>
        </p:nvSpPr>
        <p:spPr>
          <a:xfrm>
            <a:off x="338328" y="1170432"/>
            <a:ext cx="11064300" cy="27300"/>
          </a:xfrm>
          <a:prstGeom prst="rect">
            <a:avLst/>
          </a:prstGeom>
          <a:solidFill>
            <a:srgbClr val="DCDCDC"/>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890" name="Google Shape;890;g3f932066f69_0_5"/>
          <p:cNvSpPr/>
          <p:nvPr/>
        </p:nvSpPr>
        <p:spPr>
          <a:xfrm>
            <a:off x="181625" y="4428548"/>
            <a:ext cx="3818100" cy="820500"/>
          </a:xfrm>
          <a:prstGeom prst="roundRect">
            <a:avLst>
              <a:gd name="adj" fmla="val 16667"/>
            </a:avLst>
          </a:prstGeom>
          <a:solidFill>
            <a:srgbClr val="F8F5EF"/>
          </a:solidFill>
          <a:ln w="9925" cap="flat" cmpd="sng">
            <a:solidFill>
              <a:srgbClr val="DCDCDC"/>
            </a:solidFill>
            <a:prstDash val="solid"/>
            <a:round/>
            <a:headEnd type="none" w="sm" len="sm"/>
            <a:tailEnd type="none" w="sm" len="sm"/>
          </a:ln>
          <a:effectLst>
            <a:outerShdw blurRad="31217" dist="17950" dir="5400000" rotWithShape="0">
              <a:srgbClr val="000000">
                <a:alpha val="34900"/>
              </a:srgbClr>
            </a:outerShdw>
          </a:effectLst>
        </p:spPr>
        <p:txBody>
          <a:bodyPr spcFirstLastPara="1" wrap="square" lIns="71350" tIns="35650" rIns="71350" bIns="35650" anchor="ctr" anchorCtr="0">
            <a:noAutofit/>
          </a:bodyPr>
          <a:lstStyle/>
          <a:p>
            <a:pPr marL="0" marR="0" lvl="0" indent="0" algn="ctr" rtl="0">
              <a:lnSpc>
                <a:spcPct val="100000"/>
              </a:lnSpc>
              <a:spcBef>
                <a:spcPts val="0"/>
              </a:spcBef>
              <a:spcAft>
                <a:spcPts val="0"/>
              </a:spcAft>
              <a:buNone/>
            </a:pPr>
            <a:endParaRPr sz="1093" b="0" i="0" u="none" strike="noStrike" cap="none">
              <a:solidFill>
                <a:srgbClr val="000000"/>
              </a:solidFill>
              <a:latin typeface="Arial"/>
              <a:ea typeface="Arial"/>
              <a:cs typeface="Arial"/>
              <a:sym typeface="Arial"/>
            </a:endParaRPr>
          </a:p>
        </p:txBody>
      </p:sp>
      <p:sp>
        <p:nvSpPr>
          <p:cNvPr id="891" name="Google Shape;891;g3f932066f69_0_5"/>
          <p:cNvSpPr/>
          <p:nvPr/>
        </p:nvSpPr>
        <p:spPr>
          <a:xfrm>
            <a:off x="181625" y="4428548"/>
            <a:ext cx="46500" cy="820500"/>
          </a:xfrm>
          <a:prstGeom prst="rect">
            <a:avLst/>
          </a:prstGeom>
          <a:solidFill>
            <a:srgbClr val="005276"/>
          </a:solidFill>
          <a:ln>
            <a:noFill/>
          </a:ln>
          <a:effectLst>
            <a:outerShdw blurRad="31217" dist="17950" dir="5400000" rotWithShape="0">
              <a:srgbClr val="000000">
                <a:alpha val="34900"/>
              </a:srgbClr>
            </a:outerShdw>
          </a:effectLst>
        </p:spPr>
        <p:txBody>
          <a:bodyPr spcFirstLastPara="1" wrap="square" lIns="71350" tIns="35650" rIns="71350" bIns="35650" anchor="ctr" anchorCtr="0">
            <a:noAutofit/>
          </a:bodyPr>
          <a:lstStyle/>
          <a:p>
            <a:pPr marL="0" marR="0" lvl="0" indent="0" algn="ctr" rtl="0">
              <a:lnSpc>
                <a:spcPct val="100000"/>
              </a:lnSpc>
              <a:spcBef>
                <a:spcPts val="0"/>
              </a:spcBef>
              <a:spcAft>
                <a:spcPts val="0"/>
              </a:spcAft>
              <a:buNone/>
            </a:pPr>
            <a:endParaRPr sz="1093" b="0" i="0" u="none" strike="noStrike" cap="none">
              <a:solidFill>
                <a:srgbClr val="000000"/>
              </a:solidFill>
              <a:latin typeface="Arial"/>
              <a:ea typeface="Arial"/>
              <a:cs typeface="Arial"/>
              <a:sym typeface="Arial"/>
            </a:endParaRPr>
          </a:p>
        </p:txBody>
      </p:sp>
      <p:sp>
        <p:nvSpPr>
          <p:cNvPr id="892" name="Google Shape;892;g3f932066f69_0_5"/>
          <p:cNvSpPr txBox="1"/>
          <p:nvPr/>
        </p:nvSpPr>
        <p:spPr>
          <a:xfrm>
            <a:off x="295802" y="4485638"/>
            <a:ext cx="3639300" cy="216300"/>
          </a:xfrm>
          <a:prstGeom prst="rect">
            <a:avLst/>
          </a:prstGeom>
          <a:noFill/>
          <a:ln>
            <a:noFill/>
          </a:ln>
        </p:spPr>
        <p:txBody>
          <a:bodyPr spcFirstLastPara="1" wrap="square" lIns="71350" tIns="35650" rIns="71350" bIns="35650" anchor="t" anchorCtr="0">
            <a:spAutoFit/>
          </a:bodyPr>
          <a:lstStyle/>
          <a:p>
            <a:pPr marL="0" marR="0" lvl="0" indent="0" algn="l" rtl="0">
              <a:lnSpc>
                <a:spcPct val="100000"/>
              </a:lnSpc>
              <a:spcBef>
                <a:spcPts val="0"/>
              </a:spcBef>
              <a:spcAft>
                <a:spcPts val="0"/>
              </a:spcAft>
              <a:buNone/>
            </a:pPr>
            <a:r>
              <a:rPr lang="en-US" sz="937" b="1" i="0" u="none" strike="noStrike" cap="none">
                <a:solidFill>
                  <a:srgbClr val="00527A"/>
                </a:solidFill>
                <a:latin typeface="Arial"/>
                <a:ea typeface="Arial"/>
                <a:cs typeface="Arial"/>
                <a:sym typeface="Arial"/>
              </a:rPr>
              <a:t>Data source</a:t>
            </a:r>
            <a:endParaRPr sz="1093"/>
          </a:p>
        </p:txBody>
      </p:sp>
      <p:sp>
        <p:nvSpPr>
          <p:cNvPr id="893" name="Google Shape;893;g3f932066f69_0_5"/>
          <p:cNvSpPr txBox="1"/>
          <p:nvPr/>
        </p:nvSpPr>
        <p:spPr>
          <a:xfrm>
            <a:off x="295802" y="4699725"/>
            <a:ext cx="3639300" cy="576600"/>
          </a:xfrm>
          <a:prstGeom prst="rect">
            <a:avLst/>
          </a:prstGeom>
          <a:noFill/>
          <a:ln>
            <a:noFill/>
          </a:ln>
        </p:spPr>
        <p:txBody>
          <a:bodyPr spcFirstLastPara="1" wrap="square" lIns="71350" tIns="35650" rIns="71350" bIns="35650" anchor="t" anchorCtr="0">
            <a:spAutoFit/>
          </a:bodyPr>
          <a:lstStyle/>
          <a:p>
            <a:pPr marL="0" marR="0" lvl="0" indent="0" algn="l" rtl="0">
              <a:lnSpc>
                <a:spcPct val="100000"/>
              </a:lnSpc>
              <a:spcBef>
                <a:spcPts val="0"/>
              </a:spcBef>
              <a:spcAft>
                <a:spcPts val="0"/>
              </a:spcAft>
              <a:buNone/>
            </a:pPr>
            <a:r>
              <a:rPr lang="en-US" sz="1093" b="0" i="0" u="none" strike="noStrike" cap="none">
                <a:solidFill>
                  <a:srgbClr val="000000"/>
                </a:solidFill>
                <a:latin typeface="Arial"/>
                <a:ea typeface="Arial"/>
                <a:cs typeface="Arial"/>
                <a:sym typeface="Arial"/>
              </a:rPr>
              <a:t>UCR Time Series Anomaly Archive. Domains include medicine, sports, industry, robotics, space science, and more.</a:t>
            </a:r>
            <a:endParaRPr sz="1093"/>
          </a:p>
        </p:txBody>
      </p:sp>
      <p:sp>
        <p:nvSpPr>
          <p:cNvPr id="894" name="Google Shape;894;g3f932066f69_0_5"/>
          <p:cNvSpPr/>
          <p:nvPr/>
        </p:nvSpPr>
        <p:spPr>
          <a:xfrm>
            <a:off x="8189229" y="4401237"/>
            <a:ext cx="3818100" cy="820500"/>
          </a:xfrm>
          <a:prstGeom prst="roundRect">
            <a:avLst>
              <a:gd name="adj" fmla="val 16667"/>
            </a:avLst>
          </a:prstGeom>
          <a:solidFill>
            <a:srgbClr val="F8F5EF"/>
          </a:solidFill>
          <a:ln w="9900" cap="flat" cmpd="sng">
            <a:solidFill>
              <a:srgbClr val="DCDCDC"/>
            </a:solidFill>
            <a:prstDash val="solid"/>
            <a:round/>
            <a:headEnd type="none" w="sm" len="sm"/>
            <a:tailEnd type="none" w="sm" len="sm"/>
          </a:ln>
          <a:effectLst>
            <a:outerShdw blurRad="31218" dist="17950" dir="5400000" rotWithShape="0">
              <a:srgbClr val="000000">
                <a:alpha val="34900"/>
              </a:srgbClr>
            </a:outerShdw>
          </a:effectLst>
        </p:spPr>
        <p:txBody>
          <a:bodyPr spcFirstLastPara="1" wrap="square" lIns="71325" tIns="35650" rIns="71325" bIns="35650" anchor="ctr" anchorCtr="0">
            <a:noAutofit/>
          </a:bodyPr>
          <a:lstStyle/>
          <a:p>
            <a:pPr marL="0" marR="0" lvl="0" indent="0" algn="ctr" rtl="0">
              <a:lnSpc>
                <a:spcPct val="100000"/>
              </a:lnSpc>
              <a:spcBef>
                <a:spcPts val="0"/>
              </a:spcBef>
              <a:spcAft>
                <a:spcPts val="0"/>
              </a:spcAft>
              <a:buNone/>
            </a:pPr>
            <a:endParaRPr sz="1093" b="0" i="0" u="none" strike="noStrike" cap="none">
              <a:solidFill>
                <a:srgbClr val="000000"/>
              </a:solidFill>
              <a:latin typeface="Arial"/>
              <a:ea typeface="Arial"/>
              <a:cs typeface="Arial"/>
              <a:sym typeface="Arial"/>
            </a:endParaRPr>
          </a:p>
        </p:txBody>
      </p:sp>
      <p:sp>
        <p:nvSpPr>
          <p:cNvPr id="895" name="Google Shape;895;g3f932066f69_0_5"/>
          <p:cNvSpPr/>
          <p:nvPr/>
        </p:nvSpPr>
        <p:spPr>
          <a:xfrm>
            <a:off x="8189229" y="4401237"/>
            <a:ext cx="46500" cy="820500"/>
          </a:xfrm>
          <a:prstGeom prst="rect">
            <a:avLst/>
          </a:prstGeom>
          <a:solidFill>
            <a:srgbClr val="F05519"/>
          </a:solidFill>
          <a:ln>
            <a:noFill/>
          </a:ln>
          <a:effectLst>
            <a:outerShdw blurRad="31218" dist="17950" dir="5400000" rotWithShape="0">
              <a:srgbClr val="000000">
                <a:alpha val="34900"/>
              </a:srgbClr>
            </a:outerShdw>
          </a:effectLst>
        </p:spPr>
        <p:txBody>
          <a:bodyPr spcFirstLastPara="1" wrap="square" lIns="71325" tIns="35650" rIns="71325" bIns="35650" anchor="ctr" anchorCtr="0">
            <a:noAutofit/>
          </a:bodyPr>
          <a:lstStyle/>
          <a:p>
            <a:pPr marL="0" marR="0" lvl="0" indent="0" algn="ctr" rtl="0">
              <a:lnSpc>
                <a:spcPct val="100000"/>
              </a:lnSpc>
              <a:spcBef>
                <a:spcPts val="0"/>
              </a:spcBef>
              <a:spcAft>
                <a:spcPts val="0"/>
              </a:spcAft>
              <a:buNone/>
            </a:pPr>
            <a:endParaRPr sz="1093" b="0" i="0" u="none" strike="noStrike" cap="none">
              <a:solidFill>
                <a:srgbClr val="000000"/>
              </a:solidFill>
              <a:latin typeface="Arial"/>
              <a:ea typeface="Arial"/>
              <a:cs typeface="Arial"/>
              <a:sym typeface="Arial"/>
            </a:endParaRPr>
          </a:p>
        </p:txBody>
      </p:sp>
      <p:sp>
        <p:nvSpPr>
          <p:cNvPr id="896" name="Google Shape;896;g3f932066f69_0_5"/>
          <p:cNvSpPr txBox="1"/>
          <p:nvPr/>
        </p:nvSpPr>
        <p:spPr>
          <a:xfrm>
            <a:off x="8303413" y="4458329"/>
            <a:ext cx="3639600" cy="216300"/>
          </a:xfrm>
          <a:prstGeom prst="rect">
            <a:avLst/>
          </a:prstGeom>
          <a:noFill/>
          <a:ln>
            <a:noFill/>
          </a:ln>
        </p:spPr>
        <p:txBody>
          <a:bodyPr spcFirstLastPara="1" wrap="square" lIns="71325" tIns="35650" rIns="71325" bIns="35650" anchor="t" anchorCtr="0">
            <a:spAutoFit/>
          </a:bodyPr>
          <a:lstStyle/>
          <a:p>
            <a:pPr marL="0" marR="0" lvl="0" indent="0" algn="l" rtl="0">
              <a:lnSpc>
                <a:spcPct val="100000"/>
              </a:lnSpc>
              <a:spcBef>
                <a:spcPts val="0"/>
              </a:spcBef>
              <a:spcAft>
                <a:spcPts val="0"/>
              </a:spcAft>
              <a:buNone/>
            </a:pPr>
            <a:r>
              <a:rPr lang="en-US" sz="937" b="1" i="0" u="none" strike="noStrike" cap="none">
                <a:solidFill>
                  <a:srgbClr val="00527A"/>
                </a:solidFill>
                <a:latin typeface="Arial"/>
                <a:ea typeface="Arial"/>
                <a:cs typeface="Arial"/>
                <a:sym typeface="Arial"/>
              </a:rPr>
              <a:t>Labels and split</a:t>
            </a:r>
            <a:endParaRPr sz="1093"/>
          </a:p>
        </p:txBody>
      </p:sp>
      <p:sp>
        <p:nvSpPr>
          <p:cNvPr id="897" name="Google Shape;897;g3f932066f69_0_5"/>
          <p:cNvSpPr txBox="1"/>
          <p:nvPr/>
        </p:nvSpPr>
        <p:spPr>
          <a:xfrm>
            <a:off x="8303413" y="4672421"/>
            <a:ext cx="3639600" cy="576600"/>
          </a:xfrm>
          <a:prstGeom prst="rect">
            <a:avLst/>
          </a:prstGeom>
          <a:noFill/>
          <a:ln>
            <a:noFill/>
          </a:ln>
        </p:spPr>
        <p:txBody>
          <a:bodyPr spcFirstLastPara="1" wrap="square" lIns="71325" tIns="35650" rIns="71325" bIns="35650" anchor="t" anchorCtr="0">
            <a:spAutoFit/>
          </a:bodyPr>
          <a:lstStyle/>
          <a:p>
            <a:pPr marL="0" marR="0" lvl="0" indent="0" algn="l" rtl="0">
              <a:lnSpc>
                <a:spcPct val="100000"/>
              </a:lnSpc>
              <a:spcBef>
                <a:spcPts val="0"/>
              </a:spcBef>
              <a:spcAft>
                <a:spcPts val="0"/>
              </a:spcAft>
              <a:buNone/>
            </a:pPr>
            <a:r>
              <a:rPr lang="en-US" sz="1093" b="0" i="0" u="none" strike="noStrike" cap="none">
                <a:solidFill>
                  <a:srgbClr val="000000"/>
                </a:solidFill>
                <a:latin typeface="Arial"/>
                <a:ea typeface="Arial"/>
                <a:cs typeface="Arial"/>
                <a:sym typeface="Arial"/>
              </a:rPr>
              <a:t>Training series contains only benign values; each test series has a single anomaly range. Detection is valid if the selected window starts in the valid detection range.</a:t>
            </a:r>
            <a:endParaRPr sz="1093"/>
          </a:p>
        </p:txBody>
      </p:sp>
      <p:sp>
        <p:nvSpPr>
          <p:cNvPr id="898" name="Google Shape;898;g3f932066f69_0_5"/>
          <p:cNvSpPr/>
          <p:nvPr/>
        </p:nvSpPr>
        <p:spPr>
          <a:xfrm>
            <a:off x="4185599" y="4428503"/>
            <a:ext cx="3817800" cy="820500"/>
          </a:xfrm>
          <a:prstGeom prst="roundRect">
            <a:avLst>
              <a:gd name="adj" fmla="val 16667"/>
            </a:avLst>
          </a:prstGeom>
          <a:solidFill>
            <a:srgbClr val="F8F5EF"/>
          </a:solidFill>
          <a:ln w="9925" cap="flat" cmpd="sng">
            <a:solidFill>
              <a:srgbClr val="DCDCDC"/>
            </a:solidFill>
            <a:prstDash val="solid"/>
            <a:round/>
            <a:headEnd type="none" w="sm" len="sm"/>
            <a:tailEnd type="none" w="sm" len="sm"/>
          </a:ln>
          <a:effectLst>
            <a:outerShdw blurRad="31217" dist="17950" dir="5400000" rotWithShape="0">
              <a:srgbClr val="000000">
                <a:alpha val="34900"/>
              </a:srgbClr>
            </a:outerShdw>
          </a:effectLst>
        </p:spPr>
        <p:txBody>
          <a:bodyPr spcFirstLastPara="1" wrap="square" lIns="71350" tIns="35650" rIns="71350" bIns="35650" anchor="ctr" anchorCtr="0">
            <a:noAutofit/>
          </a:bodyPr>
          <a:lstStyle/>
          <a:p>
            <a:pPr marL="0" marR="0" lvl="0" indent="0" algn="ctr" rtl="0">
              <a:lnSpc>
                <a:spcPct val="100000"/>
              </a:lnSpc>
              <a:spcBef>
                <a:spcPts val="0"/>
              </a:spcBef>
              <a:spcAft>
                <a:spcPts val="0"/>
              </a:spcAft>
              <a:buNone/>
            </a:pPr>
            <a:endParaRPr sz="1093" b="0" i="0" u="none" strike="noStrike" cap="none">
              <a:solidFill>
                <a:srgbClr val="000000"/>
              </a:solidFill>
              <a:latin typeface="Arial"/>
              <a:ea typeface="Arial"/>
              <a:cs typeface="Arial"/>
              <a:sym typeface="Arial"/>
            </a:endParaRPr>
          </a:p>
        </p:txBody>
      </p:sp>
      <p:sp>
        <p:nvSpPr>
          <p:cNvPr id="899" name="Google Shape;899;g3f932066f69_0_5"/>
          <p:cNvSpPr/>
          <p:nvPr/>
        </p:nvSpPr>
        <p:spPr>
          <a:xfrm>
            <a:off x="4185599" y="4428503"/>
            <a:ext cx="46500" cy="820500"/>
          </a:xfrm>
          <a:prstGeom prst="rect">
            <a:avLst/>
          </a:prstGeom>
          <a:solidFill>
            <a:srgbClr val="317A61"/>
          </a:solidFill>
          <a:ln>
            <a:noFill/>
          </a:ln>
          <a:effectLst>
            <a:outerShdw blurRad="31217" dist="17950" dir="5400000" rotWithShape="0">
              <a:srgbClr val="000000">
                <a:alpha val="34900"/>
              </a:srgbClr>
            </a:outerShdw>
          </a:effectLst>
        </p:spPr>
        <p:txBody>
          <a:bodyPr spcFirstLastPara="1" wrap="square" lIns="71350" tIns="35650" rIns="71350" bIns="35650" anchor="ctr" anchorCtr="0">
            <a:noAutofit/>
          </a:bodyPr>
          <a:lstStyle/>
          <a:p>
            <a:pPr marL="0" marR="0" lvl="0" indent="0" algn="ctr" rtl="0">
              <a:lnSpc>
                <a:spcPct val="100000"/>
              </a:lnSpc>
              <a:spcBef>
                <a:spcPts val="0"/>
              </a:spcBef>
              <a:spcAft>
                <a:spcPts val="0"/>
              </a:spcAft>
              <a:buNone/>
            </a:pPr>
            <a:endParaRPr sz="1093" b="0" i="0" u="none" strike="noStrike" cap="none">
              <a:solidFill>
                <a:srgbClr val="000000"/>
              </a:solidFill>
              <a:latin typeface="Arial"/>
              <a:ea typeface="Arial"/>
              <a:cs typeface="Arial"/>
              <a:sym typeface="Arial"/>
            </a:endParaRPr>
          </a:p>
        </p:txBody>
      </p:sp>
      <p:sp>
        <p:nvSpPr>
          <p:cNvPr id="900" name="Google Shape;900;g3f932066f69_0_5"/>
          <p:cNvSpPr txBox="1"/>
          <p:nvPr/>
        </p:nvSpPr>
        <p:spPr>
          <a:xfrm>
            <a:off x="4299777" y="4485592"/>
            <a:ext cx="3639300" cy="216300"/>
          </a:xfrm>
          <a:prstGeom prst="rect">
            <a:avLst/>
          </a:prstGeom>
          <a:noFill/>
          <a:ln>
            <a:noFill/>
          </a:ln>
        </p:spPr>
        <p:txBody>
          <a:bodyPr spcFirstLastPara="1" wrap="square" lIns="71350" tIns="35650" rIns="71350" bIns="35650" anchor="t" anchorCtr="0">
            <a:spAutoFit/>
          </a:bodyPr>
          <a:lstStyle/>
          <a:p>
            <a:pPr marL="0" marR="0" lvl="0" indent="0" algn="l" rtl="0">
              <a:lnSpc>
                <a:spcPct val="100000"/>
              </a:lnSpc>
              <a:spcBef>
                <a:spcPts val="0"/>
              </a:spcBef>
              <a:spcAft>
                <a:spcPts val="0"/>
              </a:spcAft>
              <a:buNone/>
            </a:pPr>
            <a:r>
              <a:rPr lang="en-US" sz="937" b="1" i="0" u="none" strike="noStrike" cap="none">
                <a:solidFill>
                  <a:srgbClr val="00527A"/>
                </a:solidFill>
                <a:latin typeface="Arial"/>
                <a:ea typeface="Arial"/>
                <a:cs typeface="Arial"/>
                <a:sym typeface="Arial"/>
              </a:rPr>
              <a:t>Datasets and tools</a:t>
            </a:r>
            <a:endParaRPr sz="1093"/>
          </a:p>
        </p:txBody>
      </p:sp>
      <p:sp>
        <p:nvSpPr>
          <p:cNvPr id="901" name="Google Shape;901;g3f932066f69_0_5"/>
          <p:cNvSpPr txBox="1"/>
          <p:nvPr/>
        </p:nvSpPr>
        <p:spPr>
          <a:xfrm>
            <a:off x="4299777" y="4699680"/>
            <a:ext cx="3639300" cy="576600"/>
          </a:xfrm>
          <a:prstGeom prst="rect">
            <a:avLst/>
          </a:prstGeom>
          <a:noFill/>
          <a:ln>
            <a:noFill/>
          </a:ln>
        </p:spPr>
        <p:txBody>
          <a:bodyPr spcFirstLastPara="1" wrap="square" lIns="71350" tIns="35650" rIns="71350" bIns="35650" anchor="t" anchorCtr="0">
            <a:spAutoFit/>
          </a:bodyPr>
          <a:lstStyle/>
          <a:p>
            <a:pPr marL="0" marR="0" lvl="0" indent="0" algn="l" rtl="0">
              <a:lnSpc>
                <a:spcPct val="100000"/>
              </a:lnSpc>
              <a:spcBef>
                <a:spcPts val="0"/>
              </a:spcBef>
              <a:spcAft>
                <a:spcPts val="0"/>
              </a:spcAft>
              <a:buNone/>
            </a:pPr>
            <a:r>
              <a:rPr lang="en-US" sz="1093" b="0" i="0" u="none" strike="noStrike" cap="none">
                <a:solidFill>
                  <a:srgbClr val="000000"/>
                </a:solidFill>
                <a:latin typeface="Arial"/>
                <a:ea typeface="Arial"/>
                <a:cs typeface="Arial"/>
                <a:sym typeface="Arial"/>
              </a:rPr>
              <a:t>Simulator datasets: 28, 54, 99, 118, 138, 176. </a:t>
            </a:r>
            <a:endParaRPr sz="1093"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093" b="0" i="0" u="none" strike="noStrike" cap="none">
                <a:solidFill>
                  <a:srgbClr val="000000"/>
                </a:solidFill>
                <a:latin typeface="Arial"/>
                <a:ea typeface="Arial"/>
                <a:cs typeface="Arial"/>
                <a:sym typeface="Arial"/>
              </a:rPr>
              <a:t>Tools: PyTorch baseline; Qiskit 1.0.0 + Aer 0.13.1; COBYLA; EfficientSU2 + IBM Torino hardware run.</a:t>
            </a:r>
            <a:endParaRPr sz="1093"/>
          </a:p>
        </p:txBody>
      </p:sp>
      <p:sp>
        <p:nvSpPr>
          <p:cNvPr id="902" name="Google Shape;902;g3f932066f69_0_5"/>
          <p:cNvSpPr txBox="1"/>
          <p:nvPr/>
        </p:nvSpPr>
        <p:spPr>
          <a:xfrm>
            <a:off x="1136600" y="3648513"/>
            <a:ext cx="9467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Figure 1: anomaly taxonomy; Fig. 4 in the paper shows the six selected UCR datasets and their red anomaly ranges.</a:t>
            </a:r>
            <a:endParaRPr/>
          </a:p>
        </p:txBody>
      </p:sp>
      <p:pic>
        <p:nvPicPr>
          <p:cNvPr id="903" name="Google Shape;903;g3f932066f69_0_5"/>
          <p:cNvPicPr preferRelativeResize="0"/>
          <p:nvPr/>
        </p:nvPicPr>
        <p:blipFill>
          <a:blip r:embed="rId3">
            <a:alphaModFix/>
          </a:blip>
          <a:stretch>
            <a:fillRect/>
          </a:stretch>
        </p:blipFill>
        <p:spPr>
          <a:xfrm>
            <a:off x="1877475" y="1304975"/>
            <a:ext cx="7985928" cy="2318725"/>
          </a:xfrm>
          <a:prstGeom prst="rect">
            <a:avLst/>
          </a:prstGeom>
          <a:noFill/>
          <a:ln>
            <a:noFill/>
          </a:ln>
        </p:spPr>
      </p:pic>
      <p:sp>
        <p:nvSpPr>
          <p:cNvPr id="904" name="Google Shape;904;g3f932066f69_0_5"/>
          <p:cNvSpPr/>
          <p:nvPr/>
        </p:nvSpPr>
        <p:spPr>
          <a:xfrm>
            <a:off x="338328" y="256032"/>
            <a:ext cx="54900" cy="384000"/>
          </a:xfrm>
          <a:prstGeom prst="rect">
            <a:avLst/>
          </a:prstGeom>
          <a:solidFill>
            <a:srgbClr val="F05519"/>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05" name="Google Shape;905;g3f932066f69_0_5"/>
          <p:cNvSpPr txBox="1"/>
          <p:nvPr/>
        </p:nvSpPr>
        <p:spPr>
          <a:xfrm>
            <a:off x="448056" y="256032"/>
            <a:ext cx="97842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a:solidFill>
                  <a:srgbClr val="005276"/>
                </a:solidFill>
              </a:rPr>
              <a:t>2 · DATA AND TOOLS</a:t>
            </a:r>
            <a:endParaRPr sz="900" b="1">
              <a:solidFill>
                <a:srgbClr val="005276"/>
              </a:solidFill>
            </a:endParaRPr>
          </a:p>
        </p:txBody>
      </p:sp>
      <p:sp>
        <p:nvSpPr>
          <p:cNvPr id="906" name="Google Shape;906;g3f932066f69_0_5"/>
          <p:cNvSpPr txBox="1"/>
          <p:nvPr/>
        </p:nvSpPr>
        <p:spPr>
          <a:xfrm>
            <a:off x="448056" y="429768"/>
            <a:ext cx="97842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a:solidFill>
                  <a:srgbClr val="5F5F5F"/>
                </a:solidFill>
              </a:rPr>
              <a:t>Classical data source and software stack</a:t>
            </a:r>
            <a:endParaRPr sz="900">
              <a:solidFill>
                <a:srgbClr val="5F5F5F"/>
              </a:solidFill>
            </a:endParaRPr>
          </a:p>
        </p:txBody>
      </p:sp>
      <p:sp>
        <p:nvSpPr>
          <p:cNvPr id="907" name="Google Shape;907;g3f932066f69_0_5"/>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8" name="Google Shape;908;g3f932066f69_0_5"/>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910" name="Google Shape;910;g3f932066f69_0_5"/>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20</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3f548fae03d_1_115"/>
          <p:cNvSpPr/>
          <p:nvPr/>
        </p:nvSpPr>
        <p:spPr>
          <a:xfrm>
            <a:off x="338328" y="256032"/>
            <a:ext cx="54900" cy="384000"/>
          </a:xfrm>
          <a:prstGeom prst="rect">
            <a:avLst/>
          </a:prstGeom>
          <a:solidFill>
            <a:srgbClr val="F05519"/>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16" name="Google Shape;916;g3f548fae03d_1_115"/>
          <p:cNvSpPr txBox="1"/>
          <p:nvPr/>
        </p:nvSpPr>
        <p:spPr>
          <a:xfrm>
            <a:off x="448056" y="256032"/>
            <a:ext cx="9784200" cy="201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3 · PREPROCESSING</a:t>
            </a:r>
            <a:endParaRPr/>
          </a:p>
        </p:txBody>
      </p:sp>
      <p:sp>
        <p:nvSpPr>
          <p:cNvPr id="917" name="Google Shape;917;g3f548fae03d_1_115"/>
          <p:cNvSpPr txBox="1"/>
          <p:nvPr/>
        </p:nvSpPr>
        <p:spPr>
          <a:xfrm>
            <a:off x="448056" y="429768"/>
            <a:ext cx="9784200" cy="210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Raw time series → fixed-size input samples</a:t>
            </a:r>
            <a:endParaRPr/>
          </a:p>
        </p:txBody>
      </p:sp>
      <p:sp>
        <p:nvSpPr>
          <p:cNvPr id="918" name="Google Shape;918;g3f548fae03d_1_115"/>
          <p:cNvSpPr txBox="1"/>
          <p:nvPr/>
        </p:nvSpPr>
        <p:spPr>
          <a:xfrm>
            <a:off x="338328" y="804672"/>
            <a:ext cx="11064240" cy="475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Step 1 — Construct sliding windows</a:t>
            </a:r>
            <a:endParaRPr/>
          </a:p>
        </p:txBody>
      </p:sp>
      <p:sp>
        <p:nvSpPr>
          <p:cNvPr id="919" name="Google Shape;919;g3f548fae03d_1_115"/>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0" name="Google Shape;920;g3f548fae03d_1_115"/>
          <p:cNvSpPr txBox="1"/>
          <p:nvPr/>
        </p:nvSpPr>
        <p:spPr>
          <a:xfrm>
            <a:off x="594360" y="1417320"/>
            <a:ext cx="3840480" cy="274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5276"/>
                </a:solidFill>
                <a:latin typeface="Arial"/>
                <a:ea typeface="Arial"/>
                <a:cs typeface="Arial"/>
                <a:sym typeface="Arial"/>
              </a:rPr>
              <a:t>Raw univariate time series</a:t>
            </a:r>
            <a:endParaRPr/>
          </a:p>
        </p:txBody>
      </p:sp>
      <p:sp>
        <p:nvSpPr>
          <p:cNvPr id="921" name="Google Shape;921;g3f548fae03d_1_115"/>
          <p:cNvSpPr txBox="1"/>
          <p:nvPr/>
        </p:nvSpPr>
        <p:spPr>
          <a:xfrm>
            <a:off x="777240" y="2240280"/>
            <a:ext cx="384048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Each xᵢ is one scalar value: a sensor reading, signal amplitude, physiological value, etc.</a:t>
            </a:r>
            <a:endParaRPr/>
          </a:p>
        </p:txBody>
      </p:sp>
      <p:sp>
        <p:nvSpPr>
          <p:cNvPr id="922" name="Google Shape;922;g3f548fae03d_1_115"/>
          <p:cNvSpPr txBox="1"/>
          <p:nvPr/>
        </p:nvSpPr>
        <p:spPr>
          <a:xfrm>
            <a:off x="4846320" y="1417320"/>
            <a:ext cx="5943600" cy="274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5276"/>
                </a:solidFill>
                <a:latin typeface="Arial"/>
                <a:ea typeface="Arial"/>
                <a:cs typeface="Arial"/>
                <a:sym typeface="Arial"/>
              </a:rPr>
              <a:t>Window definition used by the paper</a:t>
            </a:r>
            <a:endParaRPr/>
          </a:p>
        </p:txBody>
      </p:sp>
      <p:sp>
        <p:nvSpPr>
          <p:cNvPr id="923" name="Google Shape;923;g3f548fae03d_1_115"/>
          <p:cNvSpPr/>
          <p:nvPr/>
        </p:nvSpPr>
        <p:spPr>
          <a:xfrm>
            <a:off x="777240" y="2971800"/>
            <a:ext cx="2331720" cy="1143000"/>
          </a:xfrm>
          <a:prstGeom prst="roundRect">
            <a:avLst>
              <a:gd name="adj" fmla="val 16667"/>
            </a:avLst>
          </a:prstGeom>
          <a:solidFill>
            <a:srgbClr val="FBF8F1"/>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4" name="Google Shape;924;g3f548fae03d_1_115"/>
          <p:cNvSpPr/>
          <p:nvPr/>
        </p:nvSpPr>
        <p:spPr>
          <a:xfrm>
            <a:off x="777240" y="2971800"/>
            <a:ext cx="59436" cy="114300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5" name="Google Shape;925;g3f548fae03d_1_115"/>
          <p:cNvSpPr txBox="1"/>
          <p:nvPr/>
        </p:nvSpPr>
        <p:spPr>
          <a:xfrm>
            <a:off x="923544" y="3044952"/>
            <a:ext cx="210312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005276"/>
                </a:solidFill>
                <a:latin typeface="Arial"/>
                <a:ea typeface="Arial"/>
                <a:cs typeface="Arial"/>
                <a:sym typeface="Arial"/>
              </a:rPr>
              <a:t>window size</a:t>
            </a:r>
            <a:endParaRPr/>
          </a:p>
        </p:txBody>
      </p:sp>
      <p:sp>
        <p:nvSpPr>
          <p:cNvPr id="926" name="Google Shape;926;g3f548fae03d_1_115"/>
          <p:cNvSpPr txBox="1"/>
          <p:nvPr/>
        </p:nvSpPr>
        <p:spPr>
          <a:xfrm>
            <a:off x="923544" y="3319272"/>
            <a:ext cx="2103120"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128 points</a:t>
            </a:r>
            <a:br>
              <a:rPr lang="en-US" sz="1100" b="0" i="0" u="none" strike="noStrike" cap="none">
                <a:solidFill>
                  <a:srgbClr val="000000"/>
                </a:solidFill>
                <a:latin typeface="Arial"/>
                <a:ea typeface="Arial"/>
                <a:cs typeface="Arial"/>
                <a:sym typeface="Arial"/>
              </a:rPr>
            </a:br>
            <a:r>
              <a:rPr lang="en-US" sz="1100" b="0" i="0" u="none" strike="noStrike" cap="none">
                <a:solidFill>
                  <a:srgbClr val="000000"/>
                </a:solidFill>
                <a:latin typeface="Arial"/>
                <a:ea typeface="Arial"/>
                <a:cs typeface="Arial"/>
                <a:sym typeface="Arial"/>
              </a:rPr>
              <a:t>matches 2⁷ amplitudes</a:t>
            </a:r>
            <a:endParaRPr/>
          </a:p>
        </p:txBody>
      </p:sp>
      <p:sp>
        <p:nvSpPr>
          <p:cNvPr id="927" name="Google Shape;927;g3f548fae03d_1_115"/>
          <p:cNvSpPr/>
          <p:nvPr/>
        </p:nvSpPr>
        <p:spPr>
          <a:xfrm>
            <a:off x="3566160" y="2971800"/>
            <a:ext cx="2331720" cy="1143000"/>
          </a:xfrm>
          <a:prstGeom prst="roundRect">
            <a:avLst>
              <a:gd name="adj" fmla="val 16667"/>
            </a:avLst>
          </a:prstGeom>
          <a:solidFill>
            <a:srgbClr val="FBF8F1"/>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8" name="Google Shape;928;g3f548fae03d_1_115"/>
          <p:cNvSpPr/>
          <p:nvPr/>
        </p:nvSpPr>
        <p:spPr>
          <a:xfrm>
            <a:off x="3566160" y="2971800"/>
            <a:ext cx="59436" cy="1143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29" name="Google Shape;929;g3f548fae03d_1_115"/>
          <p:cNvSpPr txBox="1"/>
          <p:nvPr/>
        </p:nvSpPr>
        <p:spPr>
          <a:xfrm>
            <a:off x="3712463" y="3044952"/>
            <a:ext cx="210312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F05519"/>
                </a:solidFill>
                <a:latin typeface="Arial"/>
                <a:ea typeface="Arial"/>
                <a:cs typeface="Arial"/>
                <a:sym typeface="Arial"/>
              </a:rPr>
              <a:t>stride</a:t>
            </a:r>
            <a:endParaRPr/>
          </a:p>
        </p:txBody>
      </p:sp>
      <p:sp>
        <p:nvSpPr>
          <p:cNvPr id="930" name="Google Shape;930;g3f548fae03d_1_115"/>
          <p:cNvSpPr txBox="1"/>
          <p:nvPr/>
        </p:nvSpPr>
        <p:spPr>
          <a:xfrm>
            <a:off x="3712463" y="3319272"/>
            <a:ext cx="2103120"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1</a:t>
            </a:r>
            <a:br>
              <a:rPr lang="en-US" sz="1100" b="0" i="0" u="none" strike="noStrike" cap="none">
                <a:solidFill>
                  <a:srgbClr val="000000"/>
                </a:solidFill>
                <a:latin typeface="Arial"/>
                <a:ea typeface="Arial"/>
                <a:cs typeface="Arial"/>
                <a:sym typeface="Arial"/>
              </a:rPr>
            </a:br>
            <a:r>
              <a:rPr lang="en-US" sz="1100" b="0" i="0" u="none" strike="noStrike" cap="none">
                <a:solidFill>
                  <a:srgbClr val="000000"/>
                </a:solidFill>
                <a:latin typeface="Arial"/>
                <a:ea typeface="Arial"/>
                <a:cs typeface="Arial"/>
                <a:sym typeface="Arial"/>
              </a:rPr>
              <a:t>windows overlap heavily</a:t>
            </a:r>
            <a:endParaRPr/>
          </a:p>
        </p:txBody>
      </p:sp>
      <p:sp>
        <p:nvSpPr>
          <p:cNvPr id="931" name="Google Shape;931;g3f548fae03d_1_115"/>
          <p:cNvSpPr/>
          <p:nvPr/>
        </p:nvSpPr>
        <p:spPr>
          <a:xfrm>
            <a:off x="6355079" y="2971800"/>
            <a:ext cx="2331720" cy="1143000"/>
          </a:xfrm>
          <a:prstGeom prst="roundRect">
            <a:avLst>
              <a:gd name="adj" fmla="val 16667"/>
            </a:avLst>
          </a:prstGeom>
          <a:solidFill>
            <a:srgbClr val="FBF8F1"/>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2" name="Google Shape;932;g3f548fae03d_1_115"/>
          <p:cNvSpPr/>
          <p:nvPr/>
        </p:nvSpPr>
        <p:spPr>
          <a:xfrm>
            <a:off x="6355079" y="2971800"/>
            <a:ext cx="59436" cy="114300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3" name="Google Shape;933;g3f548fae03d_1_115"/>
          <p:cNvSpPr txBox="1"/>
          <p:nvPr/>
        </p:nvSpPr>
        <p:spPr>
          <a:xfrm>
            <a:off x="6501383" y="3044952"/>
            <a:ext cx="210312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005276"/>
                </a:solidFill>
                <a:latin typeface="Arial"/>
                <a:ea typeface="Arial"/>
                <a:cs typeface="Arial"/>
                <a:sym typeface="Arial"/>
              </a:rPr>
              <a:t>input sample</a:t>
            </a:r>
            <a:endParaRPr/>
          </a:p>
        </p:txBody>
      </p:sp>
      <p:sp>
        <p:nvSpPr>
          <p:cNvPr id="934" name="Google Shape;934;g3f548fae03d_1_115"/>
          <p:cNvSpPr txBox="1"/>
          <p:nvPr/>
        </p:nvSpPr>
        <p:spPr>
          <a:xfrm>
            <a:off x="6501383" y="3319272"/>
            <a:ext cx="2103120"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one window</a:t>
            </a:r>
            <a:br>
              <a:rPr lang="en-US" sz="1100" b="0" i="0" u="none" strike="noStrike" cap="none">
                <a:solidFill>
                  <a:srgbClr val="000000"/>
                </a:solidFill>
                <a:latin typeface="Arial"/>
                <a:ea typeface="Arial"/>
                <a:cs typeface="Arial"/>
                <a:sym typeface="Arial"/>
              </a:rPr>
            </a:br>
            <a:r>
              <a:rPr lang="en-US" sz="1100" b="0" i="0" u="none" strike="noStrike" cap="none">
                <a:solidFill>
                  <a:srgbClr val="000000"/>
                </a:solidFill>
                <a:latin typeface="Arial"/>
                <a:ea typeface="Arial"/>
                <a:cs typeface="Arial"/>
                <a:sym typeface="Arial"/>
              </a:rPr>
              <a:t>not one time point</a:t>
            </a:r>
            <a:endParaRPr/>
          </a:p>
        </p:txBody>
      </p:sp>
      <p:sp>
        <p:nvSpPr>
          <p:cNvPr id="935" name="Google Shape;935;g3f548fae03d_1_115"/>
          <p:cNvSpPr/>
          <p:nvPr/>
        </p:nvSpPr>
        <p:spPr>
          <a:xfrm>
            <a:off x="9143999" y="2971800"/>
            <a:ext cx="2331720" cy="1143000"/>
          </a:xfrm>
          <a:prstGeom prst="roundRect">
            <a:avLst>
              <a:gd name="adj" fmla="val 16667"/>
            </a:avLst>
          </a:prstGeom>
          <a:solidFill>
            <a:srgbClr val="FBF8F1"/>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6" name="Google Shape;936;g3f548fae03d_1_115"/>
          <p:cNvSpPr/>
          <p:nvPr/>
        </p:nvSpPr>
        <p:spPr>
          <a:xfrm>
            <a:off x="9143999" y="2971800"/>
            <a:ext cx="59436" cy="1143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7" name="Google Shape;937;g3f548fae03d_1_115"/>
          <p:cNvSpPr txBox="1"/>
          <p:nvPr/>
        </p:nvSpPr>
        <p:spPr>
          <a:xfrm>
            <a:off x="9290303" y="3044952"/>
            <a:ext cx="210312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F05519"/>
                </a:solidFill>
                <a:latin typeface="Arial"/>
                <a:ea typeface="Arial"/>
                <a:cs typeface="Arial"/>
                <a:sym typeface="Arial"/>
              </a:rPr>
              <a:t>count</a:t>
            </a:r>
            <a:endParaRPr/>
          </a:p>
        </p:txBody>
      </p:sp>
      <p:sp>
        <p:nvSpPr>
          <p:cNvPr id="938" name="Google Shape;938;g3f548fae03d_1_115"/>
          <p:cNvSpPr txBox="1"/>
          <p:nvPr/>
        </p:nvSpPr>
        <p:spPr>
          <a:xfrm>
            <a:off x="9290303" y="3319272"/>
            <a:ext cx="2103120"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T−127</a:t>
            </a:r>
            <a:br>
              <a:rPr lang="en-US" sz="1100" b="0" i="0" u="none" strike="noStrike" cap="none">
                <a:solidFill>
                  <a:srgbClr val="000000"/>
                </a:solidFill>
                <a:latin typeface="Arial"/>
                <a:ea typeface="Arial"/>
                <a:cs typeface="Arial"/>
                <a:sym typeface="Arial"/>
              </a:rPr>
            </a:br>
            <a:r>
              <a:rPr lang="en-US" sz="1100" b="0" i="0" u="none" strike="noStrike" cap="none">
                <a:solidFill>
                  <a:srgbClr val="000000"/>
                </a:solidFill>
                <a:latin typeface="Arial"/>
                <a:ea typeface="Arial"/>
                <a:cs typeface="Arial"/>
                <a:sym typeface="Arial"/>
              </a:rPr>
              <a:t>windows from T points</a:t>
            </a:r>
            <a:endParaRPr/>
          </a:p>
        </p:txBody>
      </p:sp>
      <p:sp>
        <p:nvSpPr>
          <p:cNvPr id="939" name="Google Shape;939;g3f548fae03d_1_115"/>
          <p:cNvSpPr txBox="1"/>
          <p:nvPr/>
        </p:nvSpPr>
        <p:spPr>
          <a:xfrm>
            <a:off x="351500" y="5074975"/>
            <a:ext cx="11489100" cy="292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300" b="1" i="0" u="none" strike="noStrike" cap="none">
                <a:solidFill>
                  <a:srgbClr val="000000"/>
                </a:solidFill>
                <a:latin typeface="Arial"/>
                <a:ea typeface="Arial"/>
                <a:cs typeface="Arial"/>
                <a:sym typeface="Arial"/>
              </a:rPr>
              <a:t>Important detail: the paper does not normalize the raw series before windowing; normalization is performed during quantum state preparation.</a:t>
            </a:r>
            <a:endParaRPr/>
          </a:p>
        </p:txBody>
      </p:sp>
      <p:pic>
        <p:nvPicPr>
          <p:cNvPr id="940" name="Google Shape;940;g3f548fae03d_1_115" descr="Xdef.png"/>
          <p:cNvPicPr preferRelativeResize="0"/>
          <p:nvPr/>
        </p:nvPicPr>
        <p:blipFill rotWithShape="1">
          <a:blip r:embed="rId3">
            <a:alphaModFix/>
          </a:blip>
          <a:srcRect/>
          <a:stretch/>
        </p:blipFill>
        <p:spPr>
          <a:xfrm>
            <a:off x="768096" y="1764792"/>
            <a:ext cx="3291840" cy="411480"/>
          </a:xfrm>
          <a:prstGeom prst="rect">
            <a:avLst/>
          </a:prstGeom>
          <a:noFill/>
          <a:ln>
            <a:noFill/>
          </a:ln>
        </p:spPr>
      </p:pic>
      <p:pic>
        <p:nvPicPr>
          <p:cNvPr id="941" name="Google Shape;941;g3f548fae03d_1_115" descr="window_def.png"/>
          <p:cNvPicPr preferRelativeResize="0"/>
          <p:nvPr/>
        </p:nvPicPr>
        <p:blipFill rotWithShape="1">
          <a:blip r:embed="rId4">
            <a:alphaModFix/>
          </a:blip>
          <a:srcRect/>
          <a:stretch/>
        </p:blipFill>
        <p:spPr>
          <a:xfrm>
            <a:off x="5056632" y="1746504"/>
            <a:ext cx="5303520" cy="429768"/>
          </a:xfrm>
          <a:prstGeom prst="rect">
            <a:avLst/>
          </a:prstGeom>
          <a:noFill/>
          <a:ln>
            <a:noFill/>
          </a:ln>
        </p:spPr>
      </p:pic>
      <p:sp>
        <p:nvSpPr>
          <p:cNvPr id="942" name="Google Shape;942;g3f548fae03d_1_115"/>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g3f548fae03d_1_115"/>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945" name="Google Shape;945;g3f548fae03d_1_115"/>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21</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3f548fae03d_1_154"/>
          <p:cNvSpPr/>
          <p:nvPr/>
        </p:nvSpPr>
        <p:spPr>
          <a:xfrm>
            <a:off x="338328" y="256032"/>
            <a:ext cx="54900" cy="3840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1" name="Google Shape;951;g3f548fae03d_1_154"/>
          <p:cNvSpPr txBox="1"/>
          <p:nvPr/>
        </p:nvSpPr>
        <p:spPr>
          <a:xfrm>
            <a:off x="448056" y="256032"/>
            <a:ext cx="9784200" cy="201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3 · STATE PREPARATION</a:t>
            </a:r>
            <a:endParaRPr/>
          </a:p>
        </p:txBody>
      </p:sp>
      <p:sp>
        <p:nvSpPr>
          <p:cNvPr id="952" name="Google Shape;952;g3f548fae03d_1_154"/>
          <p:cNvSpPr txBox="1"/>
          <p:nvPr/>
        </p:nvSpPr>
        <p:spPr>
          <a:xfrm>
            <a:off x="448056" y="429768"/>
            <a:ext cx="9784200" cy="210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Classical window → quantum state</a:t>
            </a:r>
            <a:endParaRPr/>
          </a:p>
        </p:txBody>
      </p:sp>
      <p:sp>
        <p:nvSpPr>
          <p:cNvPr id="953" name="Google Shape;953;g3f548fae03d_1_154"/>
          <p:cNvSpPr txBox="1"/>
          <p:nvPr/>
        </p:nvSpPr>
        <p:spPr>
          <a:xfrm>
            <a:off x="338328" y="804672"/>
            <a:ext cx="11064300" cy="475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Step 2 — Amplitude encoding into 7 qubits</a:t>
            </a:r>
            <a:endParaRPr/>
          </a:p>
        </p:txBody>
      </p:sp>
      <p:sp>
        <p:nvSpPr>
          <p:cNvPr id="954" name="Google Shape;954;g3f548fae03d_1_154"/>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5" name="Google Shape;955;g3f548fae03d_1_154"/>
          <p:cNvSpPr txBox="1"/>
          <p:nvPr/>
        </p:nvSpPr>
        <p:spPr>
          <a:xfrm>
            <a:off x="594360" y="1371600"/>
            <a:ext cx="4754880" cy="274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5276"/>
                </a:solidFill>
                <a:latin typeface="Arial"/>
                <a:ea typeface="Arial"/>
                <a:cs typeface="Arial"/>
                <a:sym typeface="Arial"/>
              </a:rPr>
              <a:t>For each 128-point window</a:t>
            </a:r>
            <a:endParaRPr/>
          </a:p>
        </p:txBody>
      </p:sp>
      <p:sp>
        <p:nvSpPr>
          <p:cNvPr id="956" name="Google Shape;956;g3f548fae03d_1_154"/>
          <p:cNvSpPr txBox="1"/>
          <p:nvPr/>
        </p:nvSpPr>
        <p:spPr>
          <a:xfrm>
            <a:off x="594360" y="2514600"/>
            <a:ext cx="4754880" cy="274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5276"/>
                </a:solidFill>
                <a:latin typeface="Arial"/>
                <a:ea typeface="Arial"/>
                <a:cs typeface="Arial"/>
                <a:sym typeface="Arial"/>
              </a:rPr>
              <a:t>State preparation formula</a:t>
            </a:r>
            <a:endParaRPr/>
          </a:p>
        </p:txBody>
      </p:sp>
      <p:sp>
        <p:nvSpPr>
          <p:cNvPr id="957" name="Google Shape;957;g3f548fae03d_1_154"/>
          <p:cNvSpPr/>
          <p:nvPr/>
        </p:nvSpPr>
        <p:spPr>
          <a:xfrm>
            <a:off x="6400800" y="1417320"/>
            <a:ext cx="4800600" cy="105156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8" name="Google Shape;958;g3f548fae03d_1_154"/>
          <p:cNvSpPr/>
          <p:nvPr/>
        </p:nvSpPr>
        <p:spPr>
          <a:xfrm>
            <a:off x="6400800" y="1417320"/>
            <a:ext cx="59436" cy="105156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59" name="Google Shape;959;g3f548fae03d_1_154"/>
          <p:cNvSpPr txBox="1"/>
          <p:nvPr/>
        </p:nvSpPr>
        <p:spPr>
          <a:xfrm>
            <a:off x="6547104" y="1490472"/>
            <a:ext cx="45720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Why 7 qubits?</a:t>
            </a:r>
            <a:endParaRPr/>
          </a:p>
        </p:txBody>
      </p:sp>
      <p:sp>
        <p:nvSpPr>
          <p:cNvPr id="960" name="Google Shape;960;g3f548fae03d_1_154"/>
          <p:cNvSpPr txBox="1"/>
          <p:nvPr/>
        </p:nvSpPr>
        <p:spPr>
          <a:xfrm>
            <a:off x="6547104" y="1764792"/>
            <a:ext cx="4572000" cy="6400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50" b="0" i="0" u="none" strike="noStrike" cap="none">
                <a:solidFill>
                  <a:srgbClr val="000000"/>
                </a:solidFill>
                <a:latin typeface="Arial"/>
                <a:ea typeface="Arial"/>
                <a:cs typeface="Arial"/>
                <a:sym typeface="Arial"/>
              </a:rPr>
              <a:t>A K-qubit state has 2ᴷ computational basis amplitudes. Since 2⁷ = 128, one full window fits into 7 qubits.</a:t>
            </a:r>
            <a:endParaRPr/>
          </a:p>
        </p:txBody>
      </p:sp>
      <p:sp>
        <p:nvSpPr>
          <p:cNvPr id="961" name="Google Shape;961;g3f548fae03d_1_154"/>
          <p:cNvSpPr/>
          <p:nvPr/>
        </p:nvSpPr>
        <p:spPr>
          <a:xfrm>
            <a:off x="6400800" y="2697480"/>
            <a:ext cx="4800600" cy="105156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2" name="Google Shape;962;g3f548fae03d_1_154"/>
          <p:cNvSpPr/>
          <p:nvPr/>
        </p:nvSpPr>
        <p:spPr>
          <a:xfrm>
            <a:off x="6400800" y="2697480"/>
            <a:ext cx="59436" cy="105156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3" name="Google Shape;963;g3f548fae03d_1_154"/>
          <p:cNvSpPr txBox="1"/>
          <p:nvPr/>
        </p:nvSpPr>
        <p:spPr>
          <a:xfrm>
            <a:off x="6547104" y="2770632"/>
            <a:ext cx="45720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Basis-state mapping</a:t>
            </a:r>
            <a:endParaRPr/>
          </a:p>
        </p:txBody>
      </p:sp>
      <p:sp>
        <p:nvSpPr>
          <p:cNvPr id="964" name="Google Shape;964;g3f548fae03d_1_154"/>
          <p:cNvSpPr txBox="1"/>
          <p:nvPr/>
        </p:nvSpPr>
        <p:spPr>
          <a:xfrm>
            <a:off x="6547104" y="3044952"/>
            <a:ext cx="4572000" cy="6400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50" b="0" i="0" u="none" strike="noStrike" cap="none">
                <a:solidFill>
                  <a:srgbClr val="000000"/>
                </a:solidFill>
                <a:latin typeface="Arial"/>
                <a:ea typeface="Arial"/>
                <a:cs typeface="Arial"/>
                <a:sym typeface="Arial"/>
              </a:rPr>
              <a:t>wᵢ₀ → amplitude of |0000000⟩; wᵢ,₁₂₇ → amplitude of |1111111⟩.</a:t>
            </a:r>
            <a:endParaRPr/>
          </a:p>
        </p:txBody>
      </p:sp>
      <p:sp>
        <p:nvSpPr>
          <p:cNvPr id="965" name="Google Shape;965;g3f548fae03d_1_154"/>
          <p:cNvSpPr/>
          <p:nvPr/>
        </p:nvSpPr>
        <p:spPr>
          <a:xfrm>
            <a:off x="6400800" y="3977639"/>
            <a:ext cx="4800600" cy="105156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6" name="Google Shape;966;g3f548fae03d_1_154"/>
          <p:cNvSpPr/>
          <p:nvPr/>
        </p:nvSpPr>
        <p:spPr>
          <a:xfrm>
            <a:off x="6400800" y="3977639"/>
            <a:ext cx="59436" cy="1051560"/>
          </a:xfrm>
          <a:prstGeom prst="rect">
            <a:avLst/>
          </a:prstGeom>
          <a:solidFill>
            <a:srgbClr val="317A6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67" name="Google Shape;967;g3f548fae03d_1_154"/>
          <p:cNvSpPr txBox="1"/>
          <p:nvPr/>
        </p:nvSpPr>
        <p:spPr>
          <a:xfrm>
            <a:off x="6547104" y="4050791"/>
            <a:ext cx="457200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317A61"/>
                </a:solidFill>
                <a:latin typeface="Arial"/>
                <a:ea typeface="Arial"/>
                <a:cs typeface="Arial"/>
                <a:sym typeface="Arial"/>
              </a:rPr>
              <a:t>Important consequence</a:t>
            </a:r>
            <a:endParaRPr/>
          </a:p>
        </p:txBody>
      </p:sp>
      <p:sp>
        <p:nvSpPr>
          <p:cNvPr id="968" name="Google Shape;968;g3f548fae03d_1_154"/>
          <p:cNvSpPr txBox="1"/>
          <p:nvPr/>
        </p:nvSpPr>
        <p:spPr>
          <a:xfrm>
            <a:off x="6547104" y="4325112"/>
            <a:ext cx="4572000" cy="6400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50" b="0" i="0" u="none" strike="noStrike" cap="none">
                <a:solidFill>
                  <a:srgbClr val="000000"/>
                </a:solidFill>
                <a:latin typeface="Arial"/>
                <a:ea typeface="Arial"/>
                <a:cs typeface="Arial"/>
                <a:sym typeface="Arial"/>
              </a:rPr>
              <a:t>The vector norm is divided out. The state mainly preserves relative shape; absolute scale may be lost unless treated separately.</a:t>
            </a:r>
            <a:endParaRPr/>
          </a:p>
        </p:txBody>
      </p:sp>
      <p:sp>
        <p:nvSpPr>
          <p:cNvPr id="969" name="Google Shape;969;g3f548fae03d_1_154"/>
          <p:cNvSpPr txBox="1"/>
          <p:nvPr/>
        </p:nvSpPr>
        <p:spPr>
          <a:xfrm>
            <a:off x="868680" y="5349240"/>
            <a:ext cx="10424160" cy="3200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300" b="1" i="0" u="none" strike="noStrike" cap="none">
                <a:solidFill>
                  <a:srgbClr val="000000"/>
                </a:solidFill>
                <a:latin typeface="Arial"/>
                <a:ea typeface="Arial"/>
                <a:cs typeface="Arial"/>
                <a:sym typeface="Arial"/>
              </a:rPr>
              <a:t>Amplitude encoding is qubit-efficient: N values require log₂(N) qubits. It is not necessarily hardware-efficient.</a:t>
            </a:r>
            <a:endParaRPr/>
          </a:p>
        </p:txBody>
      </p:sp>
      <p:pic>
        <p:nvPicPr>
          <p:cNvPr id="970" name="Google Shape;970;g3f548fae03d_1_154" descr="wvec.png"/>
          <p:cNvPicPr preferRelativeResize="0"/>
          <p:nvPr/>
        </p:nvPicPr>
        <p:blipFill rotWithShape="1">
          <a:blip r:embed="rId3">
            <a:alphaModFix/>
          </a:blip>
          <a:srcRect/>
          <a:stretch/>
        </p:blipFill>
        <p:spPr>
          <a:xfrm>
            <a:off x="749808" y="1737360"/>
            <a:ext cx="4572001" cy="486910"/>
          </a:xfrm>
          <a:prstGeom prst="rect">
            <a:avLst/>
          </a:prstGeom>
          <a:noFill/>
          <a:ln>
            <a:noFill/>
          </a:ln>
        </p:spPr>
      </p:pic>
      <p:pic>
        <p:nvPicPr>
          <p:cNvPr id="971" name="Google Shape;971;g3f548fae03d_1_154" descr="amp_encoding.png"/>
          <p:cNvPicPr preferRelativeResize="0"/>
          <p:nvPr/>
        </p:nvPicPr>
        <p:blipFill rotWithShape="1">
          <a:blip r:embed="rId4">
            <a:alphaModFix/>
          </a:blip>
          <a:srcRect/>
          <a:stretch/>
        </p:blipFill>
        <p:spPr>
          <a:xfrm>
            <a:off x="722375" y="2852925"/>
            <a:ext cx="5394950" cy="896125"/>
          </a:xfrm>
          <a:prstGeom prst="rect">
            <a:avLst/>
          </a:prstGeom>
          <a:noFill/>
          <a:ln>
            <a:noFill/>
          </a:ln>
        </p:spPr>
      </p:pic>
      <p:pic>
        <p:nvPicPr>
          <p:cNvPr id="972" name="Google Shape;972;g3f548fae03d_1_154" descr="amp_norm.png"/>
          <p:cNvPicPr preferRelativeResize="0"/>
          <p:nvPr/>
        </p:nvPicPr>
        <p:blipFill rotWithShape="1">
          <a:blip r:embed="rId5">
            <a:alphaModFix/>
          </a:blip>
          <a:srcRect/>
          <a:stretch/>
        </p:blipFill>
        <p:spPr>
          <a:xfrm>
            <a:off x="722375" y="3913636"/>
            <a:ext cx="5120625" cy="640075"/>
          </a:xfrm>
          <a:prstGeom prst="rect">
            <a:avLst/>
          </a:prstGeom>
          <a:noFill/>
          <a:ln>
            <a:noFill/>
          </a:ln>
        </p:spPr>
      </p:pic>
      <p:sp>
        <p:nvSpPr>
          <p:cNvPr id="973" name="Google Shape;973;g3f548fae03d_1_154"/>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g3f548fae03d_1_154"/>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976" name="Google Shape;976;g3f548fae03d_1_154"/>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22</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3f548fae03d_1_189"/>
          <p:cNvSpPr/>
          <p:nvPr/>
        </p:nvSpPr>
        <p:spPr>
          <a:xfrm>
            <a:off x="338328" y="256032"/>
            <a:ext cx="54864"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2" name="Google Shape;982;g3f548fae03d_1_189"/>
          <p:cNvSpPr txBox="1"/>
          <p:nvPr/>
        </p:nvSpPr>
        <p:spPr>
          <a:xfrm>
            <a:off x="448056" y="256032"/>
            <a:ext cx="9784200" cy="201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3 · AUTOENCODING</a:t>
            </a:r>
            <a:endParaRPr/>
          </a:p>
        </p:txBody>
      </p:sp>
      <p:sp>
        <p:nvSpPr>
          <p:cNvPr id="983" name="Google Shape;983;g3f548fae03d_1_189"/>
          <p:cNvSpPr txBox="1"/>
          <p:nvPr/>
        </p:nvSpPr>
        <p:spPr>
          <a:xfrm>
            <a:off x="448056" y="429768"/>
            <a:ext cx="9784080" cy="210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Compressing a quantum time-window state</a:t>
            </a:r>
            <a:endParaRPr/>
          </a:p>
        </p:txBody>
      </p:sp>
      <p:sp>
        <p:nvSpPr>
          <p:cNvPr id="984" name="Google Shape;984;g3f548fae03d_1_189"/>
          <p:cNvSpPr txBox="1"/>
          <p:nvPr/>
        </p:nvSpPr>
        <p:spPr>
          <a:xfrm>
            <a:off x="338328" y="804672"/>
            <a:ext cx="11064240" cy="475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Step 3 — QAE encoder, latent qubits, and trash qubit</a:t>
            </a:r>
            <a:endParaRPr/>
          </a:p>
        </p:txBody>
      </p:sp>
      <p:sp>
        <p:nvSpPr>
          <p:cNvPr id="985" name="Google Shape;985;g3f548fae03d_1_189"/>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6" name="Google Shape;986;g3f548fae03d_1_189"/>
          <p:cNvSpPr/>
          <p:nvPr/>
        </p:nvSpPr>
        <p:spPr>
          <a:xfrm>
            <a:off x="514075" y="3520443"/>
            <a:ext cx="4617600" cy="8229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7" name="Google Shape;987;g3f548fae03d_1_189"/>
          <p:cNvSpPr/>
          <p:nvPr/>
        </p:nvSpPr>
        <p:spPr>
          <a:xfrm>
            <a:off x="514075" y="3520443"/>
            <a:ext cx="59400" cy="82290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8" name="Google Shape;988;g3f548fae03d_1_189"/>
          <p:cNvSpPr txBox="1"/>
          <p:nvPr/>
        </p:nvSpPr>
        <p:spPr>
          <a:xfrm>
            <a:off x="660379" y="3593595"/>
            <a:ext cx="43890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7-qubit autoencoder</a:t>
            </a:r>
            <a:endParaRPr/>
          </a:p>
        </p:txBody>
      </p:sp>
      <p:sp>
        <p:nvSpPr>
          <p:cNvPr id="989" name="Google Shape;989;g3f548fae03d_1_189"/>
          <p:cNvSpPr txBox="1"/>
          <p:nvPr/>
        </p:nvSpPr>
        <p:spPr>
          <a:xfrm>
            <a:off x="660379" y="3867915"/>
            <a:ext cx="43890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q₀–q₅ are the 6-qubit latent space; q₆ is the trash qubit.</a:t>
            </a:r>
            <a:endParaRPr/>
          </a:p>
        </p:txBody>
      </p:sp>
      <p:sp>
        <p:nvSpPr>
          <p:cNvPr id="990" name="Google Shape;990;g3f548fae03d_1_189"/>
          <p:cNvSpPr/>
          <p:nvPr/>
        </p:nvSpPr>
        <p:spPr>
          <a:xfrm>
            <a:off x="514013" y="4571970"/>
            <a:ext cx="4617600" cy="9144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1" name="Google Shape;991;g3f548fae03d_1_189"/>
          <p:cNvSpPr/>
          <p:nvPr/>
        </p:nvSpPr>
        <p:spPr>
          <a:xfrm>
            <a:off x="514013" y="4571970"/>
            <a:ext cx="59400" cy="9144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2" name="Google Shape;992;g3f548fae03d_1_189"/>
          <p:cNvSpPr txBox="1"/>
          <p:nvPr/>
        </p:nvSpPr>
        <p:spPr>
          <a:xfrm>
            <a:off x="660317" y="4645122"/>
            <a:ext cx="43890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Training circuit</a:t>
            </a:r>
            <a:endParaRPr/>
          </a:p>
        </p:txBody>
      </p:sp>
      <p:sp>
        <p:nvSpPr>
          <p:cNvPr id="993" name="Google Shape;993;g3f548fae03d_1_189"/>
          <p:cNvSpPr txBox="1"/>
          <p:nvPr/>
        </p:nvSpPr>
        <p:spPr>
          <a:xfrm>
            <a:off x="660317" y="4919441"/>
            <a:ext cx="43890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Training adds q₇ = |0⟩ as reference and q₈ as Swap-Test ancilla, so the training circuit uses 9 qubits.</a:t>
            </a:r>
            <a:endParaRPr/>
          </a:p>
        </p:txBody>
      </p:sp>
      <p:sp>
        <p:nvSpPr>
          <p:cNvPr id="994" name="Google Shape;994;g3f548fae03d_1_189"/>
          <p:cNvSpPr/>
          <p:nvPr/>
        </p:nvSpPr>
        <p:spPr>
          <a:xfrm>
            <a:off x="6629400" y="3474720"/>
            <a:ext cx="4617720" cy="9144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5" name="Google Shape;995;g3f548fae03d_1_189"/>
          <p:cNvSpPr/>
          <p:nvPr/>
        </p:nvSpPr>
        <p:spPr>
          <a:xfrm>
            <a:off x="6629400" y="3474720"/>
            <a:ext cx="59436" cy="914400"/>
          </a:xfrm>
          <a:prstGeom prst="rect">
            <a:avLst/>
          </a:prstGeom>
          <a:solidFill>
            <a:srgbClr val="317A6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6" name="Google Shape;996;g3f548fae03d_1_189"/>
          <p:cNvSpPr txBox="1"/>
          <p:nvPr/>
        </p:nvSpPr>
        <p:spPr>
          <a:xfrm>
            <a:off x="6775704" y="3547872"/>
            <a:ext cx="438912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317A61"/>
                </a:solidFill>
                <a:latin typeface="Arial"/>
                <a:ea typeface="Arial"/>
                <a:cs typeface="Arial"/>
                <a:sym typeface="Arial"/>
              </a:rPr>
              <a:t>Compression target</a:t>
            </a:r>
            <a:endParaRPr/>
          </a:p>
        </p:txBody>
      </p:sp>
      <p:sp>
        <p:nvSpPr>
          <p:cNvPr id="997" name="Google Shape;997;g3f548fae03d_1_189"/>
          <p:cNvSpPr txBox="1"/>
          <p:nvPr/>
        </p:nvSpPr>
        <p:spPr>
          <a:xfrm>
            <a:off x="6775704" y="3822191"/>
            <a:ext cx="4389120" cy="5029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After the encoder, q₆ should be close to |0⟩, meaning all useful information has moved into q₀–q₅.</a:t>
            </a:r>
            <a:endParaRPr/>
          </a:p>
        </p:txBody>
      </p:sp>
      <p:sp>
        <p:nvSpPr>
          <p:cNvPr id="998" name="Google Shape;998;g3f548fae03d_1_189"/>
          <p:cNvSpPr/>
          <p:nvPr/>
        </p:nvSpPr>
        <p:spPr>
          <a:xfrm>
            <a:off x="6629400" y="4617720"/>
            <a:ext cx="4617720" cy="749808"/>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99" name="Google Shape;999;g3f548fae03d_1_189"/>
          <p:cNvSpPr/>
          <p:nvPr/>
        </p:nvSpPr>
        <p:spPr>
          <a:xfrm>
            <a:off x="6629400" y="4617720"/>
            <a:ext cx="59436" cy="749808"/>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00" name="Google Shape;1000;g3f548fae03d_1_189"/>
          <p:cNvSpPr txBox="1"/>
          <p:nvPr/>
        </p:nvSpPr>
        <p:spPr>
          <a:xfrm>
            <a:off x="6775704" y="4690872"/>
            <a:ext cx="438912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Decoder</a:t>
            </a:r>
            <a:endParaRPr/>
          </a:p>
        </p:txBody>
      </p:sp>
      <p:sp>
        <p:nvSpPr>
          <p:cNvPr id="1001" name="Google Shape;1001;g3f548fae03d_1_189"/>
          <p:cNvSpPr txBox="1"/>
          <p:nvPr/>
        </p:nvSpPr>
        <p:spPr>
          <a:xfrm>
            <a:off x="6775704" y="4965192"/>
            <a:ext cx="4389120" cy="3383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For reconstruction, the decoder is Encoder† after resetting q₆. It is not trained separately.</a:t>
            </a:r>
            <a:endParaRPr/>
          </a:p>
        </p:txBody>
      </p:sp>
      <p:sp>
        <p:nvSpPr>
          <p:cNvPr id="1002" name="Google Shape;1002;g3f548fae03d_1_189"/>
          <p:cNvSpPr txBox="1"/>
          <p:nvPr/>
        </p:nvSpPr>
        <p:spPr>
          <a:xfrm>
            <a:off x="685800" y="5715000"/>
            <a:ext cx="10515600" cy="274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5F5F5F"/>
                </a:solidFill>
                <a:latin typeface="Arial"/>
                <a:ea typeface="Arial"/>
                <a:cs typeface="Arial"/>
                <a:sym typeface="Arial"/>
              </a:rPr>
              <a:t>Fig. 2: training circuit uses Swap-Test; final reconstruction circuit uses Encoder† after resetting the trash qubit.</a:t>
            </a:r>
            <a:endParaRPr/>
          </a:p>
        </p:txBody>
      </p:sp>
      <p:pic>
        <p:nvPicPr>
          <p:cNvPr id="1003" name="Google Shape;1003;g3f548fae03d_1_189"/>
          <p:cNvPicPr preferRelativeResize="0"/>
          <p:nvPr/>
        </p:nvPicPr>
        <p:blipFill>
          <a:blip r:embed="rId3">
            <a:alphaModFix/>
          </a:blip>
          <a:stretch>
            <a:fillRect/>
          </a:stretch>
        </p:blipFill>
        <p:spPr>
          <a:xfrm>
            <a:off x="3067925" y="1409698"/>
            <a:ext cx="5605040" cy="1935483"/>
          </a:xfrm>
          <a:prstGeom prst="rect">
            <a:avLst/>
          </a:prstGeom>
          <a:noFill/>
          <a:ln>
            <a:noFill/>
          </a:ln>
        </p:spPr>
      </p:pic>
      <p:sp>
        <p:nvSpPr>
          <p:cNvPr id="1004" name="Google Shape;1004;g3f548fae03d_1_189"/>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5" name="Google Shape;1005;g3f548fae03d_1_189"/>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1007" name="Google Shape;1007;g3f548fae03d_1_189"/>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23</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3f548fae03d_1_255"/>
          <p:cNvSpPr/>
          <p:nvPr/>
        </p:nvSpPr>
        <p:spPr>
          <a:xfrm>
            <a:off x="338328" y="256032"/>
            <a:ext cx="54864"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3" name="Google Shape;1013;g3f548fae03d_1_255"/>
          <p:cNvSpPr txBox="1"/>
          <p:nvPr/>
        </p:nvSpPr>
        <p:spPr>
          <a:xfrm>
            <a:off x="448056" y="256032"/>
            <a:ext cx="9784200" cy="201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4 · EXPERIMENT SETUP</a:t>
            </a:r>
            <a:endParaRPr/>
          </a:p>
        </p:txBody>
      </p:sp>
      <p:sp>
        <p:nvSpPr>
          <p:cNvPr id="1014" name="Google Shape;1014;g3f548fae03d_1_255"/>
          <p:cNvSpPr txBox="1"/>
          <p:nvPr/>
        </p:nvSpPr>
        <p:spPr>
          <a:xfrm>
            <a:off x="448056" y="429768"/>
            <a:ext cx="9784080" cy="210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Simulation experiment from Sections 4.1–4.3</a:t>
            </a:r>
            <a:endParaRPr/>
          </a:p>
        </p:txBody>
      </p:sp>
      <p:sp>
        <p:nvSpPr>
          <p:cNvPr id="1015" name="Google Shape;1015;g3f548fae03d_1_255"/>
          <p:cNvSpPr txBox="1"/>
          <p:nvPr/>
        </p:nvSpPr>
        <p:spPr>
          <a:xfrm>
            <a:off x="338328" y="804672"/>
            <a:ext cx="11064240" cy="475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Data, ansätze, optimizer, and classical baseline</a:t>
            </a:r>
            <a:endParaRPr/>
          </a:p>
        </p:txBody>
      </p:sp>
      <p:sp>
        <p:nvSpPr>
          <p:cNvPr id="1016" name="Google Shape;1016;g3f548fae03d_1_255"/>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1" name="Google Shape;1021;g3f548fae03d_1_255"/>
          <p:cNvSpPr/>
          <p:nvPr/>
        </p:nvSpPr>
        <p:spPr>
          <a:xfrm>
            <a:off x="594360" y="1550350"/>
            <a:ext cx="2743200" cy="10974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2" name="Google Shape;1022;g3f548fae03d_1_255"/>
          <p:cNvSpPr/>
          <p:nvPr/>
        </p:nvSpPr>
        <p:spPr>
          <a:xfrm>
            <a:off x="594360" y="1550350"/>
            <a:ext cx="59400" cy="109740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3" name="Google Shape;1023;g3f548fae03d_1_255"/>
          <p:cNvSpPr txBox="1"/>
          <p:nvPr/>
        </p:nvSpPr>
        <p:spPr>
          <a:xfrm>
            <a:off x="740664" y="1623502"/>
            <a:ext cx="25146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Data</a:t>
            </a:r>
            <a:endParaRPr/>
          </a:p>
        </p:txBody>
      </p:sp>
      <p:sp>
        <p:nvSpPr>
          <p:cNvPr id="1024" name="Google Shape;1024;g3f548fae03d_1_255"/>
          <p:cNvSpPr txBox="1"/>
          <p:nvPr/>
        </p:nvSpPr>
        <p:spPr>
          <a:xfrm>
            <a:off x="740675" y="1897813"/>
            <a:ext cx="26427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Six UCR datasets: 28, 54, 99, 118, 138, 176. Window size = 128, stride = 1.</a:t>
            </a:r>
            <a:endParaRPr/>
          </a:p>
        </p:txBody>
      </p:sp>
      <p:sp>
        <p:nvSpPr>
          <p:cNvPr id="1025" name="Google Shape;1025;g3f548fae03d_1_255"/>
          <p:cNvSpPr/>
          <p:nvPr/>
        </p:nvSpPr>
        <p:spPr>
          <a:xfrm>
            <a:off x="3566160" y="1550350"/>
            <a:ext cx="2743200" cy="10974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6" name="Google Shape;1026;g3f548fae03d_1_255"/>
          <p:cNvSpPr/>
          <p:nvPr/>
        </p:nvSpPr>
        <p:spPr>
          <a:xfrm>
            <a:off x="3566160" y="1550350"/>
            <a:ext cx="59400" cy="10974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7" name="Google Shape;1027;g3f548fae03d_1_255"/>
          <p:cNvSpPr txBox="1"/>
          <p:nvPr/>
        </p:nvSpPr>
        <p:spPr>
          <a:xfrm>
            <a:off x="3712463" y="1623502"/>
            <a:ext cx="25146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QAE size</a:t>
            </a:r>
            <a:endParaRPr/>
          </a:p>
        </p:txBody>
      </p:sp>
      <p:sp>
        <p:nvSpPr>
          <p:cNvPr id="1028" name="Google Shape;1028;g3f548fae03d_1_255"/>
          <p:cNvSpPr txBox="1"/>
          <p:nvPr/>
        </p:nvSpPr>
        <p:spPr>
          <a:xfrm>
            <a:off x="3712463" y="1897822"/>
            <a:ext cx="25146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7 data qubits; 9 training qubits; 6 latent qubits; 1 trash qubit.</a:t>
            </a:r>
            <a:endParaRPr/>
          </a:p>
        </p:txBody>
      </p:sp>
      <p:sp>
        <p:nvSpPr>
          <p:cNvPr id="1029" name="Google Shape;1029;g3f548fae03d_1_255"/>
          <p:cNvSpPr/>
          <p:nvPr/>
        </p:nvSpPr>
        <p:spPr>
          <a:xfrm>
            <a:off x="594348" y="2935163"/>
            <a:ext cx="2743200" cy="10974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30" name="Google Shape;1030;g3f548fae03d_1_255"/>
          <p:cNvSpPr/>
          <p:nvPr/>
        </p:nvSpPr>
        <p:spPr>
          <a:xfrm>
            <a:off x="594360" y="2935162"/>
            <a:ext cx="59400" cy="109740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31" name="Google Shape;1031;g3f548fae03d_1_255"/>
          <p:cNvSpPr txBox="1"/>
          <p:nvPr/>
        </p:nvSpPr>
        <p:spPr>
          <a:xfrm>
            <a:off x="740664" y="3008314"/>
            <a:ext cx="21030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Training</a:t>
            </a:r>
            <a:endParaRPr/>
          </a:p>
        </p:txBody>
      </p:sp>
      <p:sp>
        <p:nvSpPr>
          <p:cNvPr id="1032" name="Google Shape;1032;g3f548fae03d_1_255"/>
          <p:cNvSpPr txBox="1"/>
          <p:nvPr/>
        </p:nvSpPr>
        <p:spPr>
          <a:xfrm>
            <a:off x="740677" y="3282637"/>
            <a:ext cx="25146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COBYLA optimizer, default settings, 45 iterations, 5,000 shots.</a:t>
            </a:r>
            <a:endParaRPr/>
          </a:p>
        </p:txBody>
      </p:sp>
      <p:sp>
        <p:nvSpPr>
          <p:cNvPr id="1033" name="Google Shape;1033;g3f548fae03d_1_255"/>
          <p:cNvSpPr txBox="1"/>
          <p:nvPr/>
        </p:nvSpPr>
        <p:spPr>
          <a:xfrm>
            <a:off x="6446525" y="1436158"/>
            <a:ext cx="41148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5276"/>
                </a:solidFill>
                <a:latin typeface="Arial"/>
                <a:ea typeface="Arial"/>
                <a:cs typeface="Arial"/>
                <a:sym typeface="Arial"/>
              </a:rPr>
              <a:t>Ansätze tested</a:t>
            </a:r>
            <a:endParaRPr/>
          </a:p>
        </p:txBody>
      </p:sp>
      <p:sp>
        <p:nvSpPr>
          <p:cNvPr id="1034" name="Google Shape;1034;g3f548fae03d_1_255"/>
          <p:cNvSpPr txBox="1"/>
          <p:nvPr/>
        </p:nvSpPr>
        <p:spPr>
          <a:xfrm>
            <a:off x="6629405" y="1801918"/>
            <a:ext cx="50292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 RealAmplitudes: alternating RY rotations and CX entanglement</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 Entanglement patterns: circular, full, linear, SCA</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 PauliTwoDesign: Pauli rotations + pairwise CZ gates</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 Depth 2–10 → 21–77 trainable parameters</a:t>
            </a:r>
            <a:endParaRPr/>
          </a:p>
        </p:txBody>
      </p:sp>
      <p:sp>
        <p:nvSpPr>
          <p:cNvPr id="1035" name="Google Shape;1035;g3f548fae03d_1_255"/>
          <p:cNvSpPr txBox="1"/>
          <p:nvPr/>
        </p:nvSpPr>
        <p:spPr>
          <a:xfrm>
            <a:off x="6446540" y="2793083"/>
            <a:ext cx="4114800" cy="323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5276"/>
                </a:solidFill>
                <a:latin typeface="Arial"/>
                <a:ea typeface="Arial"/>
                <a:cs typeface="Arial"/>
                <a:sym typeface="Arial"/>
              </a:rPr>
              <a:t>Classical baseline</a:t>
            </a:r>
            <a:endParaRPr/>
          </a:p>
        </p:txBody>
      </p:sp>
      <p:sp>
        <p:nvSpPr>
          <p:cNvPr id="1036" name="Google Shape;1036;g3f548fae03d_1_255"/>
          <p:cNvSpPr txBox="1"/>
          <p:nvPr/>
        </p:nvSpPr>
        <p:spPr>
          <a:xfrm>
            <a:off x="6629420" y="3158843"/>
            <a:ext cx="48462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 LSTM autoencoder, input dimension = 128</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 Latent dimension = 4</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 Batch size = 150, Adam optimizer</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 250 epochs, 4,686 trainable parameters</a:t>
            </a:r>
            <a:br>
              <a:rPr lang="en-US" sz="1200" b="0" i="0" u="none" strike="noStrike" cap="none">
                <a:solidFill>
                  <a:srgbClr val="000000"/>
                </a:solidFill>
                <a:latin typeface="Arial"/>
                <a:ea typeface="Arial"/>
                <a:cs typeface="Arial"/>
                <a:sym typeface="Arial"/>
              </a:rPr>
            </a:br>
            <a:r>
              <a:rPr lang="en-US" sz="1200" b="0" i="0" u="none" strike="noStrike" cap="none">
                <a:solidFill>
                  <a:srgbClr val="000000"/>
                </a:solidFill>
                <a:latin typeface="Arial"/>
                <a:ea typeface="Arial"/>
                <a:cs typeface="Arial"/>
                <a:sym typeface="Arial"/>
              </a:rPr>
              <a:t>• Anomaly score = reconstruction MSE</a:t>
            </a:r>
            <a:endParaRPr/>
          </a:p>
        </p:txBody>
      </p:sp>
      <p:sp>
        <p:nvSpPr>
          <p:cNvPr id="1037" name="Google Shape;1037;g3f548fae03d_1_255"/>
          <p:cNvSpPr txBox="1"/>
          <p:nvPr/>
        </p:nvSpPr>
        <p:spPr>
          <a:xfrm>
            <a:off x="868680" y="5074920"/>
            <a:ext cx="10424160" cy="32004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300" b="1" i="0" u="none" strike="noStrike" cap="none">
                <a:solidFill>
                  <a:srgbClr val="000000"/>
                </a:solidFill>
                <a:latin typeface="Arial"/>
                <a:ea typeface="Arial"/>
                <a:cs typeface="Arial"/>
                <a:sym typeface="Arial"/>
              </a:rPr>
              <a:t>The paper averages each quantum ansatz configuration over 5 executions.</a:t>
            </a:r>
            <a:endParaRPr/>
          </a:p>
        </p:txBody>
      </p:sp>
      <p:sp>
        <p:nvSpPr>
          <p:cNvPr id="1038" name="Google Shape;1038;g3f548fae03d_1_255"/>
          <p:cNvSpPr/>
          <p:nvPr/>
        </p:nvSpPr>
        <p:spPr>
          <a:xfrm>
            <a:off x="3520452" y="2917826"/>
            <a:ext cx="2788800" cy="10974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39" name="Google Shape;1039;g3f548fae03d_1_255"/>
          <p:cNvSpPr/>
          <p:nvPr/>
        </p:nvSpPr>
        <p:spPr>
          <a:xfrm>
            <a:off x="3520443" y="2917838"/>
            <a:ext cx="59400" cy="1097400"/>
          </a:xfrm>
          <a:prstGeom prst="rect">
            <a:avLst/>
          </a:prstGeom>
          <a:solidFill>
            <a:srgbClr val="317A61"/>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0" name="Google Shape;1040;g3f548fae03d_1_255"/>
          <p:cNvSpPr txBox="1"/>
          <p:nvPr/>
        </p:nvSpPr>
        <p:spPr>
          <a:xfrm>
            <a:off x="3666746" y="2990990"/>
            <a:ext cx="21030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317A61"/>
                </a:solidFill>
                <a:latin typeface="Arial"/>
                <a:ea typeface="Arial"/>
                <a:cs typeface="Arial"/>
                <a:sym typeface="Arial"/>
              </a:rPr>
              <a:t>Execution</a:t>
            </a:r>
            <a:endParaRPr/>
          </a:p>
        </p:txBody>
      </p:sp>
      <p:sp>
        <p:nvSpPr>
          <p:cNvPr id="1041" name="Google Shape;1041;g3f548fae03d_1_255"/>
          <p:cNvSpPr txBox="1"/>
          <p:nvPr/>
        </p:nvSpPr>
        <p:spPr>
          <a:xfrm>
            <a:off x="3666750" y="3265301"/>
            <a:ext cx="2642700" cy="769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000000"/>
                </a:solidFill>
                <a:latin typeface="Arial"/>
                <a:ea typeface="Arial"/>
                <a:cs typeface="Arial"/>
                <a:sym typeface="Arial"/>
              </a:rPr>
              <a:t>Qiskit 1.0.0 + Qiskit Aer 0.13.1; statevector simulator; 16 Intel Broadwell CPU cores; COBYLA optimizer.</a:t>
            </a:r>
            <a:endParaRPr sz="1100"/>
          </a:p>
        </p:txBody>
      </p:sp>
      <p:sp>
        <p:nvSpPr>
          <p:cNvPr id="3" name="Google Shape;1004;g3f548fae03d_1_189">
            <a:extLst>
              <a:ext uri="{FF2B5EF4-FFF2-40B4-BE49-F238E27FC236}">
                <a16:creationId xmlns:a16="http://schemas.microsoft.com/office/drawing/2014/main" id="{4C82326E-D5CE-1EAF-2670-9E64EFC828BE}"/>
              </a:ext>
            </a:extLst>
          </p:cNvPr>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 name="Google Shape;1005;g3f548fae03d_1_189">
            <a:extLst>
              <a:ext uri="{FF2B5EF4-FFF2-40B4-BE49-F238E27FC236}">
                <a16:creationId xmlns:a16="http://schemas.microsoft.com/office/drawing/2014/main" id="{072A851E-65B1-57BA-6B2B-5B6ED8F6644F}"/>
              </a:ext>
            </a:extLst>
          </p:cNvPr>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9" name="Google Shape;1007;g3f548fae03d_1_189">
            <a:extLst>
              <a:ext uri="{FF2B5EF4-FFF2-40B4-BE49-F238E27FC236}">
                <a16:creationId xmlns:a16="http://schemas.microsoft.com/office/drawing/2014/main" id="{509AD5A3-211B-54E8-E768-A6DC11A547A6}"/>
              </a:ext>
            </a:extLst>
          </p:cNvPr>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2</a:t>
            </a:r>
            <a:r>
              <a:rPr lang="en-US" altLang="zh-TW" sz="1000" b="1" i="0" u="none" strike="noStrike" cap="none" dirty="0">
                <a:solidFill>
                  <a:srgbClr val="06507A"/>
                </a:solidFill>
                <a:latin typeface="Arial"/>
                <a:ea typeface="Arial"/>
                <a:cs typeface="Arial"/>
                <a:sym typeface="Arial"/>
              </a:rPr>
              <a:t>4</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g3f548fae03d_1_327"/>
          <p:cNvSpPr/>
          <p:nvPr/>
        </p:nvSpPr>
        <p:spPr>
          <a:xfrm>
            <a:off x="338328" y="256032"/>
            <a:ext cx="54864"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47" name="Google Shape;1047;g3f548fae03d_1_327"/>
          <p:cNvSpPr txBox="1"/>
          <p:nvPr/>
        </p:nvSpPr>
        <p:spPr>
          <a:xfrm>
            <a:off x="448056" y="256032"/>
            <a:ext cx="9784080" cy="2011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4 · QUASI-AMPLITUDE ENCODING</a:t>
            </a:r>
            <a:endParaRPr/>
          </a:p>
        </p:txBody>
      </p:sp>
      <p:sp>
        <p:nvSpPr>
          <p:cNvPr id="1048" name="Google Shape;1048;g3f548fae03d_1_327"/>
          <p:cNvSpPr txBox="1"/>
          <p:nvPr/>
        </p:nvSpPr>
        <p:spPr>
          <a:xfrm>
            <a:off x="448056" y="429768"/>
            <a:ext cx="9784080" cy="210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Exact amplitude encoding is replaced by a shallow variational state-prep circuit</a:t>
            </a:r>
            <a:endParaRPr/>
          </a:p>
        </p:txBody>
      </p:sp>
      <p:sp>
        <p:nvSpPr>
          <p:cNvPr id="1049" name="Google Shape;1049;g3f548fae03d_1_327"/>
          <p:cNvSpPr txBox="1"/>
          <p:nvPr/>
        </p:nvSpPr>
        <p:spPr>
          <a:xfrm>
            <a:off x="338328" y="804672"/>
            <a:ext cx="11064240" cy="475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How classical windows become hardware-ready quantum circuits</a:t>
            </a:r>
            <a:endParaRPr/>
          </a:p>
        </p:txBody>
      </p:sp>
      <p:sp>
        <p:nvSpPr>
          <p:cNvPr id="1050" name="Google Shape;1050;g3f548fae03d_1_327"/>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1" name="Google Shape;1051;g3f548fae03d_1_327"/>
          <p:cNvSpPr txBox="1"/>
          <p:nvPr/>
        </p:nvSpPr>
        <p:spPr>
          <a:xfrm>
            <a:off x="685800" y="4297680"/>
            <a:ext cx="5212080" cy="2560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5276"/>
                </a:solidFill>
                <a:latin typeface="Arial"/>
                <a:ea typeface="Arial"/>
                <a:cs typeface="Arial"/>
                <a:sym typeface="Arial"/>
              </a:rPr>
              <a:t>Quasi-encoding procedure</a:t>
            </a:r>
            <a:endParaRPr/>
          </a:p>
        </p:txBody>
      </p:sp>
      <p:sp>
        <p:nvSpPr>
          <p:cNvPr id="1052" name="Google Shape;1052;g3f548fae03d_1_327"/>
          <p:cNvSpPr txBox="1"/>
          <p:nvPr/>
        </p:nvSpPr>
        <p:spPr>
          <a:xfrm>
            <a:off x="868680" y="4572000"/>
            <a:ext cx="5486400" cy="1143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80" b="0" i="0" u="none" strike="noStrike" cap="none">
                <a:solidFill>
                  <a:srgbClr val="000000"/>
                </a:solidFill>
                <a:latin typeface="Arial"/>
                <a:ea typeface="Arial"/>
                <a:cs typeface="Arial"/>
                <a:sym typeface="Arial"/>
              </a:rPr>
              <a:t>1. Target state: exact amplitude-encoded |ϕᵢ⟩</a:t>
            </a:r>
            <a:br>
              <a:rPr lang="en-US" sz="1080" b="0" i="0" u="none" strike="noStrike" cap="none">
                <a:solidFill>
                  <a:srgbClr val="000000"/>
                </a:solidFill>
                <a:latin typeface="Arial"/>
                <a:ea typeface="Arial"/>
                <a:cs typeface="Arial"/>
                <a:sym typeface="Arial"/>
              </a:rPr>
            </a:br>
            <a:r>
              <a:rPr lang="en-US" sz="1080" b="0" i="0" u="none" strike="noStrike" cap="none">
                <a:solidFill>
                  <a:srgbClr val="000000"/>
                </a:solidFill>
                <a:latin typeface="Arial"/>
                <a:ea typeface="Arial"/>
                <a:cs typeface="Arial"/>
                <a:sym typeface="Arial"/>
              </a:rPr>
              <a:t>2. Use EfficientSU2 with 7 qubits and 2 repetitions</a:t>
            </a:r>
            <a:br>
              <a:rPr lang="en-US" sz="1080" b="0" i="0" u="none" strike="noStrike" cap="none">
                <a:solidFill>
                  <a:srgbClr val="000000"/>
                </a:solidFill>
                <a:latin typeface="Arial"/>
                <a:ea typeface="Arial"/>
                <a:cs typeface="Arial"/>
                <a:sym typeface="Arial"/>
              </a:rPr>
            </a:br>
            <a:r>
              <a:rPr lang="en-US" sz="1080" b="0" i="0" u="none" strike="noStrike" cap="none">
                <a:solidFill>
                  <a:srgbClr val="000000"/>
                </a:solidFill>
                <a:latin typeface="Arial"/>
                <a:ea typeface="Arial"/>
                <a:cs typeface="Arial"/>
                <a:sym typeface="Arial"/>
              </a:rPr>
              <a:t>3. Extract generated quantum state</a:t>
            </a:r>
            <a:br>
              <a:rPr lang="en-US" sz="1080" b="0" i="0" u="none" strike="noStrike" cap="none">
                <a:solidFill>
                  <a:srgbClr val="000000"/>
                </a:solidFill>
                <a:latin typeface="Arial"/>
                <a:ea typeface="Arial"/>
                <a:cs typeface="Arial"/>
                <a:sym typeface="Arial"/>
              </a:rPr>
            </a:br>
            <a:r>
              <a:rPr lang="en-US" sz="1080" b="0" i="0" u="none" strike="noStrike" cap="none">
                <a:solidFill>
                  <a:srgbClr val="000000"/>
                </a:solidFill>
                <a:latin typeface="Arial"/>
                <a:ea typeface="Arial"/>
                <a:cs typeface="Arial"/>
                <a:sym typeface="Arial"/>
              </a:rPr>
              <a:t>4. Compute MSE to target state</a:t>
            </a:r>
            <a:br>
              <a:rPr lang="en-US" sz="1080" b="0" i="0" u="none" strike="noStrike" cap="none">
                <a:solidFill>
                  <a:srgbClr val="000000"/>
                </a:solidFill>
                <a:latin typeface="Arial"/>
                <a:ea typeface="Arial"/>
                <a:cs typeface="Arial"/>
                <a:sym typeface="Arial"/>
              </a:rPr>
            </a:br>
            <a:r>
              <a:rPr lang="en-US" sz="1080" b="0" i="0" u="none" strike="noStrike" cap="none">
                <a:solidFill>
                  <a:srgbClr val="000000"/>
                </a:solidFill>
                <a:latin typeface="Arial"/>
                <a:ea typeface="Arial"/>
                <a:cs typeface="Arial"/>
                <a:sym typeface="Arial"/>
              </a:rPr>
              <a:t>5. SPSA updates state-prep parameters</a:t>
            </a:r>
            <a:br>
              <a:rPr lang="en-US" sz="1080" b="0" i="0" u="none" strike="noStrike" cap="none">
                <a:solidFill>
                  <a:srgbClr val="000000"/>
                </a:solidFill>
                <a:latin typeface="Arial"/>
                <a:ea typeface="Arial"/>
                <a:cs typeface="Arial"/>
                <a:sym typeface="Arial"/>
              </a:rPr>
            </a:br>
            <a:r>
              <a:rPr lang="en-US" sz="1080" b="0" i="0" u="none" strike="noStrike" cap="none">
                <a:solidFill>
                  <a:srgbClr val="000000"/>
                </a:solidFill>
                <a:latin typeface="Arial"/>
                <a:ea typeface="Arial"/>
                <a:cs typeface="Arial"/>
                <a:sym typeface="Arial"/>
              </a:rPr>
              <a:t>6. Repeat 100 trials per window and keep the lowest-MSE circuit</a:t>
            </a:r>
            <a:endParaRPr/>
          </a:p>
        </p:txBody>
      </p:sp>
      <p:sp>
        <p:nvSpPr>
          <p:cNvPr id="1053" name="Google Shape;1053;g3f548fae03d_1_327"/>
          <p:cNvSpPr txBox="1"/>
          <p:nvPr/>
        </p:nvSpPr>
        <p:spPr>
          <a:xfrm>
            <a:off x="6572625" y="3834339"/>
            <a:ext cx="4480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5276"/>
                </a:solidFill>
                <a:latin typeface="Arial"/>
                <a:ea typeface="Arial"/>
                <a:cs typeface="Arial"/>
                <a:sym typeface="Arial"/>
              </a:rPr>
              <a:t>Two parameter sets must not be confused</a:t>
            </a:r>
            <a:endParaRPr/>
          </a:p>
        </p:txBody>
      </p:sp>
      <p:sp>
        <p:nvSpPr>
          <p:cNvPr id="1054" name="Google Shape;1054;g3f548fae03d_1_327"/>
          <p:cNvSpPr/>
          <p:nvPr/>
        </p:nvSpPr>
        <p:spPr>
          <a:xfrm>
            <a:off x="6572625" y="4200100"/>
            <a:ext cx="4572000" cy="8175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5" name="Google Shape;1055;g3f548fae03d_1_327"/>
          <p:cNvSpPr/>
          <p:nvPr/>
        </p:nvSpPr>
        <p:spPr>
          <a:xfrm>
            <a:off x="6572625" y="4200100"/>
            <a:ext cx="59400" cy="81750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6" name="Google Shape;1056;g3f548fae03d_1_327"/>
          <p:cNvSpPr txBox="1"/>
          <p:nvPr/>
        </p:nvSpPr>
        <p:spPr>
          <a:xfrm>
            <a:off x="6718929" y="4287292"/>
            <a:ext cx="43434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Input-specific αᵢ</a:t>
            </a:r>
            <a:endParaRPr/>
          </a:p>
        </p:txBody>
      </p:sp>
      <p:sp>
        <p:nvSpPr>
          <p:cNvPr id="1057" name="Google Shape;1057;g3f548fae03d_1_327"/>
          <p:cNvSpPr txBox="1"/>
          <p:nvPr/>
        </p:nvSpPr>
        <p:spPr>
          <a:xfrm>
            <a:off x="6718929" y="4614260"/>
            <a:ext cx="43434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69" b="0" i="0" u="none" strike="noStrike" cap="none">
                <a:solidFill>
                  <a:srgbClr val="000000"/>
                </a:solidFill>
                <a:latin typeface="Arial"/>
                <a:ea typeface="Arial"/>
                <a:cs typeface="Arial"/>
                <a:sym typeface="Arial"/>
              </a:rPr>
              <a:t>EfficientSU2 parameters encode one particular window; fixed during QAE training.</a:t>
            </a:r>
            <a:endParaRPr/>
          </a:p>
        </p:txBody>
      </p:sp>
      <p:sp>
        <p:nvSpPr>
          <p:cNvPr id="1058" name="Google Shape;1058;g3f548fae03d_1_327"/>
          <p:cNvSpPr/>
          <p:nvPr/>
        </p:nvSpPr>
        <p:spPr>
          <a:xfrm>
            <a:off x="6572625" y="5181005"/>
            <a:ext cx="4572000" cy="8175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59" name="Google Shape;1059;g3f548fae03d_1_327"/>
          <p:cNvSpPr/>
          <p:nvPr/>
        </p:nvSpPr>
        <p:spPr>
          <a:xfrm>
            <a:off x="6572625" y="5181005"/>
            <a:ext cx="59400" cy="8175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0" name="Google Shape;1060;g3f548fae03d_1_327"/>
          <p:cNvSpPr txBox="1"/>
          <p:nvPr/>
        </p:nvSpPr>
        <p:spPr>
          <a:xfrm>
            <a:off x="6718929" y="5268196"/>
            <a:ext cx="43434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Model parameters θ</a:t>
            </a:r>
            <a:endParaRPr/>
          </a:p>
        </p:txBody>
      </p:sp>
      <p:sp>
        <p:nvSpPr>
          <p:cNvPr id="1061" name="Google Shape;1061;g3f548fae03d_1_327"/>
          <p:cNvSpPr txBox="1"/>
          <p:nvPr/>
        </p:nvSpPr>
        <p:spPr>
          <a:xfrm>
            <a:off x="6718929" y="5595164"/>
            <a:ext cx="4343400" cy="39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69" b="0" i="0" u="none" strike="noStrike" cap="none">
                <a:solidFill>
                  <a:srgbClr val="000000"/>
                </a:solidFill>
                <a:latin typeface="Arial"/>
                <a:ea typeface="Arial"/>
                <a:cs typeface="Arial"/>
                <a:sym typeface="Arial"/>
              </a:rPr>
              <a:t>PauliTwoDesign QAE encoder parameters are shared and optimized during training.</a:t>
            </a:r>
            <a:endParaRPr/>
          </a:p>
        </p:txBody>
      </p:sp>
      <p:pic>
        <p:nvPicPr>
          <p:cNvPr id="1062" name="Google Shape;1062;g3f548fae03d_1_327" descr="quasi_fit.png"/>
          <p:cNvPicPr preferRelativeResize="0"/>
          <p:nvPr/>
        </p:nvPicPr>
        <p:blipFill rotWithShape="1">
          <a:blip r:embed="rId3">
            <a:alphaModFix/>
          </a:blip>
          <a:srcRect/>
          <a:stretch/>
        </p:blipFill>
        <p:spPr>
          <a:xfrm>
            <a:off x="676656" y="3383280"/>
            <a:ext cx="5577840" cy="548640"/>
          </a:xfrm>
          <a:prstGeom prst="rect">
            <a:avLst/>
          </a:prstGeom>
          <a:noFill/>
          <a:ln>
            <a:noFill/>
          </a:ln>
        </p:spPr>
      </p:pic>
      <p:pic>
        <p:nvPicPr>
          <p:cNvPr id="1063" name="Google Shape;1063;g3f548fae03d_1_327"/>
          <p:cNvPicPr preferRelativeResize="0"/>
          <p:nvPr/>
        </p:nvPicPr>
        <p:blipFill>
          <a:blip r:embed="rId4">
            <a:alphaModFix/>
          </a:blip>
          <a:stretch>
            <a:fillRect/>
          </a:stretch>
        </p:blipFill>
        <p:spPr>
          <a:xfrm>
            <a:off x="152400" y="1432560"/>
            <a:ext cx="6420221" cy="1798320"/>
          </a:xfrm>
          <a:prstGeom prst="rect">
            <a:avLst/>
          </a:prstGeom>
          <a:noFill/>
          <a:ln>
            <a:noFill/>
          </a:ln>
        </p:spPr>
      </p:pic>
      <p:pic>
        <p:nvPicPr>
          <p:cNvPr id="1064" name="Google Shape;1064;g3f548fae03d_1_327"/>
          <p:cNvPicPr preferRelativeResize="0"/>
          <p:nvPr/>
        </p:nvPicPr>
        <p:blipFill>
          <a:blip r:embed="rId5">
            <a:alphaModFix/>
          </a:blip>
          <a:stretch>
            <a:fillRect/>
          </a:stretch>
        </p:blipFill>
        <p:spPr>
          <a:xfrm>
            <a:off x="6725021" y="1432560"/>
            <a:ext cx="3288460" cy="2392679"/>
          </a:xfrm>
          <a:prstGeom prst="rect">
            <a:avLst/>
          </a:prstGeom>
          <a:noFill/>
          <a:ln>
            <a:noFill/>
          </a:ln>
        </p:spPr>
      </p:pic>
      <p:sp>
        <p:nvSpPr>
          <p:cNvPr id="1065" name="Google Shape;1065;g3f548fae03d_1_327"/>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6" name="Google Shape;1066;g3f548fae03d_1_327"/>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1068" name="Google Shape;1068;g3f548fae03d_1_327"/>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2</a:t>
            </a:r>
            <a:r>
              <a:rPr lang="en-US" altLang="zh-TW" sz="1000" b="1" i="0" u="none" strike="noStrike" cap="none" dirty="0">
                <a:solidFill>
                  <a:srgbClr val="06507A"/>
                </a:solidFill>
                <a:latin typeface="Arial"/>
                <a:ea typeface="Arial"/>
                <a:cs typeface="Arial"/>
                <a:sym typeface="Arial"/>
              </a:rPr>
              <a:t>5</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3f548fae03d_1_358"/>
          <p:cNvSpPr/>
          <p:nvPr/>
        </p:nvSpPr>
        <p:spPr>
          <a:xfrm>
            <a:off x="338328" y="256032"/>
            <a:ext cx="54864"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4" name="Google Shape;1074;g3f548fae03d_1_358"/>
          <p:cNvSpPr txBox="1"/>
          <p:nvPr/>
        </p:nvSpPr>
        <p:spPr>
          <a:xfrm>
            <a:off x="448056" y="256032"/>
            <a:ext cx="9784080" cy="2011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4 · TRAINING</a:t>
            </a:r>
            <a:endParaRPr/>
          </a:p>
        </p:txBody>
      </p:sp>
      <p:sp>
        <p:nvSpPr>
          <p:cNvPr id="1075" name="Google Shape;1075;g3f548fae03d_1_358"/>
          <p:cNvSpPr txBox="1"/>
          <p:nvPr/>
        </p:nvSpPr>
        <p:spPr>
          <a:xfrm>
            <a:off x="448056" y="429768"/>
            <a:ext cx="9784080" cy="210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What is trained after the data are encoded?</a:t>
            </a:r>
            <a:endParaRPr/>
          </a:p>
        </p:txBody>
      </p:sp>
      <p:sp>
        <p:nvSpPr>
          <p:cNvPr id="1076" name="Google Shape;1076;g3f548fae03d_1_358"/>
          <p:cNvSpPr txBox="1"/>
          <p:nvPr/>
        </p:nvSpPr>
        <p:spPr>
          <a:xfrm>
            <a:off x="338328" y="804672"/>
            <a:ext cx="11064240" cy="475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QAE encoder training loop and optimizer</a:t>
            </a:r>
            <a:endParaRPr/>
          </a:p>
        </p:txBody>
      </p:sp>
      <p:sp>
        <p:nvSpPr>
          <p:cNvPr id="1077" name="Google Shape;1077;g3f548fae03d_1_358"/>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78" name="Google Shape;1078;g3f548fae03d_1_358"/>
          <p:cNvSpPr txBox="1"/>
          <p:nvPr/>
        </p:nvSpPr>
        <p:spPr>
          <a:xfrm>
            <a:off x="594360" y="1371600"/>
            <a:ext cx="6400800" cy="32004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5276"/>
                </a:solidFill>
                <a:latin typeface="Arial"/>
                <a:ea typeface="Arial"/>
                <a:cs typeface="Arial"/>
                <a:sym typeface="Arial"/>
              </a:rPr>
              <a:t>The model trains the encoder ansatz parameters θ</a:t>
            </a:r>
            <a:endParaRPr/>
          </a:p>
        </p:txBody>
      </p:sp>
      <p:sp>
        <p:nvSpPr>
          <p:cNvPr id="1079" name="Google Shape;1079;g3f548fae03d_1_358"/>
          <p:cNvSpPr/>
          <p:nvPr/>
        </p:nvSpPr>
        <p:spPr>
          <a:xfrm>
            <a:off x="2445658" y="1871331"/>
            <a:ext cx="6849600" cy="1944900"/>
          </a:xfrm>
          <a:prstGeom prst="roundRect">
            <a:avLst>
              <a:gd name="adj" fmla="val 16667"/>
            </a:avLst>
          </a:prstGeom>
          <a:solidFill>
            <a:srgbClr val="F8F5EF"/>
          </a:solidFill>
          <a:ln w="23500" cap="flat" cmpd="sng">
            <a:solidFill>
              <a:srgbClr val="DCDCDC"/>
            </a:solidFill>
            <a:prstDash val="solid"/>
            <a:round/>
            <a:headEnd type="none" w="sm" len="sm"/>
            <a:tailEnd type="none" w="sm" len="sm"/>
          </a:ln>
          <a:effectLst>
            <a:outerShdw blurRad="73986" dist="42542" dir="5400000" rotWithShape="0">
              <a:srgbClr val="000000">
                <a:alpha val="34902"/>
              </a:srgbClr>
            </a:outerShdw>
          </a:effectLst>
        </p:spPr>
        <p:txBody>
          <a:bodyPr spcFirstLastPara="1" wrap="square" lIns="169100" tIns="84525" rIns="169100" bIns="84525" anchor="ctr" anchorCtr="0">
            <a:noAutofit/>
          </a:bodyPr>
          <a:lstStyle/>
          <a:p>
            <a:pPr marL="0" marR="0" lvl="0" indent="0" algn="ctr" rtl="0">
              <a:lnSpc>
                <a:spcPct val="100000"/>
              </a:lnSpc>
              <a:spcBef>
                <a:spcPts val="0"/>
              </a:spcBef>
              <a:spcAft>
                <a:spcPts val="0"/>
              </a:spcAft>
              <a:buNone/>
            </a:pPr>
            <a:endParaRPr sz="2590" b="0" i="0" u="none" strike="noStrike" cap="none">
              <a:solidFill>
                <a:srgbClr val="000000"/>
              </a:solidFill>
              <a:latin typeface="Arial"/>
              <a:ea typeface="Arial"/>
              <a:cs typeface="Arial"/>
              <a:sym typeface="Arial"/>
            </a:endParaRPr>
          </a:p>
        </p:txBody>
      </p:sp>
      <p:sp>
        <p:nvSpPr>
          <p:cNvPr id="1080" name="Google Shape;1080;g3f548fae03d_1_358"/>
          <p:cNvSpPr/>
          <p:nvPr/>
        </p:nvSpPr>
        <p:spPr>
          <a:xfrm>
            <a:off x="2445658" y="1871331"/>
            <a:ext cx="109800" cy="1944900"/>
          </a:xfrm>
          <a:prstGeom prst="rect">
            <a:avLst/>
          </a:prstGeom>
          <a:solidFill>
            <a:srgbClr val="F05519"/>
          </a:solidFill>
          <a:ln>
            <a:noFill/>
          </a:ln>
          <a:effectLst>
            <a:outerShdw blurRad="73986" dist="42542" dir="5400000" rotWithShape="0">
              <a:srgbClr val="000000">
                <a:alpha val="34902"/>
              </a:srgbClr>
            </a:outerShdw>
          </a:effectLst>
        </p:spPr>
        <p:txBody>
          <a:bodyPr spcFirstLastPara="1" wrap="square" lIns="169100" tIns="84525" rIns="169100" bIns="84525" anchor="ctr" anchorCtr="0">
            <a:noAutofit/>
          </a:bodyPr>
          <a:lstStyle/>
          <a:p>
            <a:pPr marL="0" marR="0" lvl="0" indent="0" algn="ctr" rtl="0">
              <a:lnSpc>
                <a:spcPct val="100000"/>
              </a:lnSpc>
              <a:spcBef>
                <a:spcPts val="0"/>
              </a:spcBef>
              <a:spcAft>
                <a:spcPts val="0"/>
              </a:spcAft>
              <a:buNone/>
            </a:pPr>
            <a:endParaRPr sz="2590" b="0" i="0" u="none" strike="noStrike" cap="none">
              <a:solidFill>
                <a:srgbClr val="000000"/>
              </a:solidFill>
              <a:latin typeface="Arial"/>
              <a:ea typeface="Arial"/>
              <a:cs typeface="Arial"/>
              <a:sym typeface="Arial"/>
            </a:endParaRPr>
          </a:p>
        </p:txBody>
      </p:sp>
      <p:sp>
        <p:nvSpPr>
          <p:cNvPr id="1081" name="Google Shape;1081;g3f548fae03d_1_358"/>
          <p:cNvSpPr txBox="1"/>
          <p:nvPr/>
        </p:nvSpPr>
        <p:spPr>
          <a:xfrm>
            <a:off x="2716268" y="2006636"/>
            <a:ext cx="6426900" cy="512400"/>
          </a:xfrm>
          <a:prstGeom prst="rect">
            <a:avLst/>
          </a:prstGeom>
          <a:noFill/>
          <a:ln>
            <a:noFill/>
          </a:ln>
        </p:spPr>
        <p:txBody>
          <a:bodyPr spcFirstLastPara="1" wrap="square" lIns="169100" tIns="84525" rIns="169100" bIns="84525" anchor="t" anchorCtr="0">
            <a:spAutoFit/>
          </a:bodyPr>
          <a:lstStyle/>
          <a:p>
            <a:pPr marL="0" marR="0" lvl="0" indent="0" algn="l" rtl="0">
              <a:lnSpc>
                <a:spcPct val="100000"/>
              </a:lnSpc>
              <a:spcBef>
                <a:spcPts val="0"/>
              </a:spcBef>
              <a:spcAft>
                <a:spcPts val="0"/>
              </a:spcAft>
              <a:buNone/>
            </a:pPr>
            <a:r>
              <a:rPr lang="en-US" sz="2220" b="1" i="0" u="none" strike="noStrike" cap="none">
                <a:solidFill>
                  <a:srgbClr val="F05519"/>
                </a:solidFill>
                <a:latin typeface="Arial"/>
                <a:ea typeface="Arial"/>
                <a:cs typeface="Arial"/>
                <a:sym typeface="Arial"/>
              </a:rPr>
              <a:t>Optimizer</a:t>
            </a:r>
            <a:endParaRPr sz="2590"/>
          </a:p>
        </p:txBody>
      </p:sp>
      <p:sp>
        <p:nvSpPr>
          <p:cNvPr id="1082" name="Google Shape;1082;g3f548fae03d_1_358"/>
          <p:cNvSpPr txBox="1"/>
          <p:nvPr/>
        </p:nvSpPr>
        <p:spPr>
          <a:xfrm>
            <a:off x="2716268" y="2514031"/>
            <a:ext cx="6426900" cy="825600"/>
          </a:xfrm>
          <a:prstGeom prst="rect">
            <a:avLst/>
          </a:prstGeom>
          <a:noFill/>
          <a:ln>
            <a:noFill/>
          </a:ln>
        </p:spPr>
        <p:txBody>
          <a:bodyPr spcFirstLastPara="1" wrap="square" lIns="169100" tIns="84525" rIns="169100" bIns="84525" anchor="t" anchorCtr="0">
            <a:spAutoFit/>
          </a:bodyPr>
          <a:lstStyle/>
          <a:p>
            <a:pPr marL="0" marR="0" lvl="0" indent="0" algn="l" rtl="0">
              <a:lnSpc>
                <a:spcPct val="100000"/>
              </a:lnSpc>
              <a:spcBef>
                <a:spcPts val="0"/>
              </a:spcBef>
              <a:spcAft>
                <a:spcPts val="0"/>
              </a:spcAft>
              <a:buNone/>
            </a:pPr>
            <a:r>
              <a:rPr lang="en-US" sz="2127" b="0" i="0" u="none" strike="noStrike" cap="none">
                <a:solidFill>
                  <a:srgbClr val="000000"/>
                </a:solidFill>
                <a:latin typeface="Arial"/>
                <a:ea typeface="Arial"/>
                <a:cs typeface="Arial"/>
                <a:sym typeface="Arial"/>
              </a:rPr>
              <a:t>This paper uses COBYLA with default parameters, not gradient descent. COBYLA is derivative-free.</a:t>
            </a:r>
            <a:endParaRPr sz="2590"/>
          </a:p>
        </p:txBody>
      </p:sp>
      <p:sp>
        <p:nvSpPr>
          <p:cNvPr id="1083" name="Google Shape;1083;g3f548fae03d_1_358"/>
          <p:cNvSpPr txBox="1"/>
          <p:nvPr/>
        </p:nvSpPr>
        <p:spPr>
          <a:xfrm>
            <a:off x="731520" y="4297680"/>
            <a:ext cx="4937760" cy="274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5276"/>
                </a:solidFill>
                <a:latin typeface="Arial"/>
                <a:ea typeface="Arial"/>
                <a:cs typeface="Arial"/>
                <a:sym typeface="Arial"/>
              </a:rPr>
              <a:t>Training objective</a:t>
            </a:r>
            <a:endParaRPr/>
          </a:p>
        </p:txBody>
      </p:sp>
      <p:sp>
        <p:nvSpPr>
          <p:cNvPr id="1084" name="Google Shape;1084;g3f548fae03d_1_358"/>
          <p:cNvSpPr txBox="1"/>
          <p:nvPr/>
        </p:nvSpPr>
        <p:spPr>
          <a:xfrm>
            <a:off x="914400" y="4663440"/>
            <a:ext cx="4846320" cy="68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Minimize the probability that the Swap-Test ancilla is measured as 1.</a:t>
            </a:r>
            <a:endParaRPr/>
          </a:p>
        </p:txBody>
      </p:sp>
      <p:sp>
        <p:nvSpPr>
          <p:cNvPr id="1085" name="Google Shape;1085;g3f548fae03d_1_358"/>
          <p:cNvSpPr txBox="1"/>
          <p:nvPr/>
        </p:nvSpPr>
        <p:spPr>
          <a:xfrm>
            <a:off x="6172200" y="4297680"/>
            <a:ext cx="4937760" cy="274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5276"/>
                </a:solidFill>
                <a:latin typeface="Arial"/>
                <a:ea typeface="Arial"/>
                <a:cs typeface="Arial"/>
                <a:sym typeface="Arial"/>
              </a:rPr>
              <a:t>Hardware-specific settings</a:t>
            </a:r>
            <a:endParaRPr/>
          </a:p>
        </p:txBody>
      </p:sp>
      <p:sp>
        <p:nvSpPr>
          <p:cNvPr id="1086" name="Google Shape;1086;g3f548fae03d_1_358"/>
          <p:cNvSpPr txBox="1"/>
          <p:nvPr/>
        </p:nvSpPr>
        <p:spPr>
          <a:xfrm>
            <a:off x="6355080" y="4663440"/>
            <a:ext cx="4754880" cy="68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Arial"/>
                <a:ea typeface="Arial"/>
                <a:cs typeface="Arial"/>
                <a:sym typeface="Arial"/>
              </a:rPr>
              <a:t>Dataset 54; 150 training windows; PauliTwoDesign with 2 repetitions; 21 trainable parameters; 45 epochs; 8,192 shots on IBM Torino.</a:t>
            </a:r>
            <a:endParaRPr/>
          </a:p>
        </p:txBody>
      </p:sp>
      <p:pic>
        <p:nvPicPr>
          <p:cNvPr id="1087" name="Google Shape;1087;g3f548fae03d_1_358" descr="swap_loss.png"/>
          <p:cNvPicPr preferRelativeResize="0"/>
          <p:nvPr/>
        </p:nvPicPr>
        <p:blipFill rotWithShape="1">
          <a:blip r:embed="rId3">
            <a:alphaModFix/>
          </a:blip>
          <a:srcRect/>
          <a:stretch/>
        </p:blipFill>
        <p:spPr>
          <a:xfrm>
            <a:off x="896112" y="5230368"/>
            <a:ext cx="4846320" cy="502920"/>
          </a:xfrm>
          <a:prstGeom prst="rect">
            <a:avLst/>
          </a:prstGeom>
          <a:noFill/>
          <a:ln>
            <a:noFill/>
          </a:ln>
        </p:spPr>
      </p:pic>
      <p:sp>
        <p:nvSpPr>
          <p:cNvPr id="1088" name="Google Shape;1088;g3f548fae03d_1_358"/>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9" name="Google Shape;1089;g3f548fae03d_1_358"/>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1091" name="Google Shape;1091;g3f548fae03d_1_358"/>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2</a:t>
            </a:r>
            <a:r>
              <a:rPr lang="en-US" altLang="zh-TW" sz="1000" b="1" i="0" u="none" strike="noStrike" cap="none" dirty="0">
                <a:solidFill>
                  <a:srgbClr val="06507A"/>
                </a:solidFill>
                <a:latin typeface="Arial"/>
                <a:ea typeface="Arial"/>
                <a:cs typeface="Arial"/>
                <a:sym typeface="Arial"/>
              </a:rPr>
              <a:t>6</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g3f548fae03d_1_448"/>
          <p:cNvSpPr/>
          <p:nvPr/>
        </p:nvSpPr>
        <p:spPr>
          <a:xfrm>
            <a:off x="338328" y="256032"/>
            <a:ext cx="54864"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97" name="Google Shape;1097;g3f548fae03d_1_448"/>
          <p:cNvSpPr txBox="1"/>
          <p:nvPr/>
        </p:nvSpPr>
        <p:spPr>
          <a:xfrm>
            <a:off x="448056" y="256032"/>
            <a:ext cx="9784080" cy="2011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5 · RESULTS</a:t>
            </a:r>
            <a:endParaRPr/>
          </a:p>
        </p:txBody>
      </p:sp>
      <p:sp>
        <p:nvSpPr>
          <p:cNvPr id="1098" name="Google Shape;1098;g3f548fae03d_1_448"/>
          <p:cNvSpPr txBox="1"/>
          <p:nvPr/>
        </p:nvSpPr>
        <p:spPr>
          <a:xfrm>
            <a:off x="448056" y="429768"/>
            <a:ext cx="9784080" cy="210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Simulation experiment: six UCR datasets</a:t>
            </a:r>
            <a:endParaRPr/>
          </a:p>
        </p:txBody>
      </p:sp>
      <p:sp>
        <p:nvSpPr>
          <p:cNvPr id="1099" name="Google Shape;1099;g3f548fae03d_1_448"/>
          <p:cNvSpPr txBox="1"/>
          <p:nvPr/>
        </p:nvSpPr>
        <p:spPr>
          <a:xfrm>
            <a:off x="338328" y="804672"/>
            <a:ext cx="11064240" cy="475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Detection performance across ansätze and datasets</a:t>
            </a:r>
            <a:endParaRPr/>
          </a:p>
        </p:txBody>
      </p:sp>
      <p:sp>
        <p:nvSpPr>
          <p:cNvPr id="1100" name="Google Shape;1100;g3f548fae03d_1_448"/>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1" name="Google Shape;1101;g3f548fae03d_1_448"/>
          <p:cNvSpPr/>
          <p:nvPr/>
        </p:nvSpPr>
        <p:spPr>
          <a:xfrm>
            <a:off x="384575" y="4846325"/>
            <a:ext cx="3948300" cy="7497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2" name="Google Shape;1102;g3f548fae03d_1_448"/>
          <p:cNvSpPr/>
          <p:nvPr/>
        </p:nvSpPr>
        <p:spPr>
          <a:xfrm>
            <a:off x="384575" y="4846325"/>
            <a:ext cx="64800" cy="74970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3" name="Google Shape;1103;g3f548fae03d_1_448"/>
          <p:cNvSpPr txBox="1"/>
          <p:nvPr/>
        </p:nvSpPr>
        <p:spPr>
          <a:xfrm>
            <a:off x="544499" y="4919478"/>
            <a:ext cx="36984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Key claim</a:t>
            </a:r>
            <a:endParaRPr/>
          </a:p>
        </p:txBody>
      </p:sp>
      <p:sp>
        <p:nvSpPr>
          <p:cNvPr id="1104" name="Google Shape;1104;g3f548fae03d_1_448"/>
          <p:cNvSpPr txBox="1"/>
          <p:nvPr/>
        </p:nvSpPr>
        <p:spPr>
          <a:xfrm>
            <a:off x="544499" y="5193800"/>
            <a:ext cx="3698400" cy="415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For each dataset, at least one QAE configuration outperforms the LSTM baseline.</a:t>
            </a:r>
            <a:endParaRPr/>
          </a:p>
        </p:txBody>
      </p:sp>
      <p:sp>
        <p:nvSpPr>
          <p:cNvPr id="1105" name="Google Shape;1105;g3f548fae03d_1_448"/>
          <p:cNvSpPr/>
          <p:nvPr/>
        </p:nvSpPr>
        <p:spPr>
          <a:xfrm>
            <a:off x="4582581" y="4846325"/>
            <a:ext cx="3948300" cy="7497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6" name="Google Shape;1106;g3f548fae03d_1_448"/>
          <p:cNvSpPr/>
          <p:nvPr/>
        </p:nvSpPr>
        <p:spPr>
          <a:xfrm>
            <a:off x="4582581" y="4846325"/>
            <a:ext cx="64800" cy="7497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7" name="Google Shape;1107;g3f548fae03d_1_448"/>
          <p:cNvSpPr txBox="1"/>
          <p:nvPr/>
        </p:nvSpPr>
        <p:spPr>
          <a:xfrm>
            <a:off x="4742505" y="4919478"/>
            <a:ext cx="36984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Important nuance</a:t>
            </a:r>
            <a:endParaRPr/>
          </a:p>
        </p:txBody>
      </p:sp>
      <p:sp>
        <p:nvSpPr>
          <p:cNvPr id="1108" name="Google Shape;1108;g3f548fae03d_1_448"/>
          <p:cNvSpPr txBox="1"/>
          <p:nvPr/>
        </p:nvSpPr>
        <p:spPr>
          <a:xfrm>
            <a:off x="4742505" y="5193800"/>
            <a:ext cx="3698400" cy="415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Not every ansatz works; many settings fail, especially on datasets 28 and 99.</a:t>
            </a:r>
            <a:endParaRPr/>
          </a:p>
        </p:txBody>
      </p:sp>
      <p:sp>
        <p:nvSpPr>
          <p:cNvPr id="1109" name="Google Shape;1109;g3f548fae03d_1_448"/>
          <p:cNvSpPr/>
          <p:nvPr/>
        </p:nvSpPr>
        <p:spPr>
          <a:xfrm>
            <a:off x="8780586" y="4846325"/>
            <a:ext cx="3148500" cy="7497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0" name="Google Shape;1110;g3f548fae03d_1_448"/>
          <p:cNvSpPr/>
          <p:nvPr/>
        </p:nvSpPr>
        <p:spPr>
          <a:xfrm>
            <a:off x="8780586" y="4846325"/>
            <a:ext cx="64800" cy="749700"/>
          </a:xfrm>
          <a:prstGeom prst="rect">
            <a:avLst/>
          </a:prstGeom>
          <a:solidFill>
            <a:srgbClr val="317A6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1" name="Google Shape;1111;g3f548fae03d_1_448"/>
          <p:cNvSpPr txBox="1"/>
          <p:nvPr/>
        </p:nvSpPr>
        <p:spPr>
          <a:xfrm>
            <a:off x="8940510" y="4919478"/>
            <a:ext cx="28986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317A61"/>
                </a:solidFill>
                <a:latin typeface="Arial"/>
                <a:ea typeface="Arial"/>
                <a:cs typeface="Arial"/>
                <a:sym typeface="Arial"/>
              </a:rPr>
              <a:t>Parameter efficiency</a:t>
            </a:r>
            <a:endParaRPr/>
          </a:p>
        </p:txBody>
      </p:sp>
      <p:sp>
        <p:nvSpPr>
          <p:cNvPr id="1112" name="Google Shape;1112;g3f548fae03d_1_448"/>
          <p:cNvSpPr txBox="1"/>
          <p:nvPr/>
        </p:nvSpPr>
        <p:spPr>
          <a:xfrm>
            <a:off x="8870558" y="5180525"/>
            <a:ext cx="3460500" cy="415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QAE: 21–77 parameters; </a:t>
            </a:r>
            <a:r>
              <a:rPr lang="en-US" sz="1050">
                <a:solidFill>
                  <a:schemeClr val="dk1"/>
                </a:solidFill>
              </a:rPr>
              <a:t>45 iterations, 250 epochs.</a:t>
            </a:r>
            <a:endParaRPr>
              <a:solidFill>
                <a:schemeClr val="dk1"/>
              </a:solidFill>
            </a:endParaRPr>
          </a:p>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baseline: 4,686 parameters; QAE uses </a:t>
            </a:r>
            <a:endParaRPr/>
          </a:p>
        </p:txBody>
      </p:sp>
      <p:sp>
        <p:nvSpPr>
          <p:cNvPr id="1113" name="Google Shape;1113;g3f548fae03d_1_448"/>
          <p:cNvSpPr txBox="1"/>
          <p:nvPr/>
        </p:nvSpPr>
        <p:spPr>
          <a:xfrm>
            <a:off x="640080" y="5779008"/>
            <a:ext cx="1078992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80" b="0" i="0" u="none" strike="noStrike" cap="none">
                <a:solidFill>
                  <a:srgbClr val="5F5F5F"/>
                </a:solidFill>
                <a:latin typeface="Arial"/>
                <a:ea typeface="Arial"/>
                <a:cs typeface="Arial"/>
                <a:sym typeface="Arial"/>
              </a:rPr>
              <a:t>Fig. 4 shows the six datasets. Fig. 11 compares average detection rates for MSE-based and Swap-based methods against the baseline.</a:t>
            </a:r>
            <a:endParaRPr/>
          </a:p>
        </p:txBody>
      </p:sp>
      <p:pic>
        <p:nvPicPr>
          <p:cNvPr id="1114" name="Google Shape;1114;g3f548fae03d_1_448"/>
          <p:cNvPicPr preferRelativeResize="0"/>
          <p:nvPr/>
        </p:nvPicPr>
        <p:blipFill>
          <a:blip r:embed="rId3">
            <a:alphaModFix/>
          </a:blip>
          <a:stretch>
            <a:fillRect/>
          </a:stretch>
        </p:blipFill>
        <p:spPr>
          <a:xfrm>
            <a:off x="3003575" y="1432560"/>
            <a:ext cx="6062922" cy="3261360"/>
          </a:xfrm>
          <a:prstGeom prst="rect">
            <a:avLst/>
          </a:prstGeom>
          <a:noFill/>
          <a:ln>
            <a:noFill/>
          </a:ln>
        </p:spPr>
      </p:pic>
      <p:sp>
        <p:nvSpPr>
          <p:cNvPr id="1115" name="Google Shape;1115;g3f548fae03d_1_448"/>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6" name="Google Shape;1116;g3f548fae03d_1_448"/>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1118" name="Google Shape;1118;g3f548fae03d_1_448"/>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2</a:t>
            </a:r>
            <a:r>
              <a:rPr lang="en-US" altLang="zh-TW" sz="1000" b="1" i="0" u="none" strike="noStrike" cap="none" dirty="0">
                <a:solidFill>
                  <a:srgbClr val="06507A"/>
                </a:solidFill>
                <a:latin typeface="Arial"/>
                <a:ea typeface="Arial"/>
                <a:cs typeface="Arial"/>
                <a:sym typeface="Arial"/>
              </a:rPr>
              <a:t>7</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g3f548fae03d_1_480"/>
          <p:cNvSpPr/>
          <p:nvPr/>
        </p:nvSpPr>
        <p:spPr>
          <a:xfrm>
            <a:off x="338328" y="256032"/>
            <a:ext cx="54864"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4" name="Google Shape;1124;g3f548fae03d_1_480"/>
          <p:cNvSpPr txBox="1"/>
          <p:nvPr/>
        </p:nvSpPr>
        <p:spPr>
          <a:xfrm>
            <a:off x="448056" y="256032"/>
            <a:ext cx="9784080" cy="2011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5 · RESULTS</a:t>
            </a:r>
            <a:endParaRPr/>
          </a:p>
        </p:txBody>
      </p:sp>
      <p:sp>
        <p:nvSpPr>
          <p:cNvPr id="1125" name="Google Shape;1125;g3f548fae03d_1_480"/>
          <p:cNvSpPr txBox="1"/>
          <p:nvPr/>
        </p:nvSpPr>
        <p:spPr>
          <a:xfrm>
            <a:off x="448056" y="429768"/>
            <a:ext cx="9784080" cy="210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Why the score and ansatz matter</a:t>
            </a:r>
            <a:endParaRPr/>
          </a:p>
        </p:txBody>
      </p:sp>
      <p:sp>
        <p:nvSpPr>
          <p:cNvPr id="1126" name="Google Shape;1126;g3f548fae03d_1_480"/>
          <p:cNvSpPr txBox="1"/>
          <p:nvPr/>
        </p:nvSpPr>
        <p:spPr>
          <a:xfrm>
            <a:off x="338328" y="804672"/>
            <a:ext cx="11064240" cy="475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Swap-Test vs. MSE and training complexity</a:t>
            </a:r>
            <a:endParaRPr/>
          </a:p>
        </p:txBody>
      </p:sp>
      <p:sp>
        <p:nvSpPr>
          <p:cNvPr id="1127" name="Google Shape;1127;g3f548fae03d_1_480"/>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8" name="Google Shape;1128;g3f548fae03d_1_480"/>
          <p:cNvSpPr/>
          <p:nvPr/>
        </p:nvSpPr>
        <p:spPr>
          <a:xfrm>
            <a:off x="678225" y="4125955"/>
            <a:ext cx="3337500" cy="9144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29" name="Google Shape;1129;g3f548fae03d_1_480"/>
          <p:cNvSpPr/>
          <p:nvPr/>
        </p:nvSpPr>
        <p:spPr>
          <a:xfrm>
            <a:off x="678225" y="4125955"/>
            <a:ext cx="59400" cy="91440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0" name="Google Shape;1130;g3f548fae03d_1_480"/>
          <p:cNvSpPr txBox="1"/>
          <p:nvPr/>
        </p:nvSpPr>
        <p:spPr>
          <a:xfrm>
            <a:off x="824529" y="4199107"/>
            <a:ext cx="31089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Swap-Test strength</a:t>
            </a:r>
            <a:endParaRPr/>
          </a:p>
        </p:txBody>
      </p:sp>
      <p:sp>
        <p:nvSpPr>
          <p:cNvPr id="1131" name="Google Shape;1131;g3f548fae03d_1_480"/>
          <p:cNvSpPr txBox="1"/>
          <p:nvPr/>
        </p:nvSpPr>
        <p:spPr>
          <a:xfrm>
            <a:off x="824529" y="4473427"/>
            <a:ext cx="3108900" cy="57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More robust at higher training loss; especially helpful when anomalies are subtle and reconstruction noise is misleading.</a:t>
            </a:r>
            <a:endParaRPr/>
          </a:p>
        </p:txBody>
      </p:sp>
      <p:sp>
        <p:nvSpPr>
          <p:cNvPr id="1132" name="Google Shape;1132;g3f548fae03d_1_480"/>
          <p:cNvSpPr/>
          <p:nvPr/>
        </p:nvSpPr>
        <p:spPr>
          <a:xfrm>
            <a:off x="4335825" y="4125955"/>
            <a:ext cx="3337500" cy="9144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3" name="Google Shape;1133;g3f548fae03d_1_480"/>
          <p:cNvSpPr/>
          <p:nvPr/>
        </p:nvSpPr>
        <p:spPr>
          <a:xfrm>
            <a:off x="4335825" y="4125955"/>
            <a:ext cx="59400" cy="91440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4" name="Google Shape;1134;g3f548fae03d_1_480"/>
          <p:cNvSpPr txBox="1"/>
          <p:nvPr/>
        </p:nvSpPr>
        <p:spPr>
          <a:xfrm>
            <a:off x="4482129" y="4199107"/>
            <a:ext cx="31089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MSE strength</a:t>
            </a:r>
            <a:endParaRPr/>
          </a:p>
        </p:txBody>
      </p:sp>
      <p:sp>
        <p:nvSpPr>
          <p:cNvPr id="1135" name="Google Shape;1135;g3f548fae03d_1_480"/>
          <p:cNvSpPr txBox="1"/>
          <p:nvPr/>
        </p:nvSpPr>
        <p:spPr>
          <a:xfrm>
            <a:off x="4482129" y="4473427"/>
            <a:ext cx="3108900" cy="57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Can be better at very low loss, but requires extremely accurate reconstruction of all 128 values.</a:t>
            </a:r>
            <a:endParaRPr/>
          </a:p>
        </p:txBody>
      </p:sp>
      <p:sp>
        <p:nvSpPr>
          <p:cNvPr id="1136" name="Google Shape;1136;g3f548fae03d_1_480"/>
          <p:cNvSpPr/>
          <p:nvPr/>
        </p:nvSpPr>
        <p:spPr>
          <a:xfrm>
            <a:off x="7993425" y="4125955"/>
            <a:ext cx="3154800" cy="91440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7" name="Google Shape;1137;g3f548fae03d_1_480"/>
          <p:cNvSpPr/>
          <p:nvPr/>
        </p:nvSpPr>
        <p:spPr>
          <a:xfrm>
            <a:off x="7993425" y="4125955"/>
            <a:ext cx="59400" cy="914400"/>
          </a:xfrm>
          <a:prstGeom prst="rect">
            <a:avLst/>
          </a:prstGeom>
          <a:solidFill>
            <a:srgbClr val="317A6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38" name="Google Shape;1138;g3f548fae03d_1_480"/>
          <p:cNvSpPr txBox="1"/>
          <p:nvPr/>
        </p:nvSpPr>
        <p:spPr>
          <a:xfrm>
            <a:off x="8139729" y="4199107"/>
            <a:ext cx="29262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317A61"/>
                </a:solidFill>
                <a:latin typeface="Arial"/>
                <a:ea typeface="Arial"/>
                <a:cs typeface="Arial"/>
                <a:sym typeface="Arial"/>
              </a:rPr>
              <a:t>Ansatz complexity</a:t>
            </a:r>
            <a:endParaRPr/>
          </a:p>
        </p:txBody>
      </p:sp>
      <p:sp>
        <p:nvSpPr>
          <p:cNvPr id="1139" name="Google Shape;1139;g3f548fae03d_1_480"/>
          <p:cNvSpPr txBox="1"/>
          <p:nvPr/>
        </p:nvSpPr>
        <p:spPr>
          <a:xfrm>
            <a:off x="8139729" y="4473427"/>
            <a:ext cx="2926200" cy="57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000000"/>
                </a:solidFill>
                <a:latin typeface="Arial"/>
                <a:ea typeface="Arial"/>
                <a:cs typeface="Arial"/>
                <a:sym typeface="Arial"/>
              </a:rPr>
              <a:t>More parameters often increase training loss with COBYLA; PauliTwoDesign remains more stable.</a:t>
            </a:r>
            <a:endParaRPr/>
          </a:p>
        </p:txBody>
      </p:sp>
      <p:sp>
        <p:nvSpPr>
          <p:cNvPr id="1140" name="Google Shape;1140;g3f548fae03d_1_480"/>
          <p:cNvSpPr txBox="1"/>
          <p:nvPr/>
        </p:nvSpPr>
        <p:spPr>
          <a:xfrm>
            <a:off x="723945" y="5314675"/>
            <a:ext cx="10789800" cy="269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150" b="1" i="0" u="none" strike="noStrike" cap="none">
                <a:solidFill>
                  <a:srgbClr val="000000"/>
                </a:solidFill>
                <a:latin typeface="Arial"/>
                <a:ea typeface="Arial"/>
                <a:cs typeface="Arial"/>
                <a:sym typeface="Arial"/>
              </a:rPr>
              <a:t>The paper’s practical message: ansatz selection and scoring method are not secondary details—they determine whether the QAE detects anomalies.</a:t>
            </a:r>
            <a:endParaRPr/>
          </a:p>
        </p:txBody>
      </p:sp>
      <p:pic>
        <p:nvPicPr>
          <p:cNvPr id="1141" name="Google Shape;1141;g3f548fae03d_1_480"/>
          <p:cNvPicPr preferRelativeResize="0"/>
          <p:nvPr/>
        </p:nvPicPr>
        <p:blipFill>
          <a:blip r:embed="rId3">
            <a:alphaModFix/>
          </a:blip>
          <a:stretch>
            <a:fillRect/>
          </a:stretch>
        </p:blipFill>
        <p:spPr>
          <a:xfrm>
            <a:off x="393200" y="1398550"/>
            <a:ext cx="5687346" cy="2362662"/>
          </a:xfrm>
          <a:prstGeom prst="rect">
            <a:avLst/>
          </a:prstGeom>
          <a:noFill/>
          <a:ln>
            <a:noFill/>
          </a:ln>
        </p:spPr>
      </p:pic>
      <p:pic>
        <p:nvPicPr>
          <p:cNvPr id="1142" name="Google Shape;1142;g3f548fae03d_1_480"/>
          <p:cNvPicPr preferRelativeResize="0"/>
          <p:nvPr/>
        </p:nvPicPr>
        <p:blipFill>
          <a:blip r:embed="rId4">
            <a:alphaModFix/>
          </a:blip>
          <a:stretch>
            <a:fillRect/>
          </a:stretch>
        </p:blipFill>
        <p:spPr>
          <a:xfrm>
            <a:off x="6080550" y="1280150"/>
            <a:ext cx="5959720" cy="2481050"/>
          </a:xfrm>
          <a:prstGeom prst="rect">
            <a:avLst/>
          </a:prstGeom>
          <a:noFill/>
          <a:ln>
            <a:noFill/>
          </a:ln>
        </p:spPr>
      </p:pic>
      <p:sp>
        <p:nvSpPr>
          <p:cNvPr id="1143" name="Google Shape;1143;g3f548fae03d_1_480"/>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4" name="Google Shape;1144;g3f548fae03d_1_480"/>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1146" name="Google Shape;1146;g3f548fae03d_1_480"/>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2</a:t>
            </a:r>
            <a:r>
              <a:rPr lang="en-US" altLang="zh-TW" sz="1000" b="1" i="0" u="none" strike="noStrike" cap="none" dirty="0">
                <a:solidFill>
                  <a:srgbClr val="06507A"/>
                </a:solidFill>
                <a:latin typeface="Arial"/>
                <a:ea typeface="Arial"/>
                <a:cs typeface="Arial"/>
                <a:sym typeface="Arial"/>
              </a:rPr>
              <a:t>8</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g3f548fae03d_1_547"/>
          <p:cNvSpPr/>
          <p:nvPr/>
        </p:nvSpPr>
        <p:spPr>
          <a:xfrm>
            <a:off x="338328" y="256032"/>
            <a:ext cx="54864" cy="384048"/>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2" name="Google Shape;1152;g3f548fae03d_1_547"/>
          <p:cNvSpPr txBox="1"/>
          <p:nvPr/>
        </p:nvSpPr>
        <p:spPr>
          <a:xfrm>
            <a:off x="448056" y="256032"/>
            <a:ext cx="9784080" cy="20116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1" i="0" u="none" strike="noStrike" cap="none">
                <a:solidFill>
                  <a:srgbClr val="005276"/>
                </a:solidFill>
                <a:latin typeface="Arial"/>
                <a:ea typeface="Arial"/>
                <a:cs typeface="Arial"/>
                <a:sym typeface="Arial"/>
              </a:rPr>
              <a:t>5 · RESULTS</a:t>
            </a:r>
            <a:endParaRPr/>
          </a:p>
        </p:txBody>
      </p:sp>
      <p:sp>
        <p:nvSpPr>
          <p:cNvPr id="1153" name="Google Shape;1153;g3f548fae03d_1_547"/>
          <p:cNvSpPr txBox="1"/>
          <p:nvPr/>
        </p:nvSpPr>
        <p:spPr>
          <a:xfrm>
            <a:off x="448056" y="429768"/>
            <a:ext cx="9784080" cy="2103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F5F5F"/>
                </a:solidFill>
                <a:latin typeface="Arial"/>
                <a:ea typeface="Arial"/>
                <a:cs typeface="Arial"/>
                <a:sym typeface="Arial"/>
              </a:rPr>
              <a:t>Runtime, cost, and practical limitations</a:t>
            </a:r>
            <a:endParaRPr/>
          </a:p>
        </p:txBody>
      </p:sp>
      <p:sp>
        <p:nvSpPr>
          <p:cNvPr id="1154" name="Google Shape;1154;g3f548fae03d_1_547"/>
          <p:cNvSpPr txBox="1"/>
          <p:nvPr/>
        </p:nvSpPr>
        <p:spPr>
          <a:xfrm>
            <a:off x="338328" y="804672"/>
            <a:ext cx="11064240" cy="4754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Execution cost on real quantum hardware</a:t>
            </a:r>
            <a:endParaRPr/>
          </a:p>
        </p:txBody>
      </p:sp>
      <p:sp>
        <p:nvSpPr>
          <p:cNvPr id="1155" name="Google Shape;1155;g3f548fae03d_1_547"/>
          <p:cNvSpPr/>
          <p:nvPr/>
        </p:nvSpPr>
        <p:spPr>
          <a:xfrm>
            <a:off x="338328" y="1170432"/>
            <a:ext cx="11064240" cy="27432"/>
          </a:xfrm>
          <a:prstGeom prst="rect">
            <a:avLst/>
          </a:prstGeom>
          <a:solidFill>
            <a:srgbClr val="DCDCDC"/>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6" name="Google Shape;1156;g3f548fae03d_1_547"/>
          <p:cNvSpPr/>
          <p:nvPr/>
        </p:nvSpPr>
        <p:spPr>
          <a:xfrm>
            <a:off x="6720840" y="1325880"/>
            <a:ext cx="4526280" cy="86868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7" name="Google Shape;1157;g3f548fae03d_1_547"/>
          <p:cNvSpPr/>
          <p:nvPr/>
        </p:nvSpPr>
        <p:spPr>
          <a:xfrm>
            <a:off x="6720840" y="1325880"/>
            <a:ext cx="59436" cy="86868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58" name="Google Shape;1158;g3f548fae03d_1_547"/>
          <p:cNvSpPr txBox="1"/>
          <p:nvPr/>
        </p:nvSpPr>
        <p:spPr>
          <a:xfrm>
            <a:off x="6867144" y="1399032"/>
            <a:ext cx="429768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Per-epoch time</a:t>
            </a:r>
            <a:endParaRPr/>
          </a:p>
        </p:txBody>
      </p:sp>
      <p:sp>
        <p:nvSpPr>
          <p:cNvPr id="1159" name="Google Shape;1159;g3f548fae03d_1_547"/>
          <p:cNvSpPr txBox="1"/>
          <p:nvPr/>
        </p:nvSpPr>
        <p:spPr>
          <a:xfrm>
            <a:off x="6867144" y="1673352"/>
            <a:ext cx="4297680" cy="4571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80" b="0" i="0" u="none" strike="noStrike" cap="none">
                <a:solidFill>
                  <a:srgbClr val="000000"/>
                </a:solidFill>
                <a:latin typeface="Arial"/>
                <a:ea typeface="Arial"/>
                <a:cs typeface="Arial"/>
                <a:sym typeface="Arial"/>
              </a:rPr>
              <a:t>Each epoch required ≈7 min of quantum computing time and ≈11 min elapsed time.</a:t>
            </a:r>
            <a:endParaRPr/>
          </a:p>
        </p:txBody>
      </p:sp>
      <p:sp>
        <p:nvSpPr>
          <p:cNvPr id="1160" name="Google Shape;1160;g3f548fae03d_1_547"/>
          <p:cNvSpPr/>
          <p:nvPr/>
        </p:nvSpPr>
        <p:spPr>
          <a:xfrm>
            <a:off x="6720840" y="2395728"/>
            <a:ext cx="4526280" cy="86868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1" name="Google Shape;1161;g3f548fae03d_1_547"/>
          <p:cNvSpPr/>
          <p:nvPr/>
        </p:nvSpPr>
        <p:spPr>
          <a:xfrm>
            <a:off x="6720840" y="2395728"/>
            <a:ext cx="59436" cy="868680"/>
          </a:xfrm>
          <a:prstGeom prst="rect">
            <a:avLst/>
          </a:prstGeom>
          <a:solidFill>
            <a:srgbClr val="F0551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2" name="Google Shape;1162;g3f548fae03d_1_547"/>
          <p:cNvSpPr txBox="1"/>
          <p:nvPr/>
        </p:nvSpPr>
        <p:spPr>
          <a:xfrm>
            <a:off x="6867144" y="2468880"/>
            <a:ext cx="429768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F05519"/>
                </a:solidFill>
                <a:latin typeface="Arial"/>
                <a:ea typeface="Arial"/>
                <a:cs typeface="Arial"/>
                <a:sym typeface="Arial"/>
              </a:rPr>
              <a:t>Per experiment</a:t>
            </a:r>
            <a:endParaRPr/>
          </a:p>
        </p:txBody>
      </p:sp>
      <p:sp>
        <p:nvSpPr>
          <p:cNvPr id="1163" name="Google Shape;1163;g3f548fae03d_1_547"/>
          <p:cNvSpPr txBox="1"/>
          <p:nvPr/>
        </p:nvSpPr>
        <p:spPr>
          <a:xfrm>
            <a:off x="6867144" y="2743200"/>
            <a:ext cx="4297680" cy="4571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80" b="0" i="0" u="none" strike="noStrike" cap="none">
                <a:solidFill>
                  <a:srgbClr val="000000"/>
                </a:solidFill>
                <a:latin typeface="Arial"/>
                <a:ea typeface="Arial"/>
                <a:cs typeface="Arial"/>
                <a:sym typeface="Arial"/>
              </a:rPr>
              <a:t>One real-hardware experiment consumed ≈5.25 h quantum time and took ≈8.25 h to complete.</a:t>
            </a:r>
            <a:endParaRPr/>
          </a:p>
        </p:txBody>
      </p:sp>
      <p:sp>
        <p:nvSpPr>
          <p:cNvPr id="1164" name="Google Shape;1164;g3f548fae03d_1_547"/>
          <p:cNvSpPr/>
          <p:nvPr/>
        </p:nvSpPr>
        <p:spPr>
          <a:xfrm>
            <a:off x="6720840" y="3465576"/>
            <a:ext cx="4526280" cy="86868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5" name="Google Shape;1165;g3f548fae03d_1_547"/>
          <p:cNvSpPr/>
          <p:nvPr/>
        </p:nvSpPr>
        <p:spPr>
          <a:xfrm>
            <a:off x="6720840" y="3465576"/>
            <a:ext cx="59436" cy="868680"/>
          </a:xfrm>
          <a:prstGeom prst="rect">
            <a:avLst/>
          </a:prstGeom>
          <a:solidFill>
            <a:srgbClr val="317A6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6" name="Google Shape;1166;g3f548fae03d_1_547"/>
          <p:cNvSpPr txBox="1"/>
          <p:nvPr/>
        </p:nvSpPr>
        <p:spPr>
          <a:xfrm>
            <a:off x="6867144" y="3538728"/>
            <a:ext cx="429768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317A61"/>
                </a:solidFill>
                <a:latin typeface="Arial"/>
                <a:ea typeface="Arial"/>
                <a:cs typeface="Arial"/>
                <a:sym typeface="Arial"/>
              </a:rPr>
              <a:t>Total study cost</a:t>
            </a:r>
            <a:endParaRPr/>
          </a:p>
        </p:txBody>
      </p:sp>
      <p:sp>
        <p:nvSpPr>
          <p:cNvPr id="1167" name="Google Shape;1167;g3f548fae03d_1_547"/>
          <p:cNvSpPr txBox="1"/>
          <p:nvPr/>
        </p:nvSpPr>
        <p:spPr>
          <a:xfrm>
            <a:off x="6867144" y="3813048"/>
            <a:ext cx="4297680" cy="4571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80" b="0" i="0" u="none" strike="noStrike" cap="none">
                <a:solidFill>
                  <a:srgbClr val="000000"/>
                </a:solidFill>
                <a:latin typeface="Arial"/>
                <a:ea typeface="Arial"/>
                <a:cs typeface="Arial"/>
                <a:sym typeface="Arial"/>
              </a:rPr>
              <a:t>The study used ≈21 h quantum computing time; pay-as-you-go estimate: $120,960.</a:t>
            </a:r>
            <a:endParaRPr/>
          </a:p>
        </p:txBody>
      </p:sp>
      <p:sp>
        <p:nvSpPr>
          <p:cNvPr id="1168" name="Google Shape;1168;g3f548fae03d_1_547"/>
          <p:cNvSpPr/>
          <p:nvPr/>
        </p:nvSpPr>
        <p:spPr>
          <a:xfrm>
            <a:off x="6720840" y="4535424"/>
            <a:ext cx="4526280" cy="868680"/>
          </a:xfrm>
          <a:prstGeom prst="roundRect">
            <a:avLst>
              <a:gd name="adj" fmla="val 16667"/>
            </a:avLst>
          </a:prstGeom>
          <a:solidFill>
            <a:srgbClr val="F8F5EF"/>
          </a:solidFill>
          <a:ln w="12700" cap="flat" cmpd="sng">
            <a:solidFill>
              <a:srgbClr val="DCDCDC"/>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69" name="Google Shape;1169;g3f548fae03d_1_547"/>
          <p:cNvSpPr/>
          <p:nvPr/>
        </p:nvSpPr>
        <p:spPr>
          <a:xfrm>
            <a:off x="6720840" y="4535424"/>
            <a:ext cx="59436" cy="868680"/>
          </a:xfrm>
          <a:prstGeom prst="rect">
            <a:avLst/>
          </a:prstGeom>
          <a:solidFill>
            <a:srgbClr val="005276"/>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0" name="Google Shape;1170;g3f548fae03d_1_547"/>
          <p:cNvSpPr txBox="1"/>
          <p:nvPr/>
        </p:nvSpPr>
        <p:spPr>
          <a:xfrm>
            <a:off x="6867144" y="4608576"/>
            <a:ext cx="4297680" cy="22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005276"/>
                </a:solidFill>
                <a:latin typeface="Arial"/>
                <a:ea typeface="Arial"/>
                <a:cs typeface="Arial"/>
                <a:sym typeface="Arial"/>
              </a:rPr>
              <a:t>Interpretation</a:t>
            </a:r>
            <a:endParaRPr/>
          </a:p>
        </p:txBody>
      </p:sp>
      <p:sp>
        <p:nvSpPr>
          <p:cNvPr id="1171" name="Google Shape;1171;g3f548fae03d_1_547"/>
          <p:cNvSpPr txBox="1"/>
          <p:nvPr/>
        </p:nvSpPr>
        <p:spPr>
          <a:xfrm>
            <a:off x="6867144" y="4882896"/>
            <a:ext cx="4297680" cy="4571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80" b="0" i="0" u="none" strike="noStrike" cap="none">
                <a:solidFill>
                  <a:srgbClr val="000000"/>
                </a:solidFill>
                <a:latin typeface="Arial"/>
                <a:ea typeface="Arial"/>
                <a:cs typeface="Arial"/>
                <a:sym typeface="Arial"/>
              </a:rPr>
              <a:t>QAE uses fewer parameters, but current hardware execution is still expensive and not faster in practice.</a:t>
            </a:r>
            <a:endParaRPr/>
          </a:p>
        </p:txBody>
      </p:sp>
      <p:sp>
        <p:nvSpPr>
          <p:cNvPr id="1172" name="Google Shape;1172;g3f548fae03d_1_547"/>
          <p:cNvSpPr txBox="1"/>
          <p:nvPr/>
        </p:nvSpPr>
        <p:spPr>
          <a:xfrm>
            <a:off x="685800" y="5715000"/>
            <a:ext cx="10515600" cy="274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0" u="none" strike="noStrike" cap="none">
                <a:solidFill>
                  <a:srgbClr val="5F5F5F"/>
                </a:solidFill>
                <a:latin typeface="Arial"/>
                <a:ea typeface="Arial"/>
                <a:cs typeface="Arial"/>
                <a:sym typeface="Arial"/>
              </a:rPr>
              <a:t>Fig. 16 compares training loss on IBM Torino and the statevector simulator. Simulator loss falls faster; hardware loss is noisier but still converges.</a:t>
            </a:r>
            <a:endParaRPr/>
          </a:p>
        </p:txBody>
      </p:sp>
      <p:pic>
        <p:nvPicPr>
          <p:cNvPr id="1173" name="Google Shape;1173;g3f548fae03d_1_547"/>
          <p:cNvPicPr preferRelativeResize="0"/>
          <p:nvPr/>
        </p:nvPicPr>
        <p:blipFill>
          <a:blip r:embed="rId3">
            <a:alphaModFix/>
          </a:blip>
          <a:stretch>
            <a:fillRect/>
          </a:stretch>
        </p:blipFill>
        <p:spPr>
          <a:xfrm>
            <a:off x="152400" y="1432560"/>
            <a:ext cx="6416040" cy="3757209"/>
          </a:xfrm>
          <a:prstGeom prst="rect">
            <a:avLst/>
          </a:prstGeom>
          <a:noFill/>
          <a:ln>
            <a:noFill/>
          </a:ln>
        </p:spPr>
      </p:pic>
      <p:sp>
        <p:nvSpPr>
          <p:cNvPr id="1174" name="Google Shape;1174;g3f548fae03d_1_547"/>
          <p:cNvSpPr/>
          <p:nvPr/>
        </p:nvSpPr>
        <p:spPr>
          <a:xfrm>
            <a:off x="0" y="6007608"/>
            <a:ext cx="12191700" cy="109800"/>
          </a:xfrm>
          <a:prstGeom prst="rect">
            <a:avLst/>
          </a:prstGeom>
          <a:solidFill>
            <a:srgbClr val="06507A"/>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5" name="Google Shape;1175;g3f548fae03d_1_547"/>
          <p:cNvSpPr txBox="1"/>
          <p:nvPr/>
        </p:nvSpPr>
        <p:spPr>
          <a:xfrm>
            <a:off x="347472" y="6190488"/>
            <a:ext cx="2469000" cy="193800"/>
          </a:xfrm>
          <a:prstGeom prst="rect">
            <a:avLst/>
          </a:prstGeom>
          <a:noFill/>
          <a:ln>
            <a:noFill/>
          </a:ln>
        </p:spPr>
        <p:txBody>
          <a:bodyPr spcFirstLastPara="1" wrap="square" lIns="27425" tIns="27425" rIns="27425" bIns="27425" anchor="t" anchorCtr="0">
            <a:spAutoFit/>
          </a:bodyPr>
          <a:lstStyle/>
          <a:p>
            <a:pPr marL="0" marR="0" lvl="0" indent="0" algn="l" rtl="0">
              <a:lnSpc>
                <a:spcPct val="105000"/>
              </a:lnSpc>
              <a:spcBef>
                <a:spcPts val="0"/>
              </a:spcBef>
              <a:spcAft>
                <a:spcPts val="0"/>
              </a:spcAft>
              <a:buClr>
                <a:srgbClr val="000000"/>
              </a:buClr>
              <a:buSzPts val="900"/>
              <a:buFont typeface="Arial"/>
              <a:buNone/>
            </a:pPr>
            <a:r>
              <a:rPr lang="en-US" sz="900" b="1" i="0" u="none" strike="noStrike" cap="none">
                <a:solidFill>
                  <a:srgbClr val="06507A"/>
                </a:solidFill>
                <a:latin typeface="Arial"/>
                <a:ea typeface="Arial"/>
                <a:cs typeface="Arial"/>
                <a:sym typeface="Arial"/>
              </a:rPr>
              <a:t>MITACS Research Meeting</a:t>
            </a:r>
            <a:endParaRPr sz="1400" b="0" i="0" u="none" strike="noStrike" cap="none">
              <a:solidFill>
                <a:srgbClr val="000000"/>
              </a:solidFill>
              <a:latin typeface="Arial"/>
              <a:ea typeface="Arial"/>
              <a:cs typeface="Arial"/>
              <a:sym typeface="Arial"/>
            </a:endParaRPr>
          </a:p>
        </p:txBody>
      </p:sp>
      <p:sp>
        <p:nvSpPr>
          <p:cNvPr id="1177" name="Google Shape;1177;g3f548fae03d_1_547"/>
          <p:cNvSpPr txBox="1"/>
          <p:nvPr/>
        </p:nvSpPr>
        <p:spPr>
          <a:xfrm>
            <a:off x="10753344" y="6163056"/>
            <a:ext cx="731400" cy="216968"/>
          </a:xfrm>
          <a:prstGeom prst="rect">
            <a:avLst/>
          </a:prstGeom>
          <a:noFill/>
          <a:ln>
            <a:noFill/>
          </a:ln>
        </p:spPr>
        <p:txBody>
          <a:bodyPr spcFirstLastPara="1" wrap="square" lIns="27425" tIns="27425" rIns="27425" bIns="27425" anchor="t" anchorCtr="0">
            <a:spAutoFit/>
          </a:bodyPr>
          <a:lstStyle/>
          <a:p>
            <a:pPr marL="0" marR="0" lvl="0" indent="0" algn="r" rtl="0">
              <a:lnSpc>
                <a:spcPct val="105000"/>
              </a:lnSpc>
              <a:spcBef>
                <a:spcPts val="0"/>
              </a:spcBef>
              <a:spcAft>
                <a:spcPts val="0"/>
              </a:spcAft>
              <a:buClr>
                <a:srgbClr val="000000"/>
              </a:buClr>
              <a:buSzPts val="1000"/>
              <a:buFont typeface="Arial"/>
              <a:buNone/>
            </a:pPr>
            <a:r>
              <a:rPr lang="en-US" sz="1000" b="1" i="0" u="none" strike="noStrike" cap="none" dirty="0">
                <a:solidFill>
                  <a:srgbClr val="06507A"/>
                </a:solidFill>
                <a:latin typeface="Arial"/>
                <a:ea typeface="Arial"/>
                <a:cs typeface="Arial"/>
                <a:sym typeface="Arial"/>
              </a:rPr>
              <a:t>2</a:t>
            </a:r>
            <a:r>
              <a:rPr lang="en-US" altLang="zh-TW" sz="1000" b="1" i="0" u="none" strike="noStrike" cap="none" dirty="0">
                <a:solidFill>
                  <a:srgbClr val="06507A"/>
                </a:solidFill>
                <a:latin typeface="Arial"/>
                <a:ea typeface="Arial"/>
                <a:cs typeface="Arial"/>
                <a:sym typeface="Arial"/>
              </a:rPr>
              <a:t>9</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5772</Words>
  <Application>Microsoft Office PowerPoint</Application>
  <PresentationFormat>寬螢幕</PresentationFormat>
  <Paragraphs>651</Paragraphs>
  <Slides>31</Slides>
  <Notes>31</Notes>
  <HiddenSlides>0</HiddenSlides>
  <MMClips>0</MMClips>
  <ScaleCrop>false</ScaleCrop>
  <HeadingPairs>
    <vt:vector size="6" baseType="variant">
      <vt:variant>
        <vt:lpstr>使用字型</vt:lpstr>
      </vt:variant>
      <vt:variant>
        <vt:i4>3</vt:i4>
      </vt:variant>
      <vt:variant>
        <vt:lpstr>佈景主題</vt:lpstr>
      </vt:variant>
      <vt:variant>
        <vt:i4>2</vt:i4>
      </vt:variant>
      <vt:variant>
        <vt:lpstr>投影片標題</vt:lpstr>
      </vt:variant>
      <vt:variant>
        <vt:i4>31</vt:i4>
      </vt:variant>
    </vt:vector>
  </HeadingPairs>
  <TitlesOfParts>
    <vt:vector size="36" baseType="lpstr">
      <vt:lpstr>Cambria Math</vt:lpstr>
      <vt:lpstr>Arial</vt:lpstr>
      <vt:lpstr>Calibri</vt:lpstr>
      <vt:lpstr>Office Theme</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陳竑齊</cp:lastModifiedBy>
  <cp:revision>1</cp:revision>
  <dcterms:created xsi:type="dcterms:W3CDTF">2013-01-27T09:14:16Z</dcterms:created>
  <dcterms:modified xsi:type="dcterms:W3CDTF">2026-07-19T20:09:08Z</dcterms:modified>
</cp:coreProperties>
</file>