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itQKrqFZqb++D3u+llsC6Riqec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5649e2113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" name="Google Shape;17;g3f5649e2113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5649e2113_0_9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g3f5649e2113_0_92:notes"/>
          <p:cNvSpPr/>
          <p:nvPr>
            <p:ph idx="2" type="sldImg"/>
          </p:nvPr>
        </p:nvSpPr>
        <p:spPr>
          <a:xfrm>
            <a:off x="3810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paper is not trying to show quantum advantage. It shows that transfer learning can be moved across the classical-quantum boundary. The key for our topic is that a classical model compresses the high-dimensional image before quantum encoding.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563a9ba27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f563a9ba27_0_0:notes"/>
          <p:cNvSpPr/>
          <p:nvPr>
            <p:ph idx="2" type="sldImg"/>
          </p:nvPr>
        </p:nvSpPr>
        <p:spPr>
          <a:xfrm>
            <a:off x="3810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563a9ba27_0_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g3f563a9ba27_0_8:notes"/>
          <p:cNvSpPr/>
          <p:nvPr>
            <p:ph idx="2" type="sldImg"/>
          </p:nvPr>
        </p:nvSpPr>
        <p:spPr>
          <a:xfrm>
            <a:off x="3810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1" name="Google Shape;82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3" name="Google Shape;85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f5649e2113_0_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f5649e2113_0_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f5649e2113_0_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5649e2113_0_0"/>
          <p:cNvSpPr/>
          <p:nvPr/>
        </p:nvSpPr>
        <p:spPr>
          <a:xfrm>
            <a:off x="7360920" y="822960"/>
            <a:ext cx="4480500" cy="3108900"/>
          </a:xfrm>
          <a:prstGeom prst="roundRect">
            <a:avLst>
              <a:gd fmla="val 16667" name="adj"/>
            </a:avLst>
          </a:prstGeom>
          <a:solidFill>
            <a:srgbClr val="E8F2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3f5649e2113_0_0"/>
          <p:cNvSpPr/>
          <p:nvPr/>
        </p:nvSpPr>
        <p:spPr>
          <a:xfrm>
            <a:off x="8869680" y="2240280"/>
            <a:ext cx="2834700" cy="2743200"/>
          </a:xfrm>
          <a:prstGeom prst="roundRect">
            <a:avLst>
              <a:gd fmla="val 16667" name="adj"/>
            </a:avLst>
          </a:prstGeom>
          <a:solidFill>
            <a:srgbClr val="FEEE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f5649e2113_0_0"/>
          <p:cNvSpPr/>
          <p:nvPr/>
        </p:nvSpPr>
        <p:spPr>
          <a:xfrm>
            <a:off x="566923" y="2405563"/>
            <a:ext cx="86400" cy="2412600"/>
          </a:xfrm>
          <a:prstGeom prst="rect">
            <a:avLst/>
          </a:prstGeom>
          <a:solidFill>
            <a:srgbClr val="F055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5649e2113_0_0"/>
          <p:cNvSpPr txBox="1"/>
          <p:nvPr/>
        </p:nvSpPr>
        <p:spPr>
          <a:xfrm>
            <a:off x="566928" y="329184"/>
            <a:ext cx="5394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6507A"/>
                </a:solidFill>
                <a:latin typeface="Arial"/>
                <a:ea typeface="Arial"/>
                <a:cs typeface="Arial"/>
                <a:sym typeface="Arial"/>
              </a:rPr>
              <a:t>École Polytechnique de Montréal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f5649e2113_0_0"/>
          <p:cNvSpPr txBox="1"/>
          <p:nvPr/>
        </p:nvSpPr>
        <p:spPr>
          <a:xfrm>
            <a:off x="898146" y="2713615"/>
            <a:ext cx="64557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6507A"/>
                </a:solidFill>
                <a:latin typeface="Arial"/>
                <a:ea typeface="Arial"/>
                <a:cs typeface="Arial"/>
                <a:sym typeface="Arial"/>
              </a:rPr>
              <a:t>Paper Presentation</a:t>
            </a:r>
            <a:endParaRPr b="1" i="0" sz="2000" u="none" cap="none" strike="noStrike">
              <a:solidFill>
                <a:srgbClr val="0650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g3f5649e2113_0_0"/>
          <p:cNvSpPr txBox="1"/>
          <p:nvPr/>
        </p:nvSpPr>
        <p:spPr>
          <a:xfrm>
            <a:off x="763525" y="3076901"/>
            <a:ext cx="797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2026.07.20 Meeting</a:t>
            </a:r>
            <a:endParaRPr b="1" i="0" sz="48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g3f5649e2113_0_0"/>
          <p:cNvSpPr txBox="1"/>
          <p:nvPr/>
        </p:nvSpPr>
        <p:spPr>
          <a:xfrm>
            <a:off x="898153" y="4319751"/>
            <a:ext cx="6217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Participant: Justin, Anum</a:t>
            </a:r>
            <a:endParaRPr b="0" i="0" sz="16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g3f5649e2113_0_0"/>
          <p:cNvSpPr/>
          <p:nvPr/>
        </p:nvSpPr>
        <p:spPr>
          <a:xfrm>
            <a:off x="0" y="5532120"/>
            <a:ext cx="12191700" cy="1326000"/>
          </a:xfrm>
          <a:prstGeom prst="rect">
            <a:avLst/>
          </a:prstGeom>
          <a:solidFill>
            <a:srgbClr val="0650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f5649e2113_0_0"/>
          <p:cNvSpPr txBox="1"/>
          <p:nvPr/>
        </p:nvSpPr>
        <p:spPr>
          <a:xfrm>
            <a:off x="660402" y="6302696"/>
            <a:ext cx="2475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MITACS Research Meeting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f5649e2113_0_0"/>
          <p:cNvSpPr txBox="1"/>
          <p:nvPr/>
        </p:nvSpPr>
        <p:spPr>
          <a:xfrm>
            <a:off x="7256173" y="6302700"/>
            <a:ext cx="50766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Quantum Computing and Genetic Algorithms for Software Testing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5519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5649e2113_0_92"/>
          <p:cNvSpPr txBox="1"/>
          <p:nvPr/>
        </p:nvSpPr>
        <p:spPr>
          <a:xfrm>
            <a:off x="576005" y="324000"/>
            <a:ext cx="57600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f5649e2113_0_92"/>
          <p:cNvSpPr/>
          <p:nvPr/>
        </p:nvSpPr>
        <p:spPr>
          <a:xfrm>
            <a:off x="672006" y="4752000"/>
            <a:ext cx="1536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f5649e2113_0_92"/>
          <p:cNvSpPr txBox="1"/>
          <p:nvPr/>
        </p:nvSpPr>
        <p:spPr>
          <a:xfrm>
            <a:off x="672000" y="1828950"/>
            <a:ext cx="11031000" cy="3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Paper 1 · Transfer Learning in Hybrid Classical–Quantum Neural Networks</a:t>
            </a:r>
            <a:endParaRPr b="1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310900" y="167494"/>
            <a:ext cx="65700" cy="500100"/>
          </a:xfrm>
          <a:prstGeom prst="rect">
            <a:avLst/>
          </a:prstGeom>
          <a:solidFill>
            <a:srgbClr val="F45A1C"/>
          </a:solidFill>
          <a:ln cap="flat" cmpd="sng" w="1825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550" lIns="131550" spcFirstLastPara="1" rIns="131550" wrap="square" tIns="131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42467" y="197297"/>
            <a:ext cx="4868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065"/>
              <a:buFont typeface="Arial"/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 · MOTIVATION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42467" y="407803"/>
            <a:ext cx="8288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1007"/>
              <a:buFont typeface="Arial"/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Why classical pre-processing is needed</a:t>
            </a:r>
            <a:endParaRPr b="0" i="0" sz="100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57784" y="633667"/>
            <a:ext cx="113385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a mature classical network to make quantum input small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329184" y="1042416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3"/>
          <p:cNvCxnSpPr/>
          <p:nvPr/>
        </p:nvCxnSpPr>
        <p:spPr>
          <a:xfrm>
            <a:off x="0" y="6629400"/>
            <a:ext cx="12191695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3"/>
          <p:cNvSpPr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550"/>
              <a:buFont typeface="Arial"/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Transfer learning in hybrid classical-quantum neural networks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02920" y="1417320"/>
            <a:ext cx="329184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02920" y="141732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67512" y="154533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67512" y="1828800"/>
            <a:ext cx="2990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Raw images are high-dimensional, while near-term quantum devices only support a small number of stable qubits.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434840" y="1417320"/>
            <a:ext cx="329184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434840" y="1417320"/>
            <a:ext cx="54864" cy="12344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99432" y="154533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99432" y="1828800"/>
            <a:ext cx="2990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Do not encode raw pixels. First use a pre-trained classical CNN to extract informative visual features.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366760" y="1417320"/>
            <a:ext cx="329184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366760" y="141732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531352" y="154533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531352" y="1828800"/>
            <a:ext cx="2990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Demonstrate classical-to-quantum transfer learning on simulators and real NISQ processors.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aper_assets/crops/p1_transfer_fig1.png" id="62" name="Google Shape;62;p3"/>
          <p:cNvPicPr preferRelativeResize="0"/>
          <p:nvPr/>
        </p:nvPicPr>
        <p:blipFill rotWithShape="1">
          <a:blip r:embed="rId3">
            <a:alphaModFix/>
          </a:blip>
          <a:srcRect b="30469" l="0" r="0" t="0"/>
          <a:stretch/>
        </p:blipFill>
        <p:spPr>
          <a:xfrm>
            <a:off x="1005850" y="2919575"/>
            <a:ext cx="3749518" cy="25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937520" y="5467402"/>
            <a:ext cx="3886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650"/>
              <a:buFont typeface="Arial"/>
              <a:buNone/>
            </a:pPr>
            <a:r>
              <a:rPr b="0" i="1" lang="en-US" sz="12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Fig. 1: transfer-learning workflow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166360" y="3108960"/>
            <a:ext cx="6172200" cy="1965960"/>
          </a:xfrm>
          <a:prstGeom prst="roundRect">
            <a:avLst>
              <a:gd fmla="val 372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166360" y="3108960"/>
            <a:ext cx="54864" cy="196596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330952" y="3236976"/>
            <a:ext cx="5897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Task definition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330952" y="3520440"/>
            <a:ext cx="58704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pre-trained network A is truncated into a fixed feature extractor A′. A smaller trainable block B is attached for the new task. In the CQ case, B is a dressed quantum circuit.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Key idea: high-dimensional data are handled classically; the quantum circuit receives only a compact feature vector.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502920" y="1325880"/>
            <a:ext cx="3657600" cy="1600200"/>
          </a:xfrm>
          <a:prstGeom prst="roundRect">
            <a:avLst>
              <a:gd fmla="val 457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02920" y="1325880"/>
            <a:ext cx="54864" cy="160020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67512" y="145389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Pre-training source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67512" y="1737360"/>
            <a:ext cx="33558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1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ImageNet: a public dataset with 1,000 image classes. ResNet18 is first trained to recognize general visual patterns.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434840" y="1325880"/>
            <a:ext cx="3657600" cy="1600200"/>
          </a:xfrm>
          <a:prstGeom prst="roundRect">
            <a:avLst>
              <a:gd fmla="val 457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434840" y="1325880"/>
            <a:ext cx="54864" cy="160020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99432" y="145389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Target dataset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99432" y="1737360"/>
            <a:ext cx="33558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1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Hymenoptera subset: ants vs. bees. 245 training images and 153 test images. They also test restricted CIFAR-10 tasks.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366760" y="132588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366760" y="1325880"/>
            <a:ext cx="54864" cy="160020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531352" y="145389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Quantum block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531352" y="1737360"/>
            <a:ext cx="29900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1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4-qubit dressed quantum circuit: classical 512→4 layer, variational quantum circuit, and classical 4→2 layer.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77250" y="3337550"/>
            <a:ext cx="2120100" cy="580800"/>
          </a:xfrm>
          <a:prstGeom prst="roundRect">
            <a:avLst>
              <a:gd fmla="val 11111" name="adj"/>
            </a:avLst>
          </a:prstGeom>
          <a:solidFill>
            <a:srgbClr val="F2F7F9"/>
          </a:solidFill>
          <a:ln cap="flat" cmpd="sng" w="12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t/>
            </a:r>
            <a:endParaRPr b="0" i="0" sz="14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69432" y="3411296"/>
            <a:ext cx="2028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806"/>
              <a:buFont typeface="Arial"/>
              <a:buNone/>
            </a:pPr>
            <a:r>
              <a:rPr b="1" i="0" lang="en-US" sz="18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127542" y="3411296"/>
            <a:ext cx="1677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776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Raw image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127542" y="3632533"/>
            <a:ext cx="1677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5"/>
              <a:buFont typeface="Arial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RGB pixel array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054145" y="3549569"/>
            <a:ext cx="2304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A1C"/>
              </a:buClr>
              <a:buSzPts val="1311"/>
              <a:buFont typeface="Arial"/>
              <a:buNone/>
            </a:pPr>
            <a:r>
              <a:rPr b="0" i="0" lang="en-US" sz="1311" u="none" cap="none" strike="noStrike">
                <a:solidFill>
                  <a:srgbClr val="F45A1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1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404436" y="3337550"/>
            <a:ext cx="2120100" cy="580800"/>
          </a:xfrm>
          <a:prstGeom prst="roundRect">
            <a:avLst>
              <a:gd fmla="val 11111" name="adj"/>
            </a:avLst>
          </a:prstGeom>
          <a:solidFill>
            <a:srgbClr val="F2F7F9"/>
          </a:solidFill>
          <a:ln cap="flat" cmpd="sng" w="128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t/>
            </a:r>
            <a:endParaRPr b="0" i="0" sz="14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496618" y="3411296"/>
            <a:ext cx="2028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A1C"/>
              </a:buClr>
              <a:buSzPts val="806"/>
              <a:buFont typeface="Arial"/>
              <a:buNone/>
            </a:pPr>
            <a:r>
              <a:rPr b="1" i="0" lang="en-US" sz="18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754728" y="3411296"/>
            <a:ext cx="1677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A1C"/>
              </a:buClr>
              <a:buSzPts val="776"/>
              <a:buFont typeface="Arial"/>
              <a:buNone/>
            </a:pPr>
            <a:r>
              <a:rPr b="1" i="0" lang="en-US" u="none" cap="none" strike="noStrike">
                <a:solidFill>
                  <a:srgbClr val="F45A1C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754728" y="3632533"/>
            <a:ext cx="1677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5"/>
              <a:buFont typeface="Arial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512 abstract features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681331" y="3549569"/>
            <a:ext cx="2304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A1C"/>
              </a:buClr>
              <a:buSzPts val="1311"/>
              <a:buFont typeface="Arial"/>
              <a:buNone/>
            </a:pPr>
            <a:r>
              <a:rPr b="0" i="0" lang="en-US" sz="1311" u="none" cap="none" strike="noStrike">
                <a:solidFill>
                  <a:srgbClr val="F45A1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1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031622" y="3337550"/>
            <a:ext cx="2120100" cy="580800"/>
          </a:xfrm>
          <a:prstGeom prst="roundRect">
            <a:avLst>
              <a:gd fmla="val 11111" name="adj"/>
            </a:avLst>
          </a:prstGeom>
          <a:solidFill>
            <a:srgbClr val="F2F7F9"/>
          </a:solidFill>
          <a:ln cap="flat" cmpd="sng" w="12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t/>
            </a:r>
            <a:endParaRPr b="0" i="0" sz="14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123804" y="3411296"/>
            <a:ext cx="2028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806"/>
              <a:buFont typeface="Arial"/>
              <a:buNone/>
            </a:pPr>
            <a:r>
              <a:rPr b="1" i="0" lang="en-US" sz="18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381914" y="3411296"/>
            <a:ext cx="1677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776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Linear layer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381914" y="3632533"/>
            <a:ext cx="1677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5"/>
              <a:buFont typeface="Arial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512 → 4 values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308517" y="3549569"/>
            <a:ext cx="2304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A1C"/>
              </a:buClr>
              <a:buSzPts val="1311"/>
              <a:buFont typeface="Arial"/>
              <a:buNone/>
            </a:pPr>
            <a:r>
              <a:rPr b="0" i="0" lang="en-US" sz="1311" u="none" cap="none" strike="noStrike">
                <a:solidFill>
                  <a:srgbClr val="F45A1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1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658809" y="3337550"/>
            <a:ext cx="2120100" cy="580800"/>
          </a:xfrm>
          <a:prstGeom prst="roundRect">
            <a:avLst>
              <a:gd fmla="val 11111" name="adj"/>
            </a:avLst>
          </a:prstGeom>
          <a:solidFill>
            <a:srgbClr val="F2F7F9"/>
          </a:solidFill>
          <a:ln cap="flat" cmpd="sng" w="128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t/>
            </a:r>
            <a:endParaRPr b="0" i="0" sz="14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750991" y="3411296"/>
            <a:ext cx="2028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A1C"/>
              </a:buClr>
              <a:buSzPts val="806"/>
              <a:buFont typeface="Arial"/>
              <a:buNone/>
            </a:pPr>
            <a:r>
              <a:rPr b="1" i="0" lang="en-US" sz="18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009100" y="3411296"/>
            <a:ext cx="1677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A1C"/>
              </a:buClr>
              <a:buSzPts val="776"/>
              <a:buFont typeface="Arial"/>
              <a:buNone/>
            </a:pPr>
            <a:r>
              <a:rPr b="1" i="0" lang="en-US" u="none" cap="none" strike="noStrike">
                <a:solidFill>
                  <a:srgbClr val="F45A1C"/>
                </a:solidFill>
                <a:latin typeface="Arial"/>
                <a:ea typeface="Arial"/>
                <a:cs typeface="Arial"/>
                <a:sym typeface="Arial"/>
              </a:rPr>
              <a:t>VQC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9009100" y="3632533"/>
            <a:ext cx="1677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5"/>
              <a:buFont typeface="Arial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4-qubit classifier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005840" y="4754880"/>
            <a:ext cx="10149840" cy="960120"/>
          </a:xfrm>
          <a:prstGeom prst="roundRect">
            <a:avLst>
              <a:gd fmla="val 7619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05840" y="4754880"/>
            <a:ext cx="54864" cy="9601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70432" y="4882896"/>
            <a:ext cx="9875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Data meaning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170432" y="5166360"/>
            <a:ext cx="9848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four quantum inputs are not raw pixels. They are task-adapted high-level visual features learned through ResNet and a trainable classical layer.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 · DATA AND MODELS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Dataset, feature extractor, quantum block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What data do they use, and what does each model do?</a:t>
            </a:r>
            <a:endParaRPr/>
          </a:p>
        </p:txBody>
      </p:sp>
      <p:cxnSp>
        <p:nvCxnSpPr>
          <p:cNvPr id="114" name="Google Shape;114;p4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5" name="Google Shape;115;p4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6" name="Google Shape;116;p4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Transfer learning in hybrid classical-quantum neural networks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502920" y="1325880"/>
            <a:ext cx="3291840" cy="1143000"/>
          </a:xfrm>
          <a:prstGeom prst="roundRect">
            <a:avLst>
              <a:gd fmla="val 64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02920" y="1325880"/>
            <a:ext cx="54864" cy="114300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67512" y="145389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67512" y="1737360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Each sample is an image: RGB pixel intensities arranged in height × width × 3 dimensions.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886200" y="1325880"/>
            <a:ext cx="3703320" cy="1143000"/>
          </a:xfrm>
          <a:prstGeom prst="roundRect">
            <a:avLst>
              <a:gd fmla="val 64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886200" y="1325880"/>
            <a:ext cx="54864" cy="114300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050792" y="1453896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Feature extraction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050792" y="1737360"/>
            <a:ext cx="3401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Truncated ResNet18 removes the final layer and outputs a 512-dimensional feature vector.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001000" y="1325880"/>
            <a:ext cx="3520440" cy="1143000"/>
          </a:xfrm>
          <a:prstGeom prst="roundRect">
            <a:avLst>
              <a:gd fmla="val 64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001000" y="1325880"/>
            <a:ext cx="54864" cy="114300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165592" y="1453896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Compression to qubits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165592" y="1737360"/>
            <a:ext cx="32186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trainable classical layer maps 512 features to 4 numbers, matching the 4 available qubits.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14400" y="2834640"/>
            <a:ext cx="10332600" cy="1143000"/>
          </a:xfrm>
          <a:prstGeom prst="roundRect">
            <a:avLst>
              <a:gd fmla="val 8000" name="adj"/>
            </a:avLst>
          </a:prstGeom>
          <a:solidFill>
            <a:srgbClr val="F7F5F0"/>
          </a:solidFill>
          <a:ln cap="flat" cmpd="sng" w="1270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143000" y="320040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image  X  →  ResNet18 without final layer  →  h ∈ R⁵¹²  →  trainable linear layer  →  z ∈ R⁴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14400" y="4572000"/>
            <a:ext cx="4846320" cy="1097280"/>
          </a:xfrm>
          <a:prstGeom prst="roundRect">
            <a:avLst>
              <a:gd fmla="val 666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14400" y="4572000"/>
            <a:ext cx="54864" cy="109728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078992" y="47000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078992" y="4983480"/>
            <a:ext cx="4544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quantum computer only sees four learned features. This makes high-resolution image processing feasible on 4 qubits.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400800" y="4572000"/>
            <a:ext cx="4846320" cy="1097280"/>
          </a:xfrm>
          <a:prstGeom prst="roundRect">
            <a:avLst>
              <a:gd fmla="val 666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400800" y="4572000"/>
            <a:ext cx="54864" cy="109728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565392" y="47000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565392" y="4983480"/>
            <a:ext cx="4544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representation is label-driven: ResNet was trained on ImageNet labels and the last layers are optimized for classification.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 · PREPROCESSING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Classical image → usable classical feature vector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key encoding preparation happens before the quantum circuit</a:t>
            </a:r>
            <a:endParaRPr/>
          </a:p>
        </p:txBody>
      </p:sp>
      <p:cxnSp>
        <p:nvCxnSpPr>
          <p:cNvPr id="150" name="Google Shape;150;p5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1" name="Google Shape;151;p5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2" name="Google Shape;152;p5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Transfer learning in hybrid classical-quantum neural networks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502920" y="1298448"/>
            <a:ext cx="5074920" cy="1325880"/>
          </a:xfrm>
          <a:prstGeom prst="roundRect">
            <a:avLst>
              <a:gd fmla="val 551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02920" y="1298448"/>
            <a:ext cx="54864" cy="132588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67512" y="1426464"/>
            <a:ext cx="4800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Encoding formula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67512" y="1709928"/>
            <a:ext cx="47731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For z = [z₁,z₂,z₃,z₄], each feature controls one qubit: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|Φ(z)⟩ = ⊗ₖ Rᵧ(πzₖ/2)H|0⟩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080760" y="1298448"/>
            <a:ext cx="5394960" cy="1325880"/>
          </a:xfrm>
          <a:prstGeom prst="roundRect">
            <a:avLst>
              <a:gd fmla="val 551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080760" y="1298448"/>
            <a:ext cx="54864" cy="132588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245352" y="1426464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245352" y="1709928"/>
            <a:ext cx="5093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is angle encoding: one compressed classical value becomes one rotation angle on one qubit.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14400" y="3063240"/>
            <a:ext cx="2011680" cy="576072"/>
          </a:xfrm>
          <a:prstGeom prst="roundRect">
            <a:avLst>
              <a:gd fmla="val 11111" name="adj"/>
            </a:avLst>
          </a:prstGeom>
          <a:solidFill>
            <a:srgbClr val="F2F7F9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05840" y="313639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q₁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61872" y="3136392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770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z₁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261872" y="335584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0"/>
              <a:buFont typeface="Arial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Rᵧ(πz₁/2)H|0⟩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383280" y="3063240"/>
            <a:ext cx="2011680" cy="576072"/>
          </a:xfrm>
          <a:prstGeom prst="roundRect">
            <a:avLst>
              <a:gd fmla="val 11111" name="adj"/>
            </a:avLst>
          </a:prstGeom>
          <a:solidFill>
            <a:srgbClr val="F2F7F9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474720" y="313639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q₂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730752" y="3136392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770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z₂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730752" y="335584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0"/>
              <a:buFont typeface="Arial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Rᵧ(πz₂/2)H|0⟩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852160" y="3063240"/>
            <a:ext cx="2011680" cy="576072"/>
          </a:xfrm>
          <a:prstGeom prst="roundRect">
            <a:avLst>
              <a:gd fmla="val 11111" name="adj"/>
            </a:avLst>
          </a:prstGeom>
          <a:solidFill>
            <a:srgbClr val="F2F7F9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43600" y="313639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q₃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199632" y="3136392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770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z₃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199632" y="335584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0"/>
              <a:buFont typeface="Arial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Rᵧ(πz₃/2)H|0⟩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321040" y="3063240"/>
            <a:ext cx="2011680" cy="576072"/>
          </a:xfrm>
          <a:prstGeom prst="roundRect">
            <a:avLst>
              <a:gd fmla="val 11111" name="adj"/>
            </a:avLst>
          </a:prstGeom>
          <a:solidFill>
            <a:srgbClr val="F2F7F9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412480" y="313639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q₄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668512" y="3136392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770"/>
              <a:buFont typeface="Arial"/>
              <a:buNone/>
            </a:pPr>
            <a:r>
              <a:rPr b="1" i="0" lang="en-US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z₄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668512" y="335584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0"/>
              <a:buFont typeface="Arial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Rᵧ(πz₄/2)H|0⟩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14400" y="4709160"/>
            <a:ext cx="3383280" cy="1051560"/>
          </a:xfrm>
          <a:prstGeom prst="roundRect">
            <a:avLst>
              <a:gd fmla="val 695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14400" y="4709160"/>
            <a:ext cx="54864" cy="10515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078992" y="483717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VQC layer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078992" y="5120640"/>
            <a:ext cx="30815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Trainable Rᵧ rotations plus CNOT entanglement process the encoded features.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434840" y="4709160"/>
            <a:ext cx="3383280" cy="1051560"/>
          </a:xfrm>
          <a:prstGeom prst="roundRect">
            <a:avLst>
              <a:gd fmla="val 695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434840" y="4709160"/>
            <a:ext cx="54864" cy="105156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99432" y="483717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Measurement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99432" y="5120640"/>
            <a:ext cx="30815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Pauli-Z expectations are read out from the qubits as classical values.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955280" y="4709160"/>
            <a:ext cx="3383280" cy="1051560"/>
          </a:xfrm>
          <a:prstGeom prst="roundRect">
            <a:avLst>
              <a:gd fmla="val 695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7955280" y="4709160"/>
            <a:ext cx="54864" cy="10515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119872" y="483717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119872" y="5120640"/>
            <a:ext cx="30815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final classical layer maps 4 measured values to 2 class logits.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 · QUANTUM ENCODING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Compressed vector → 4-qubit state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the four features become quantum data</a:t>
            </a:r>
            <a:endParaRPr/>
          </a:p>
        </p:txBody>
      </p:sp>
      <p:cxnSp>
        <p:nvCxnSpPr>
          <p:cNvPr id="200" name="Google Shape;200;p6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1" name="Google Shape;201;p6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2" name="Google Shape;202;p6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Transfer learning in hybrid classical-quantum neural networks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502920" y="1325880"/>
            <a:ext cx="347472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02920" y="132588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67512" y="145389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67512" y="1737360"/>
            <a:ext cx="31729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Cross-entropy loss, Adam optimizer, 30 epochs for ants/bees, batch size 4, learning rate starts at 0.0004.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251960" y="1325880"/>
            <a:ext cx="347472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251960" y="1325880"/>
            <a:ext cx="54864" cy="12344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416552" y="145389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Quantum depth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416552" y="1737360"/>
            <a:ext cx="31729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ants/bees experiment uses a 4-qubit circuit with depth 6. The ResNet feature extractor is fixed.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001000" y="1325880"/>
            <a:ext cx="347472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001000" y="132588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8165592" y="145389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165592" y="1737360"/>
            <a:ext cx="31729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same trained model is executed on IBM ibmqx4 and Rigetti Aspen with 1024 shots per expectation.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aper_assets/crops/p1_hw_flow.png" id="222" name="Google Shape;222;p7"/>
          <p:cNvPicPr preferRelativeResize="0"/>
          <p:nvPr/>
        </p:nvPicPr>
        <p:blipFill rotWithShape="1">
          <a:blip r:embed="rId3">
            <a:alphaModFix/>
          </a:blip>
          <a:srcRect b="28571" l="0" r="0" t="0"/>
          <a:stretch/>
        </p:blipFill>
        <p:spPr>
          <a:xfrm>
            <a:off x="1602487" y="3024788"/>
            <a:ext cx="4293100" cy="19514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914400" y="4873752"/>
            <a:ext cx="5669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650"/>
              <a:buFont typeface="Arial"/>
              <a:buNone/>
            </a:pPr>
            <a:r>
              <a:rPr b="0" i="1" lang="en-US" sz="10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Fig. 4: ResNet + 4-qubit hardware pipeline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aper_assets/crops/p1_accuracy_table.png" id="224" name="Google Shape;224;p7"/>
          <p:cNvPicPr preferRelativeResize="0"/>
          <p:nvPr/>
        </p:nvPicPr>
        <p:blipFill rotWithShape="1">
          <a:blip r:embed="rId4">
            <a:alphaModFix/>
          </a:blip>
          <a:srcRect b="24511" l="0" r="0" t="0"/>
          <a:stretch/>
        </p:blipFill>
        <p:spPr>
          <a:xfrm>
            <a:off x="7180200" y="3066976"/>
            <a:ext cx="3744725" cy="160187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7315200" y="4873745"/>
            <a:ext cx="3474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650"/>
              <a:buFont typeface="Arial"/>
              <a:buNone/>
            </a:pPr>
            <a:r>
              <a:rPr b="0" i="1" lang="en-US" sz="100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Table 2: simulator and hardware accuracy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Experiment design: keep classical feature extraction strong, then test whether a small quantum head can be attached.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 · EXPERIMENT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Simulation and real-hardware proof of concept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they test the compressed-feature quantum model</a:t>
            </a:r>
            <a:endParaRPr/>
          </a:p>
        </p:txBody>
      </p:sp>
      <p:cxnSp>
        <p:nvCxnSpPr>
          <p:cNvPr id="232" name="Google Shape;232;p7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3" name="Google Shape;233;p7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4" name="Google Shape;234;p7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Transfer learning in hybrid classical-quantum neural networks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594360" y="1325880"/>
            <a:ext cx="3429000" cy="1508760"/>
          </a:xfrm>
          <a:prstGeom prst="roundRect">
            <a:avLst>
              <a:gd fmla="val 4848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94360" y="1325880"/>
            <a:ext cx="54864" cy="15087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5895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Main result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58952" y="1737360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Ants/bees accuracy: simulator 0.967, IBM ibmqx4 0.95, Rigetti Aspen 0.80.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389120" y="1325880"/>
            <a:ext cx="3429000" cy="1508760"/>
          </a:xfrm>
          <a:prstGeom prst="roundRect">
            <a:avLst>
              <a:gd fmla="val 4848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389120" y="1325880"/>
            <a:ext cx="54864" cy="150876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55371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Main contribution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553712" y="1737360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high-dimensional image can be reduced to 4 informative features and classified by a 4-qubit quantum circuit.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8183880" y="1325880"/>
            <a:ext cx="3429000" cy="1508760"/>
          </a:xfrm>
          <a:prstGeom prst="roundRect">
            <a:avLst>
              <a:gd fmla="val 4848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8183880" y="1325880"/>
            <a:ext cx="54864" cy="15087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834847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Main limitation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8348472" y="1737360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compression is supervised and transfer-learned; it does not test whether unseen anomaly information is preserved.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868680" y="3474720"/>
            <a:ext cx="10424160" cy="1371600"/>
          </a:xfrm>
          <a:prstGeom prst="roundRect">
            <a:avLst>
              <a:gd fmla="val 533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868680" y="3474720"/>
            <a:ext cx="54864" cy="137160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1033272" y="3602736"/>
            <a:ext cx="10149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3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Takeaway for our research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033272" y="3886200"/>
            <a:ext cx="101224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paper is a strong baseline for “classical feature extractor + quantum model.” But for anomaly detection, we need a normal-only compressor that does not collapse unknown anomalies into normal-looking features.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Known result: classical pre-processing can solve the qubit bottleneck. Open issue: does it preserve unknown anomalies?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 · RESULTS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What this paper shows for your topic</a:t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Classical compression is feasible, but not anomaly-preserving yet</a:t>
            </a:r>
            <a:endParaRPr/>
          </a:p>
        </p:txBody>
      </p:sp>
      <p:cxnSp>
        <p:nvCxnSpPr>
          <p:cNvPr id="264" name="Google Shape;264;p8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5" name="Google Shape;265;p8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6" name="Google Shape;266;p8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Transfer learning in hybrid classical-quantum neural networks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5519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563a9ba27_0_0"/>
          <p:cNvSpPr txBox="1"/>
          <p:nvPr/>
        </p:nvSpPr>
        <p:spPr>
          <a:xfrm>
            <a:off x="576005" y="324000"/>
            <a:ext cx="57600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lang="en-US" sz="3600">
                <a:solidFill>
                  <a:srgbClr val="FFFFFF"/>
                </a:solidFill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563a9ba27_0_0"/>
          <p:cNvSpPr/>
          <p:nvPr/>
        </p:nvSpPr>
        <p:spPr>
          <a:xfrm>
            <a:off x="672006" y="4752000"/>
            <a:ext cx="1536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563a9ba27_0_0"/>
          <p:cNvSpPr txBox="1"/>
          <p:nvPr/>
        </p:nvSpPr>
        <p:spPr>
          <a:xfrm>
            <a:off x="672000" y="1828950"/>
            <a:ext cx="11031000" cy="46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000">
                <a:solidFill>
                  <a:srgbClr val="FFFFFF"/>
                </a:solidFill>
              </a:rPr>
              <a:t>Paper 2 · Hybrid </a:t>
            </a:r>
            <a:r>
              <a:rPr b="1" lang="en-US" sz="6000">
                <a:solidFill>
                  <a:srgbClr val="FFFFFF"/>
                </a:solidFill>
              </a:rPr>
              <a:t>Q</a:t>
            </a:r>
            <a:r>
              <a:rPr b="1" lang="en-US" sz="6000">
                <a:solidFill>
                  <a:srgbClr val="FFFFFF"/>
                </a:solidFill>
              </a:rPr>
              <a:t>uantum Classical Classifier Based on Tensor Network and VQC</a:t>
            </a:r>
            <a:endParaRPr b="1" sz="6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6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502920" y="13258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02920" y="1325880"/>
            <a:ext cx="54864" cy="14173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6751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67512" y="1737360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High-dimensional inputs cannot be directly embedded in shallow NISQ circuits without too many qubits or too much depth.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389120" y="13258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389120" y="1325880"/>
            <a:ext cx="54864" cy="141732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55371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PCA limitation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53712" y="1737360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PCA is fixed and unsupervised: it keeps high-variance directions, not necessarily task-useful or VQC-useful information.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275320" y="13258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8275320" y="1325880"/>
            <a:ext cx="54864" cy="14173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43991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Paper’s idea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8439912" y="1737360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a trainable Matrix Product State as feature extractor and optimize it end-to-end with the VQC.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097280" y="3154680"/>
            <a:ext cx="4800600" cy="205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aper_assets/crops/p2_mps_vqc_model.png" id="294" name="Google Shape;294;p10"/>
          <p:cNvPicPr preferRelativeResize="0"/>
          <p:nvPr/>
        </p:nvPicPr>
        <p:blipFill rotWithShape="1">
          <a:blip r:embed="rId3">
            <a:alphaModFix/>
          </a:blip>
          <a:srcRect b="6402" l="0" r="0" t="0"/>
          <a:stretch/>
        </p:blipFill>
        <p:spPr>
          <a:xfrm>
            <a:off x="1641350" y="3200400"/>
            <a:ext cx="3712450" cy="173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1097280" y="5056632"/>
            <a:ext cx="4800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650"/>
              <a:buFont typeface="Arial"/>
              <a:buNone/>
            </a:pPr>
            <a:r>
              <a:rPr b="0" i="1" lang="en-US" sz="100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Fig. 3: MPS compresses MNIST to dimension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400800" y="3246120"/>
            <a:ext cx="4754880" cy="1783080"/>
          </a:xfrm>
          <a:prstGeom prst="roundRect">
            <a:avLst>
              <a:gd fmla="val 410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400800" y="3246120"/>
            <a:ext cx="54864" cy="178308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565392" y="3374136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3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Research definition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565392" y="3657600"/>
            <a:ext cx="445312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Can a quantum-inspired tensor network produce a better four-dimensional input for a VQC than PCA?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Key novelty: the classical compressor and quantum classifier are trained together, not separately.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 · MOTIVATION</a:t>
            </a:r>
            <a:endParaRPr/>
          </a:p>
        </p:txBody>
      </p:sp>
      <p:sp>
        <p:nvSpPr>
          <p:cNvPr id="304" name="Google Shape;304;p10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Why PCA is not enough</a:t>
            </a:r>
            <a:endParaRPr/>
          </a:p>
        </p:txBody>
      </p:sp>
      <p:sp>
        <p:nvSpPr>
          <p:cNvPr id="305" name="Google Shape;305;p10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Make classical compression trainable and compatible with the quantum classifier</a:t>
            </a:r>
            <a:endParaRPr/>
          </a:p>
        </p:txBody>
      </p:sp>
      <p:cxnSp>
        <p:nvCxnSpPr>
          <p:cNvPr id="306" name="Google Shape;306;p10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7" name="Google Shape;307;p10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8" name="Google Shape;308;p10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Hybrid TN-VQC classifier</a:t>
            </a:r>
            <a:endParaRPr/>
          </a:p>
        </p:txBody>
      </p:sp>
      <p:sp>
        <p:nvSpPr>
          <p:cNvPr id="310" name="Google Shape;310;p10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594360" y="132588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94360" y="1325880"/>
            <a:ext cx="54864" cy="14173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758952" y="145389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58952" y="1737360"/>
            <a:ext cx="29900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MNIST grayscale images, 28×28 pixels. Each sample is flattened to x ∈ R⁷⁸⁴.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434840" y="132588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434840" y="1325880"/>
            <a:ext cx="54864" cy="141732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599432" y="145389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Data meaning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599432" y="1737360"/>
            <a:ext cx="29900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Each feature is a normalized pixel intensity in [0,1], representing ink darkness at one image location.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8275320" y="1325880"/>
            <a:ext cx="329184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8275320" y="1325880"/>
            <a:ext cx="54864" cy="14173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8439912" y="145389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439912" y="1737360"/>
            <a:ext cx="29900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Supervised binary classification: predict whether the image is digit 3 or digit 6.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914400" y="3108960"/>
            <a:ext cx="10287000" cy="1371600"/>
          </a:xfrm>
          <a:prstGeom prst="roundRect">
            <a:avLst>
              <a:gd fmla="val 6667" name="adj"/>
            </a:avLst>
          </a:prstGeom>
          <a:solidFill>
            <a:srgbClr val="F7F5F0"/>
          </a:solidFill>
          <a:ln cap="flat" cmpd="sng" w="1270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143000" y="3611880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image 28×28  →  flatten  →  x = [x₁,…,x₇₈₄]  →  normalize each pixel to [0,1]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280160" y="5029200"/>
            <a:ext cx="9692640" cy="777240"/>
          </a:xfrm>
          <a:prstGeom prst="roundRect">
            <a:avLst>
              <a:gd fmla="val 9412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280160" y="5029200"/>
            <a:ext cx="54864" cy="7772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444752" y="5157216"/>
            <a:ext cx="9418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Why this dataset is useful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444752" y="5440680"/>
            <a:ext cx="9390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It is simple enough to benchmark, but still high-dimensional enough to expose the quantum encoding bottleneck.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 · DATASET</a:t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What data did they use?</a:t>
            </a:r>
            <a:endParaRPr/>
          </a:p>
        </p:txBody>
      </p:sp>
      <p:sp>
        <p:nvSpPr>
          <p:cNvPr id="337" name="Google Shape;337;p11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MNIST binary classification: digit 3 vs. digit 6</a:t>
            </a:r>
            <a:endParaRPr/>
          </a:p>
        </p:txBody>
      </p:sp>
      <p:cxnSp>
        <p:nvCxnSpPr>
          <p:cNvPr id="338" name="Google Shape;338;p11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9" name="Google Shape;339;p11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0" name="Google Shape;340;p11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Hybrid TN-VQC classifier</a:t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/>
          <p:nvPr/>
        </p:nvSpPr>
        <p:spPr>
          <a:xfrm>
            <a:off x="502920" y="1298448"/>
            <a:ext cx="3703320" cy="1005840"/>
          </a:xfrm>
          <a:prstGeom prst="roundRect">
            <a:avLst>
              <a:gd fmla="val 727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02920" y="1298448"/>
            <a:ext cx="54864" cy="10058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67512" y="1426464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Pixel feature map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67512" y="1709928"/>
            <a:ext cx="3401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Each pixel xᵢ is mapped to [cos(πxᵢ/2), sin(πxᵢ/2)].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343400" y="1298448"/>
            <a:ext cx="3703320" cy="1005840"/>
          </a:xfrm>
          <a:prstGeom prst="roundRect">
            <a:avLst>
              <a:gd fmla="val 727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343400" y="1298448"/>
            <a:ext cx="54864" cy="10058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507992" y="1426464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MPS contraction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507992" y="1709928"/>
            <a:ext cx="3401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feature-mapped pixels are contracted with a Matrix Product State.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183880" y="1298448"/>
            <a:ext cx="3474720" cy="1005840"/>
          </a:xfrm>
          <a:prstGeom prst="roundRect">
            <a:avLst>
              <a:gd fmla="val 727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8183880" y="1298448"/>
            <a:ext cx="54864" cy="10058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8348472" y="142646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8348472" y="1709928"/>
            <a:ext cx="31729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MPS produces z ∈ R⁴, the compact vector for the VQC.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822960" y="2743200"/>
            <a:ext cx="10607040" cy="1143000"/>
          </a:xfrm>
          <a:prstGeom prst="roundRect">
            <a:avLst>
              <a:gd fmla="val 8000" name="adj"/>
            </a:avLst>
          </a:prstGeom>
          <a:solidFill>
            <a:srgbClr val="F7F5F0"/>
          </a:solidFill>
          <a:ln cap="flat" cmpd="sng" w="1270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1005840" y="3136392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x ∈ R⁷⁸⁴  →  tensor feature map  →  trainable MPS  →  z = [z₁,z₂,z₃,z₄]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914400" y="4572000"/>
            <a:ext cx="4937760" cy="1097280"/>
          </a:xfrm>
          <a:prstGeom prst="roundRect">
            <a:avLst>
              <a:gd fmla="val 666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914400" y="4572000"/>
            <a:ext cx="54864" cy="109728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1078992" y="4700016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Important clarification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078992" y="4983480"/>
            <a:ext cx="46360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tensor feature map looks quantum-like, but it is computed classically. It does not require 784 qubits.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6355080" y="4572000"/>
            <a:ext cx="4937760" cy="1097280"/>
          </a:xfrm>
          <a:prstGeom prst="roundRect">
            <a:avLst>
              <a:gd fmla="val 666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6355080" y="4572000"/>
            <a:ext cx="54864" cy="109728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519672" y="4700016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Compression control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6519672" y="4983480"/>
            <a:ext cx="46360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MPS bond dimension χ controls representation power. Larger χ can model more correlations but may overfit.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 · PREPROCESSING</a:t>
            </a:r>
            <a:endParaRPr/>
          </a:p>
        </p:txBody>
      </p:sp>
      <p:sp>
        <p:nvSpPr>
          <p:cNvPr id="372" name="Google Shape;372;p12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Classical image → compressed MPS representation</a:t>
            </a:r>
            <a:endParaRPr/>
          </a:p>
        </p:txBody>
      </p:sp>
      <p:sp>
        <p:nvSpPr>
          <p:cNvPr id="373" name="Google Shape;373;p12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tensor network turns 784 pixels into 4 values</a:t>
            </a:r>
            <a:endParaRPr/>
          </a:p>
        </p:txBody>
      </p:sp>
      <p:cxnSp>
        <p:nvCxnSpPr>
          <p:cNvPr id="374" name="Google Shape;374;p12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5" name="Google Shape;375;p12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6" name="Google Shape;376;p12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377" name="Google Shape;377;p12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Hybrid TN-VQC classifier</a:t>
            </a:r>
            <a:endParaRPr/>
          </a:p>
        </p:txBody>
      </p:sp>
      <p:sp>
        <p:nvSpPr>
          <p:cNvPr id="378" name="Google Shape;378;p12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aper_assets/crops/p2_vqc_circuit.png" id="384" name="Google Shape;384;p13"/>
          <p:cNvPicPr preferRelativeResize="0"/>
          <p:nvPr/>
        </p:nvPicPr>
        <p:blipFill rotWithShape="1">
          <a:blip r:embed="rId3">
            <a:alphaModFix/>
          </a:blip>
          <a:srcRect b="15896" l="0" r="0" t="0"/>
          <a:stretch/>
        </p:blipFill>
        <p:spPr>
          <a:xfrm>
            <a:off x="174975" y="1444912"/>
            <a:ext cx="6233610" cy="16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3"/>
          <p:cNvSpPr/>
          <p:nvPr/>
        </p:nvSpPr>
        <p:spPr>
          <a:xfrm>
            <a:off x="557780" y="3159295"/>
            <a:ext cx="5303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650"/>
              <a:buFont typeface="Arial"/>
              <a:buNone/>
            </a:pPr>
            <a:r>
              <a:rPr b="0" i="1" lang="en-US" sz="10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Fig. 4: VQC encoding and trainable block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6400800" y="1325880"/>
            <a:ext cx="5120640" cy="960120"/>
          </a:xfrm>
          <a:prstGeom prst="roundRect">
            <a:avLst>
              <a:gd fmla="val 7619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6400800" y="1325880"/>
            <a:ext cx="54864" cy="9601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6565392" y="1453896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Encoding per feature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6565392" y="1737360"/>
            <a:ext cx="4818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qᵢ: |0⟩ → H → Rᵧ(arctan(zᵢ)) → R𝓏(arctan(zᵢ²))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6400800" y="2606040"/>
            <a:ext cx="5120640" cy="1143000"/>
          </a:xfrm>
          <a:prstGeom prst="roundRect">
            <a:avLst>
              <a:gd fmla="val 64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6400800" y="2606040"/>
            <a:ext cx="54864" cy="114300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565392" y="2734056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Why arctan?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6565392" y="3017520"/>
            <a:ext cx="48188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MPS output can be any real number. arctan maps it into a bounded rotation angle.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640080" y="3840480"/>
            <a:ext cx="347472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640080" y="384048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804672" y="396849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Variational block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804672" y="4251960"/>
            <a:ext cx="31729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3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CNOT gates entangle qubits; R(α,β,γ) gates are trainable single-qubit unitaries.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434840" y="3840480"/>
            <a:ext cx="347472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434840" y="3840480"/>
            <a:ext cx="54864" cy="12344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599432" y="396849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Measurement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599432" y="4251960"/>
            <a:ext cx="31729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3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first two qubits are measured to produce binary classification outputs.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8229600" y="3840480"/>
            <a:ext cx="324612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8229600" y="384048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8394192" y="396849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End-to-end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8394192" y="4251960"/>
            <a:ext cx="29443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3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Gradients update both MPS parameters and VQC parameters in the same training loop.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Encoding is shallow because the MPS has already reduced 784 pixels to only 4 numbers.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 · QUANTUM ENCODING</a:t>
            </a:r>
            <a:endParaRPr/>
          </a:p>
        </p:txBody>
      </p:sp>
      <p:sp>
        <p:nvSpPr>
          <p:cNvPr id="410" name="Google Shape;410;p13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Four MPS features → four qubits</a:t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VQC encoding uses arctangent rotations</a:t>
            </a:r>
            <a:endParaRPr/>
          </a:p>
        </p:txBody>
      </p:sp>
      <p:cxnSp>
        <p:nvCxnSpPr>
          <p:cNvPr id="412" name="Google Shape;412;p13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3" name="Google Shape;413;p13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4" name="Google Shape;414;p13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415" name="Google Shape;415;p13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Hybrid TN-VQC classifier</a:t>
            </a:r>
            <a:endParaRPr/>
          </a:p>
        </p:txBody>
      </p:sp>
      <p:sp>
        <p:nvSpPr>
          <p:cNvPr id="416" name="Google Shape;416;p13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"/>
          <p:cNvSpPr/>
          <p:nvPr/>
        </p:nvSpPr>
        <p:spPr>
          <a:xfrm>
            <a:off x="594360" y="1325880"/>
            <a:ext cx="3383280" cy="1280160"/>
          </a:xfrm>
          <a:prstGeom prst="roundRect">
            <a:avLst>
              <a:gd fmla="val 5714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594360" y="1325880"/>
            <a:ext cx="54864" cy="12801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758952" y="145389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Baseline: PCA–VQC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758952" y="1737360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784 pixels → PCA → 4 features → same VQC. Optimized with RMSProp.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4389120" y="1325880"/>
            <a:ext cx="3383280" cy="1280160"/>
          </a:xfrm>
          <a:prstGeom prst="roundRect">
            <a:avLst>
              <a:gd fmla="val 5714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389120" y="1325880"/>
            <a:ext cx="54864" cy="128016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4553712" y="145389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Ablation: MPS only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553712" y="1737360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MPS acts as full classifier. Shows representation power and possible overfitting.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8183880" y="1325880"/>
            <a:ext cx="3383280" cy="1280160"/>
          </a:xfrm>
          <a:prstGeom prst="roundRect">
            <a:avLst>
              <a:gd fmla="val 5714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8183880" y="1325880"/>
            <a:ext cx="54864" cy="12801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8348472" y="145389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Main model: MPS–VQC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8348472" y="1737360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MPS produces 4 features; VQC classifies; both are trained end-to-end.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 · EXPERIMENT</a:t>
            </a:r>
            <a:endParaRPr/>
          </a:p>
        </p:txBody>
      </p:sp>
      <p:sp>
        <p:nvSpPr>
          <p:cNvPr id="436" name="Google Shape;436;p14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How they test MPS compression</a:t>
            </a:r>
            <a:endParaRPr/>
          </a:p>
        </p:txBody>
      </p:sp>
      <p:sp>
        <p:nvSpPr>
          <p:cNvPr id="437" name="Google Shape;437;p14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Compare PCA–VQC, MPS alone, and MPS–VQC</a:t>
            </a:r>
            <a:endParaRPr/>
          </a:p>
        </p:txBody>
      </p:sp>
      <p:cxnSp>
        <p:nvCxnSpPr>
          <p:cNvPr id="438" name="Google Shape;438;p14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39" name="Google Shape;439;p14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40" name="Google Shape;440;p14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441" name="Google Shape;441;p14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Hybrid TN-VQC classifier</a:t>
            </a:r>
            <a:endParaRPr/>
          </a:p>
        </p:txBody>
      </p:sp>
      <p:sp>
        <p:nvSpPr>
          <p:cNvPr id="442" name="Google Shape;442;p14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pic>
        <p:nvPicPr>
          <p:cNvPr descr="/mnt/data/paper_assets/crops/p2_pca_result.png" id="443" name="Google Shape;443;p14"/>
          <p:cNvPicPr preferRelativeResize="0"/>
          <p:nvPr/>
        </p:nvPicPr>
        <p:blipFill rotWithShape="1">
          <a:blip r:embed="rId3">
            <a:alphaModFix/>
          </a:blip>
          <a:srcRect b="43229" l="10469" r="15231" t="10910"/>
          <a:stretch/>
        </p:blipFill>
        <p:spPr>
          <a:xfrm>
            <a:off x="135250" y="3116331"/>
            <a:ext cx="5686775" cy="17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aper_assets/crops/p2_pca_result.png" id="444" name="Google Shape;444;p14"/>
          <p:cNvPicPr preferRelativeResize="0"/>
          <p:nvPr/>
        </p:nvPicPr>
        <p:blipFill rotWithShape="1">
          <a:blip r:embed="rId3">
            <a:alphaModFix/>
          </a:blip>
          <a:srcRect b="0" l="8191" r="15046" t="57000"/>
          <a:stretch/>
        </p:blipFill>
        <p:spPr>
          <a:xfrm>
            <a:off x="5822025" y="3145301"/>
            <a:ext cx="5973725" cy="17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5"/>
          <p:cNvSpPr/>
          <p:nvPr/>
        </p:nvSpPr>
        <p:spPr>
          <a:xfrm>
            <a:off x="594360" y="1325880"/>
            <a:ext cx="3429000" cy="1463040"/>
          </a:xfrm>
          <a:prstGeom prst="roundRect">
            <a:avLst>
              <a:gd fmla="val 50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594360" y="1325880"/>
            <a:ext cx="54864" cy="14630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75895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PCA–VQC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758952" y="1737360"/>
            <a:ext cx="312724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Testing accuracy: 87.34%. PCA gives a valid four-dimensional input but loses task-relevant structure.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4389120" y="1325880"/>
            <a:ext cx="3429000" cy="1463040"/>
          </a:xfrm>
          <a:prstGeom prst="roundRect">
            <a:avLst>
              <a:gd fmla="val 50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4389120" y="1325880"/>
            <a:ext cx="54864" cy="14630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455371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MPS–VQC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4553712" y="1737360"/>
            <a:ext cx="312724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Testing accuracy: 99.44% with χ = 1. The learned compressor is much stronger than PCA here.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8183880" y="1325880"/>
            <a:ext cx="3429000" cy="1463040"/>
          </a:xfrm>
          <a:prstGeom prst="roundRect">
            <a:avLst>
              <a:gd fmla="val 50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8183880" y="1325880"/>
            <a:ext cx="54864" cy="14630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834847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8348472" y="1737360"/>
            <a:ext cx="312724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When MPS alone overfits at χ = 2, adding the VQC stabilizes test loss.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868680" y="3429000"/>
            <a:ext cx="10424160" cy="1325880"/>
          </a:xfrm>
          <a:prstGeom prst="roundRect">
            <a:avLst>
              <a:gd fmla="val 551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868680" y="3429000"/>
            <a:ext cx="54864" cy="132588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1033272" y="3557016"/>
            <a:ext cx="10149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3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Takeaway for our research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033272" y="3840480"/>
            <a:ext cx="101224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classical compressor should not be treated as a neutral preprocessing step. Its training objective and its connection to the quantum circuit strongly determine performance.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Open issue for anomaly detection: end-to-end supervised compression may discard information needed for unknown anomalies.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5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 · RESULTS</a:t>
            </a:r>
            <a:endParaRPr/>
          </a:p>
        </p:txBody>
      </p:sp>
      <p:sp>
        <p:nvSpPr>
          <p:cNvPr id="470" name="Google Shape;470;p15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What the TN–VQC paper shows</a:t>
            </a:r>
            <a:endParaRPr/>
          </a:p>
        </p:txBody>
      </p:sp>
      <p:sp>
        <p:nvSpPr>
          <p:cNvPr id="471" name="Google Shape;471;p15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Learned compression beats fixed PCA in this task</a:t>
            </a:r>
            <a:endParaRPr/>
          </a:p>
        </p:txBody>
      </p:sp>
      <p:cxnSp>
        <p:nvCxnSpPr>
          <p:cNvPr id="472" name="Google Shape;472;p15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3" name="Google Shape;473;p15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4" name="Google Shape;474;p15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475" name="Google Shape;475;p15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Hybrid TN-VQC classifier</a:t>
            </a:r>
            <a:endParaRPr/>
          </a:p>
        </p:txBody>
      </p:sp>
      <p:sp>
        <p:nvSpPr>
          <p:cNvPr id="476" name="Google Shape;476;p15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5519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563a9ba27_0_8"/>
          <p:cNvSpPr txBox="1"/>
          <p:nvPr/>
        </p:nvSpPr>
        <p:spPr>
          <a:xfrm>
            <a:off x="576005" y="324000"/>
            <a:ext cx="57600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lang="en-US" sz="3600">
                <a:solidFill>
                  <a:srgbClr val="FFFFFF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f563a9ba27_0_8"/>
          <p:cNvSpPr/>
          <p:nvPr/>
        </p:nvSpPr>
        <p:spPr>
          <a:xfrm>
            <a:off x="672006" y="4752000"/>
            <a:ext cx="1536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563a9ba27_0_8"/>
          <p:cNvSpPr txBox="1"/>
          <p:nvPr/>
        </p:nvSpPr>
        <p:spPr>
          <a:xfrm>
            <a:off x="672000" y="1828950"/>
            <a:ext cx="11031000" cy="3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000">
                <a:solidFill>
                  <a:srgbClr val="FFFFFF"/>
                </a:solidFill>
              </a:rPr>
              <a:t>Paper 3 · Enhancing VQCs with Hybrid Autoencoders</a:t>
            </a:r>
            <a:endParaRPr b="1" sz="6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6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"/>
          <p:cNvSpPr/>
          <p:nvPr/>
        </p:nvSpPr>
        <p:spPr>
          <a:xfrm>
            <a:off x="502920" y="1325880"/>
            <a:ext cx="356616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502920" y="1325880"/>
            <a:ext cx="54864" cy="14173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667512" y="145389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667512" y="1737360"/>
            <a:ext cx="32644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Angle encoding usually needs one qubit per feature, so high-dimensional data must be reduced first.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4297680" y="1325880"/>
            <a:ext cx="356616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4297680" y="1325880"/>
            <a:ext cx="54864" cy="141732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462272" y="145389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PCA issue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4462272" y="1737360"/>
            <a:ext cx="32644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PCA preserves classical variance, but the downstream VQC sees quantum-state similarity, not Euclidean variance.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8092440" y="1325880"/>
            <a:ext cx="356616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8092440" y="1325880"/>
            <a:ext cx="54864" cy="14173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8257032" y="145389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Paper’s proposal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8257032" y="1737360"/>
            <a:ext cx="32644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Build a compressor whose bottleneck contains the same quantum feature map used later by the VQC.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960120" y="3337560"/>
            <a:ext cx="480060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960120" y="3337560"/>
            <a:ext cx="54864" cy="12344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1124712" y="3465576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PQAE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1124712" y="3749040"/>
            <a:ext cx="44988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Hybrid preprocessor: classical encoder → quantum feature map → quantum kernel KPCA → classical decoder.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6400800" y="3337560"/>
            <a:ext cx="480060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6400800" y="333756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6565392" y="3465576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QAE in this paper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6565392" y="3749040"/>
            <a:ext cx="44988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quantum-inspired classical autoencoder using SU(n) exponential maps. It is not the trash-qubit QAE.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Closest to your topic: PQAE trains compression with the downstream quantum embedding in the loop.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7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 · MOTIVATION</a:t>
            </a:r>
            <a:endParaRPr/>
          </a:p>
        </p:txBody>
      </p:sp>
      <p:sp>
        <p:nvSpPr>
          <p:cNvPr id="513" name="Google Shape;513;p17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PCA may not match the quantum feature map</a:t>
            </a:r>
            <a:endParaRPr/>
          </a:p>
        </p:txBody>
      </p:sp>
      <p:sp>
        <p:nvSpPr>
          <p:cNvPr id="514" name="Google Shape;514;p17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Dimensionality reduction should know how the data will be embedded</a:t>
            </a:r>
            <a:endParaRPr/>
          </a:p>
        </p:txBody>
      </p:sp>
      <p:cxnSp>
        <p:nvCxnSpPr>
          <p:cNvPr id="515" name="Google Shape;515;p17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16" name="Google Shape;516;p17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7" name="Google Shape;517;p17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518" name="Google Shape;518;p17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Enhancing VQCs with hybrid autoencoders</a:t>
            </a:r>
            <a:endParaRPr/>
          </a:p>
        </p:txBody>
      </p:sp>
      <p:sp>
        <p:nvSpPr>
          <p:cNvPr id="519" name="Google Shape;519;p17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"/>
          <p:cNvSpPr/>
          <p:nvPr/>
        </p:nvSpPr>
        <p:spPr>
          <a:xfrm>
            <a:off x="502920" y="1325880"/>
            <a:ext cx="2697480" cy="1325880"/>
          </a:xfrm>
          <a:prstGeom prst="roundRect">
            <a:avLst>
              <a:gd fmla="val 551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502920" y="1325880"/>
            <a:ext cx="54864" cy="132588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667512" y="1453896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Iris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667512" y="1737360"/>
            <a:ext cx="23957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3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 = 4 flower measurements: sepal/petal length and width. Classification of species.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3474720" y="1325880"/>
            <a:ext cx="2697480" cy="1325880"/>
          </a:xfrm>
          <a:prstGeom prst="roundRect">
            <a:avLst>
              <a:gd fmla="val 551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3474720" y="1325880"/>
            <a:ext cx="54864" cy="132588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3639312" y="1453896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Wine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3639312" y="1737360"/>
            <a:ext cx="23957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3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 = 13 chemical features such as alcohol, acidity, magnesium, flavanoids.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6446520" y="1325880"/>
            <a:ext cx="2697480" cy="1325880"/>
          </a:xfrm>
          <a:prstGeom prst="roundRect">
            <a:avLst>
              <a:gd fmla="val 551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6446520" y="1325880"/>
            <a:ext cx="54864" cy="132588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6611112" y="1453896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Seed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6611112" y="1737360"/>
            <a:ext cx="23957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3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 = 7 wheat-kernel geometric measurements: area, perimeter, compactness, etc.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9418320" y="1325880"/>
            <a:ext cx="2240280" cy="1325880"/>
          </a:xfrm>
          <a:prstGeom prst="roundRect">
            <a:avLst>
              <a:gd fmla="val 551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9418320" y="1325880"/>
            <a:ext cx="54864" cy="132588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9582912" y="1453896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MNIST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9582912" y="1737360"/>
            <a:ext cx="19385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3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 = 64 pixel features from 8×8 handwritten digits.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822960" y="3154680"/>
            <a:ext cx="493776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822960" y="3154680"/>
            <a:ext cx="54864" cy="14173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987552" y="3282696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Data meaning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987552" y="3566160"/>
            <a:ext cx="4636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Unlike images in Paper 1 or full MNIST in Paper 2, these datasets are already structured classical feature vectors.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6309360" y="3154680"/>
            <a:ext cx="4937760" cy="1417320"/>
          </a:xfrm>
          <a:prstGeom prst="roundRect">
            <a:avLst>
              <a:gd fmla="val 516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6309360" y="3154680"/>
            <a:ext cx="54864" cy="141732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6473952" y="3282696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Experimental goal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6473952" y="3566160"/>
            <a:ext cx="4636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Reduce each dataset to 4 qubit-compatible features, then compare VQC accuracy using PCA/raw encoding versus PQAE encoding.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Main setting: N-dimensional classical vector → four values → four-qubit ZZFeatureMap.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8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 · DATASETS</a:t>
            </a:r>
            <a:endParaRPr/>
          </a:p>
        </p:txBody>
      </p:sp>
      <p:sp>
        <p:nvSpPr>
          <p:cNvPr id="553" name="Google Shape;553;p18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What data do they compress?</a:t>
            </a:r>
            <a:endParaRPr/>
          </a:p>
        </p:txBody>
      </p:sp>
      <p:sp>
        <p:nvSpPr>
          <p:cNvPr id="554" name="Google Shape;554;p18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Four classical datasets with different feature dimensions</a:t>
            </a:r>
            <a:endParaRPr/>
          </a:p>
        </p:txBody>
      </p:sp>
      <p:cxnSp>
        <p:nvCxnSpPr>
          <p:cNvPr id="555" name="Google Shape;555;p18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56" name="Google Shape;556;p18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57" name="Google Shape;557;p18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558" name="Google Shape;558;p18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Enhancing VQCs with hybrid autoencoders</a:t>
            </a:r>
            <a:endParaRPr/>
          </a:p>
        </p:txBody>
      </p:sp>
      <p:sp>
        <p:nvSpPr>
          <p:cNvPr id="559" name="Google Shape;559;p18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9"/>
          <p:cNvSpPr/>
          <p:nvPr/>
        </p:nvSpPr>
        <p:spPr>
          <a:xfrm>
            <a:off x="685800" y="1325880"/>
            <a:ext cx="5577840" cy="21488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aper_assets/crops/p3_pqae_diagram.png" id="566" name="Google Shape;5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8907" y="1371600"/>
            <a:ext cx="4251625" cy="1947672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9"/>
          <p:cNvSpPr/>
          <p:nvPr/>
        </p:nvSpPr>
        <p:spPr>
          <a:xfrm>
            <a:off x="685800" y="3319272"/>
            <a:ext cx="5577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650"/>
              <a:buFont typeface="Arial"/>
              <a:buNone/>
            </a:pPr>
            <a:r>
              <a:rPr b="0" i="1" lang="en-US" sz="6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Fig. 2: PQAE model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6629400" y="1325880"/>
            <a:ext cx="4800600" cy="960120"/>
          </a:xfrm>
          <a:prstGeom prst="roundRect">
            <a:avLst>
              <a:gd fmla="val 7619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6629400" y="1325880"/>
            <a:ext cx="54864" cy="9601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6793992" y="1453896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6793992" y="1737360"/>
            <a:ext cx="4498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Classical linear encoder maps x ∈ Rᴺ to z ∈ Rⁿᵩ, where nᵩ is the number of qubits.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6629400" y="2606040"/>
            <a:ext cx="4800600" cy="960120"/>
          </a:xfrm>
          <a:prstGeom prst="roundRect">
            <a:avLst>
              <a:gd fmla="val 7619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6629400" y="2606040"/>
            <a:ext cx="54864" cy="96012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6793992" y="2734056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6793992" y="3017520"/>
            <a:ext cx="4498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z values are passed through the same data-embedding circuit that the VQC will use later.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9"/>
          <p:cNvSpPr/>
          <p:nvPr/>
        </p:nvSpPr>
        <p:spPr>
          <a:xfrm>
            <a:off x="6629400" y="3886200"/>
            <a:ext cx="4800600" cy="960120"/>
          </a:xfrm>
          <a:prstGeom prst="roundRect">
            <a:avLst>
              <a:gd fmla="val 7619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6629400" y="3886200"/>
            <a:ext cx="54864" cy="96012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6793992" y="4014216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6793992" y="4297680"/>
            <a:ext cx="4498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Quantum kernels are estimated and used for KPCA; the decoder reconstructs the original vector.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1051560" y="4343400"/>
            <a:ext cx="256032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1188720" y="451713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Kᵢⱼ = |⟨ψᵢ|ψⱼ⟩|²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9"/>
          <p:cNvSpPr/>
          <p:nvPr/>
        </p:nvSpPr>
        <p:spPr>
          <a:xfrm>
            <a:off x="4206240" y="4343400"/>
            <a:ext cx="2057400" cy="658368"/>
          </a:xfrm>
          <a:prstGeom prst="roundRect">
            <a:avLst>
              <a:gd fmla="val 11111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4206240" y="4343400"/>
            <a:ext cx="54864" cy="658368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4370832" y="4471416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4370832" y="4754880"/>
            <a:ext cx="17556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MSE(x, x̃)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9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PQAE is unsupervised: it optimizes reconstruction, not classification labels.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9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 · PQAE PIPELINE</a:t>
            </a:r>
            <a:endParaRPr/>
          </a:p>
        </p:txBody>
      </p:sp>
      <p:sp>
        <p:nvSpPr>
          <p:cNvPr id="590" name="Google Shape;590;p19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Classical data → quantum-kernel-aware representation</a:t>
            </a:r>
            <a:endParaRPr/>
          </a:p>
        </p:txBody>
      </p:sp>
      <p:sp>
        <p:nvSpPr>
          <p:cNvPr id="591" name="Google Shape;591;p19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most relevant encoding method in this paper</a:t>
            </a:r>
            <a:endParaRPr/>
          </a:p>
        </p:txBody>
      </p:sp>
      <p:cxnSp>
        <p:nvCxnSpPr>
          <p:cNvPr id="592" name="Google Shape;592;p19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3" name="Google Shape;593;p19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4" name="Google Shape;594;p19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595" name="Google Shape;595;p19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Enhancing VQCs with hybrid autoencoders</a:t>
            </a:r>
            <a:endParaRPr/>
          </a:p>
        </p:txBody>
      </p:sp>
      <p:sp>
        <p:nvSpPr>
          <p:cNvPr id="596" name="Google Shape;596;p19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"/>
          <p:cNvSpPr/>
          <p:nvPr/>
        </p:nvSpPr>
        <p:spPr>
          <a:xfrm>
            <a:off x="548640" y="1325880"/>
            <a:ext cx="365760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548640" y="132588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713232" y="145389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VQC setup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713232" y="1737360"/>
            <a:ext cx="33558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For Iris, Wine, Seed, and MNIST, they use a 4-qubit VQC with Qiskit ZZFeatureMap and RealAmplitudes ansatz.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4434840" y="1325880"/>
            <a:ext cx="365760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4434840" y="1325880"/>
            <a:ext cx="54864" cy="12344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4599432" y="145389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Feature map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4599432" y="1737360"/>
            <a:ext cx="33558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4 compressed values are embedded by ZZFeatureMap with 2 repetitions, including feature interactions.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8321040" y="1325880"/>
            <a:ext cx="329184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8321040" y="132588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8485632" y="145389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Variational block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8485632" y="1737360"/>
            <a:ext cx="2990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RealAmplitudes ansatz with 3 repetitions is trained for classification.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914400" y="2971800"/>
            <a:ext cx="10287000" cy="1234440"/>
          </a:xfrm>
          <a:prstGeom prst="roundRect">
            <a:avLst>
              <a:gd fmla="val 7407" name="adj"/>
            </a:avLst>
          </a:prstGeom>
          <a:solidFill>
            <a:srgbClr val="F7F5F0"/>
          </a:solidFill>
          <a:ln cap="flat" cmpd="sng" w="1270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1143000" y="345643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x ∈ Rᴺ  →  PQAE encoder  →  z ∈ R⁴  →  ZZFeatureMap  →  |ψ(z)⟩  →  RealAmplitudes VQC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914400" y="4709160"/>
            <a:ext cx="4892040" cy="1005840"/>
          </a:xfrm>
          <a:prstGeom prst="roundRect">
            <a:avLst>
              <a:gd fmla="val 727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914400" y="4709160"/>
            <a:ext cx="54864" cy="10058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1078992" y="4837176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Core intuition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1078992" y="5120640"/>
            <a:ext cx="45902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PCA selects directions before seeing the quantum feature map. PQAE learns a compressed representation aligned with the quantum feature space.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6355080" y="4709160"/>
            <a:ext cx="4892040" cy="1005840"/>
          </a:xfrm>
          <a:prstGeom prst="roundRect">
            <a:avLst>
              <a:gd fmla="val 727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6355080" y="4709160"/>
            <a:ext cx="54864" cy="10058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6519672" y="4837176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Practical concern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6519672" y="5120640"/>
            <a:ext cx="45902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Quantum-kernel estimation requires M×M pairwise state overlaps per batch, which may be costly.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0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 · QUANTUM ENCODING</a:t>
            </a:r>
            <a:endParaRPr/>
          </a:p>
        </p:txBody>
      </p:sp>
      <p:sp>
        <p:nvSpPr>
          <p:cNvPr id="626" name="Google Shape;626;p20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PQAE uses the downstream VQC feature map</a:t>
            </a:r>
            <a:endParaRPr/>
          </a:p>
        </p:txBody>
      </p:sp>
      <p:sp>
        <p:nvSpPr>
          <p:cNvPr id="627" name="Google Shape;627;p20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Why it is more quantum-aware than PCA</a:t>
            </a:r>
            <a:endParaRPr/>
          </a:p>
        </p:txBody>
      </p:sp>
      <p:cxnSp>
        <p:nvCxnSpPr>
          <p:cNvPr id="628" name="Google Shape;628;p20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29" name="Google Shape;629;p20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0" name="Google Shape;630;p20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631" name="Google Shape;631;p20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Enhancing VQCs with hybrid autoencoders</a:t>
            </a:r>
            <a:endParaRPr/>
          </a:p>
        </p:txBody>
      </p:sp>
      <p:sp>
        <p:nvSpPr>
          <p:cNvPr id="632" name="Google Shape;632;p20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aper_assets/crops/p3_qae_diagrams.png" id="638" name="Google Shape;638;p21"/>
          <p:cNvPicPr preferRelativeResize="0"/>
          <p:nvPr/>
        </p:nvPicPr>
        <p:blipFill rotWithShape="1">
          <a:blip r:embed="rId3">
            <a:alphaModFix/>
          </a:blip>
          <a:srcRect b="16949" l="0" r="0" t="-2419"/>
          <a:stretch/>
        </p:blipFill>
        <p:spPr>
          <a:xfrm>
            <a:off x="-57400" y="1342600"/>
            <a:ext cx="8049971" cy="35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1"/>
          <p:cNvSpPr/>
          <p:nvPr/>
        </p:nvSpPr>
        <p:spPr>
          <a:xfrm>
            <a:off x="7086600" y="1325880"/>
            <a:ext cx="4343400" cy="1005840"/>
          </a:xfrm>
          <a:prstGeom prst="roundRect">
            <a:avLst>
              <a:gd fmla="val 727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7086600" y="1325880"/>
            <a:ext cx="54864" cy="10058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7251192" y="1453896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7251192" y="1737360"/>
            <a:ext cx="4041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classical AE bottleneck is replaced by a quantum-inspired exponential map.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1"/>
          <p:cNvSpPr/>
          <p:nvPr/>
        </p:nvSpPr>
        <p:spPr>
          <a:xfrm>
            <a:off x="7086600" y="2606040"/>
            <a:ext cx="4343400" cy="1005840"/>
          </a:xfrm>
          <a:prstGeom prst="roundRect">
            <a:avLst>
              <a:gd fmla="val 727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7086600" y="2606040"/>
            <a:ext cx="54864" cy="10058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7251192" y="2734056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Mathematical idea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1"/>
          <p:cNvSpPr/>
          <p:nvPr/>
        </p:nvSpPr>
        <p:spPr>
          <a:xfrm>
            <a:off x="7251192" y="3017520"/>
            <a:ext cx="4041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Reduced features parameterize an SU(n) unitary: U(z)=exp(−iΣ zⱼGⱼ).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1"/>
          <p:cNvSpPr/>
          <p:nvPr/>
        </p:nvSpPr>
        <p:spPr>
          <a:xfrm>
            <a:off x="7086600" y="3886200"/>
            <a:ext cx="4343400" cy="1005840"/>
          </a:xfrm>
          <a:prstGeom prst="roundRect">
            <a:avLst>
              <a:gd fmla="val 727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1"/>
          <p:cNvSpPr/>
          <p:nvPr/>
        </p:nvSpPr>
        <p:spPr>
          <a:xfrm>
            <a:off x="7086600" y="3886200"/>
            <a:ext cx="54864" cy="10058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1"/>
          <p:cNvSpPr/>
          <p:nvPr/>
        </p:nvSpPr>
        <p:spPr>
          <a:xfrm>
            <a:off x="7251192" y="4014216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Important distinction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1"/>
          <p:cNvSpPr/>
          <p:nvPr/>
        </p:nvSpPr>
        <p:spPr>
          <a:xfrm>
            <a:off x="7251192" y="4297680"/>
            <a:ext cx="4041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model runs on classical hardware. It does not prepare qubits or use trash states.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1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1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For your research, PQAE is the closer prior work; this QAE is more of a quantum-inspired AE baseline.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1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 · QAE VARIANT</a:t>
            </a:r>
            <a:endParaRPr/>
          </a:p>
        </p:txBody>
      </p:sp>
      <p:sp>
        <p:nvSpPr>
          <p:cNvPr id="655" name="Google Shape;655;p21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Quantum-inspired autoencoder in the same paper</a:t>
            </a:r>
            <a:endParaRPr/>
          </a:p>
        </p:txBody>
      </p:sp>
      <p:sp>
        <p:nvSpPr>
          <p:cNvPr id="656" name="Google Shape;656;p21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Useful idea, but not the same as a quantum autoencoder</a:t>
            </a:r>
            <a:endParaRPr/>
          </a:p>
        </p:txBody>
      </p:sp>
      <p:cxnSp>
        <p:nvCxnSpPr>
          <p:cNvPr id="657" name="Google Shape;657;p21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58" name="Google Shape;658;p21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59" name="Google Shape;659;p21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660" name="Google Shape;660;p21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Enhancing VQCs with hybrid autoencoders</a:t>
            </a:r>
            <a:endParaRPr/>
          </a:p>
        </p:txBody>
      </p:sp>
      <p:sp>
        <p:nvSpPr>
          <p:cNvPr id="661" name="Google Shape;661;p21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2"/>
          <p:cNvSpPr/>
          <p:nvPr/>
        </p:nvSpPr>
        <p:spPr>
          <a:xfrm>
            <a:off x="502920" y="1325880"/>
            <a:ext cx="2743200" cy="1371600"/>
          </a:xfrm>
          <a:prstGeom prst="roundRect">
            <a:avLst>
              <a:gd fmla="val 533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502920" y="1325880"/>
            <a:ext cx="54864" cy="137160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667512" y="14538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Iris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667512" y="1737360"/>
            <a:ext cx="24414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Raw/PCA: 0.77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PQAE: 0.97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3474720" y="1325880"/>
            <a:ext cx="2743200" cy="1371600"/>
          </a:xfrm>
          <a:prstGeom prst="roundRect">
            <a:avLst>
              <a:gd fmla="val 533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2"/>
          <p:cNvSpPr/>
          <p:nvPr/>
        </p:nvSpPr>
        <p:spPr>
          <a:xfrm>
            <a:off x="3474720" y="1325880"/>
            <a:ext cx="54864" cy="137160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2"/>
          <p:cNvSpPr/>
          <p:nvPr/>
        </p:nvSpPr>
        <p:spPr>
          <a:xfrm>
            <a:off x="3639312" y="14538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Wine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3639312" y="1737360"/>
            <a:ext cx="24414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PCA: 0.56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PQAE: 0.83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6446520" y="1325880"/>
            <a:ext cx="2743200" cy="1371600"/>
          </a:xfrm>
          <a:prstGeom prst="roundRect">
            <a:avLst>
              <a:gd fmla="val 533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6446520" y="1325880"/>
            <a:ext cx="54864" cy="137160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6611112" y="14538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Seed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6611112" y="1737360"/>
            <a:ext cx="24414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PCA: 0.57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PQAE: 0.74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9418320" y="1325880"/>
            <a:ext cx="2194560" cy="1371600"/>
          </a:xfrm>
          <a:prstGeom prst="roundRect">
            <a:avLst>
              <a:gd fmla="val 5333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9418320" y="1325880"/>
            <a:ext cx="54864" cy="137160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9582912" y="145389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00"/>
              <a:buFont typeface="Arial"/>
              <a:buNone/>
            </a:pPr>
            <a:r>
              <a:rPr b="1" i="0" lang="en-US" sz="77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MNIST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9582912" y="1737360"/>
            <a:ext cx="18928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PCA: 0.82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PQAE: 0.81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aper_assets/crops/p3_wines_qae.png" id="683" name="Google Shape;6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1474" y="2873225"/>
            <a:ext cx="4178499" cy="192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2"/>
          <p:cNvSpPr/>
          <p:nvPr/>
        </p:nvSpPr>
        <p:spPr>
          <a:xfrm>
            <a:off x="2775195" y="4891532"/>
            <a:ext cx="658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650"/>
              <a:buFont typeface="Arial"/>
              <a:buNone/>
            </a:pPr>
            <a:r>
              <a:rPr b="0" i="1" lang="en-US" sz="10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Fig. 5: classical AE vs batched QAE on Wine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2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Result nuance: PQAE helps most tabular tasks, but it does not universally beat PCA.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2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 · RESULTS</a:t>
            </a:r>
            <a:endParaRPr/>
          </a:p>
        </p:txBody>
      </p:sp>
      <p:sp>
        <p:nvSpPr>
          <p:cNvPr id="689" name="Google Shape;689;p22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Does quantum-aware compression help?</a:t>
            </a:r>
            <a:endParaRPr/>
          </a:p>
        </p:txBody>
      </p:sp>
      <p:sp>
        <p:nvSpPr>
          <p:cNvPr id="690" name="Google Shape;690;p22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PQAE improves three of four VQC classification tasks</a:t>
            </a:r>
            <a:endParaRPr/>
          </a:p>
        </p:txBody>
      </p:sp>
      <p:cxnSp>
        <p:nvCxnSpPr>
          <p:cNvPr id="691" name="Google Shape;691;p22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92" name="Google Shape;692;p22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93" name="Google Shape;693;p22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694" name="Google Shape;694;p22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Enhancing VQCs with hybrid autoencoders</a:t>
            </a:r>
            <a:endParaRPr/>
          </a:p>
        </p:txBody>
      </p:sp>
      <p:sp>
        <p:nvSpPr>
          <p:cNvPr id="695" name="Google Shape;695;p22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3"/>
          <p:cNvSpPr/>
          <p:nvPr/>
        </p:nvSpPr>
        <p:spPr>
          <a:xfrm>
            <a:off x="594360" y="1325880"/>
            <a:ext cx="3429000" cy="1554480"/>
          </a:xfrm>
          <a:prstGeom prst="roundRect">
            <a:avLst>
              <a:gd fmla="val 470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3"/>
          <p:cNvSpPr/>
          <p:nvPr/>
        </p:nvSpPr>
        <p:spPr>
          <a:xfrm>
            <a:off x="594360" y="1325880"/>
            <a:ext cx="54864" cy="155448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3"/>
          <p:cNvSpPr/>
          <p:nvPr/>
        </p:nvSpPr>
        <p:spPr>
          <a:xfrm>
            <a:off x="75895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Strongest match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3"/>
          <p:cNvSpPr/>
          <p:nvPr/>
        </p:nvSpPr>
        <p:spPr>
          <a:xfrm>
            <a:off x="758952" y="1737360"/>
            <a:ext cx="312724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PQAE explicitly asks how to compress classical data before sending it through a VQC feature map.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3"/>
          <p:cNvSpPr/>
          <p:nvPr/>
        </p:nvSpPr>
        <p:spPr>
          <a:xfrm>
            <a:off x="4389120" y="1325880"/>
            <a:ext cx="3429000" cy="1554480"/>
          </a:xfrm>
          <a:prstGeom prst="roundRect">
            <a:avLst>
              <a:gd fmla="val 470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3"/>
          <p:cNvSpPr/>
          <p:nvPr/>
        </p:nvSpPr>
        <p:spPr>
          <a:xfrm>
            <a:off x="4389120" y="1325880"/>
            <a:ext cx="54864" cy="155448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3"/>
          <p:cNvSpPr/>
          <p:nvPr/>
        </p:nvSpPr>
        <p:spPr>
          <a:xfrm>
            <a:off x="455371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Useful concept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3"/>
          <p:cNvSpPr/>
          <p:nvPr/>
        </p:nvSpPr>
        <p:spPr>
          <a:xfrm>
            <a:off x="4553712" y="1737360"/>
            <a:ext cx="312724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Compression should be aware of the downstream quantum embedding, not only classical reconstruction or variance.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3"/>
          <p:cNvSpPr/>
          <p:nvPr/>
        </p:nvSpPr>
        <p:spPr>
          <a:xfrm>
            <a:off x="8183880" y="1325880"/>
            <a:ext cx="3429000" cy="1554480"/>
          </a:xfrm>
          <a:prstGeom prst="roundRect">
            <a:avLst>
              <a:gd fmla="val 470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3"/>
          <p:cNvSpPr/>
          <p:nvPr/>
        </p:nvSpPr>
        <p:spPr>
          <a:xfrm>
            <a:off x="8183880" y="1325880"/>
            <a:ext cx="54864" cy="155448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3"/>
          <p:cNvSpPr/>
          <p:nvPr/>
        </p:nvSpPr>
        <p:spPr>
          <a:xfrm>
            <a:off x="8348472" y="1453896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Remaining gap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8348472" y="1737360"/>
            <a:ext cx="312724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paper studies supervised classification, not normal-only anomaly detection or trash-fidelity QAE.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868680" y="3566160"/>
            <a:ext cx="10424160" cy="1188720"/>
          </a:xfrm>
          <a:prstGeom prst="roundRect">
            <a:avLst>
              <a:gd fmla="val 6154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868680" y="3566160"/>
            <a:ext cx="54864" cy="118872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1033272" y="3694176"/>
            <a:ext cx="10149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3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Takeaway for our research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1033272" y="3977640"/>
            <a:ext cx="1012240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is the closest prior work, but the open question remains: can such a compressor preserve unseen anomaly information while also reducing real quantum resource cost?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3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3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Research opportunity: anomaly-preserving, QAE-aware, hardware-aware compression.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3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3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3 · RELEVANCE</a:t>
            </a:r>
            <a:endParaRPr/>
          </a:p>
        </p:txBody>
      </p:sp>
      <p:sp>
        <p:nvSpPr>
          <p:cNvPr id="721" name="Google Shape;721;p23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Why this paper matters for your topic</a:t>
            </a:r>
            <a:endParaRPr/>
          </a:p>
        </p:txBody>
      </p:sp>
      <p:sp>
        <p:nvSpPr>
          <p:cNvPr id="722" name="Google Shape;722;p23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It directly studies compression before quantum encoding</a:t>
            </a:r>
            <a:endParaRPr/>
          </a:p>
        </p:txBody>
      </p:sp>
      <p:cxnSp>
        <p:nvCxnSpPr>
          <p:cNvPr id="723" name="Google Shape;723;p23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24" name="Google Shape;724;p23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25" name="Google Shape;725;p23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726" name="Google Shape;726;p23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Enhancing VQCs with hybrid autoencoders</a:t>
            </a:r>
            <a:endParaRPr/>
          </a:p>
        </p:txBody>
      </p:sp>
      <p:sp>
        <p:nvSpPr>
          <p:cNvPr id="727" name="Google Shape;727;p23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4"/>
          <p:cNvSpPr/>
          <p:nvPr/>
        </p:nvSpPr>
        <p:spPr>
          <a:xfrm>
            <a:off x="658368" y="1325880"/>
            <a:ext cx="2194500" cy="329100"/>
          </a:xfrm>
          <a:prstGeom prst="rect">
            <a:avLst/>
          </a:prstGeom>
          <a:solidFill>
            <a:srgbClr val="005A7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4"/>
          <p:cNvSpPr/>
          <p:nvPr/>
        </p:nvSpPr>
        <p:spPr>
          <a:xfrm>
            <a:off x="713232" y="1399032"/>
            <a:ext cx="2084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4"/>
          <p:cNvSpPr/>
          <p:nvPr/>
        </p:nvSpPr>
        <p:spPr>
          <a:xfrm>
            <a:off x="2852928" y="1325880"/>
            <a:ext cx="3291900" cy="329100"/>
          </a:xfrm>
          <a:prstGeom prst="rect">
            <a:avLst/>
          </a:prstGeom>
          <a:solidFill>
            <a:srgbClr val="005A7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4"/>
          <p:cNvSpPr/>
          <p:nvPr/>
        </p:nvSpPr>
        <p:spPr>
          <a:xfrm>
            <a:off x="6144768" y="1325880"/>
            <a:ext cx="2743200" cy="329184"/>
          </a:xfrm>
          <a:prstGeom prst="rect">
            <a:avLst/>
          </a:prstGeom>
          <a:solidFill>
            <a:srgbClr val="005A7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4"/>
          <p:cNvSpPr/>
          <p:nvPr/>
        </p:nvSpPr>
        <p:spPr>
          <a:xfrm>
            <a:off x="6199632" y="1399032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Quantum encoding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4"/>
          <p:cNvSpPr/>
          <p:nvPr/>
        </p:nvSpPr>
        <p:spPr>
          <a:xfrm>
            <a:off x="8887968" y="1325880"/>
            <a:ext cx="2743200" cy="329184"/>
          </a:xfrm>
          <a:prstGeom prst="rect">
            <a:avLst/>
          </a:prstGeom>
          <a:solidFill>
            <a:srgbClr val="005A7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4"/>
          <p:cNvSpPr/>
          <p:nvPr/>
        </p:nvSpPr>
        <p:spPr>
          <a:xfrm>
            <a:off x="8942832" y="1399032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Training style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4"/>
          <p:cNvSpPr/>
          <p:nvPr/>
        </p:nvSpPr>
        <p:spPr>
          <a:xfrm>
            <a:off x="658368" y="1655064"/>
            <a:ext cx="2194500" cy="54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4"/>
          <p:cNvSpPr/>
          <p:nvPr/>
        </p:nvSpPr>
        <p:spPr>
          <a:xfrm>
            <a:off x="713232" y="1728216"/>
            <a:ext cx="2084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Transfer learning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4"/>
          <p:cNvSpPr/>
          <p:nvPr/>
        </p:nvSpPr>
        <p:spPr>
          <a:xfrm>
            <a:off x="2852928" y="1655064"/>
            <a:ext cx="3291900" cy="54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4"/>
          <p:cNvSpPr/>
          <p:nvPr/>
        </p:nvSpPr>
        <p:spPr>
          <a:xfrm>
            <a:off x="2907792" y="1728216"/>
            <a:ext cx="3182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ResNet18 → 512 → 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4"/>
          <p:cNvSpPr/>
          <p:nvPr/>
        </p:nvSpPr>
        <p:spPr>
          <a:xfrm>
            <a:off x="6144768" y="1655064"/>
            <a:ext cx="27432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4"/>
          <p:cNvSpPr/>
          <p:nvPr/>
        </p:nvSpPr>
        <p:spPr>
          <a:xfrm>
            <a:off x="6199632" y="1728216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Rᵧ angle encoding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4"/>
          <p:cNvSpPr/>
          <p:nvPr/>
        </p:nvSpPr>
        <p:spPr>
          <a:xfrm>
            <a:off x="8887968" y="1655064"/>
            <a:ext cx="27432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4"/>
          <p:cNvSpPr/>
          <p:nvPr/>
        </p:nvSpPr>
        <p:spPr>
          <a:xfrm>
            <a:off x="8942832" y="1728216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Frozen CNN + train quantum head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4"/>
          <p:cNvSpPr/>
          <p:nvPr/>
        </p:nvSpPr>
        <p:spPr>
          <a:xfrm>
            <a:off x="658368" y="2203704"/>
            <a:ext cx="2194500" cy="54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4"/>
          <p:cNvSpPr/>
          <p:nvPr/>
        </p:nvSpPr>
        <p:spPr>
          <a:xfrm>
            <a:off x="713232" y="2276856"/>
            <a:ext cx="2084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TN–VQC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4"/>
          <p:cNvSpPr/>
          <p:nvPr/>
        </p:nvSpPr>
        <p:spPr>
          <a:xfrm>
            <a:off x="2852928" y="2203704"/>
            <a:ext cx="3291900" cy="54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4"/>
          <p:cNvSpPr/>
          <p:nvPr/>
        </p:nvSpPr>
        <p:spPr>
          <a:xfrm>
            <a:off x="2907792" y="2276856"/>
            <a:ext cx="3182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MPS: 784 pixels → 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4"/>
          <p:cNvSpPr/>
          <p:nvPr/>
        </p:nvSpPr>
        <p:spPr>
          <a:xfrm>
            <a:off x="6144768" y="2203704"/>
            <a:ext cx="27432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4"/>
          <p:cNvSpPr/>
          <p:nvPr/>
        </p:nvSpPr>
        <p:spPr>
          <a:xfrm>
            <a:off x="6199632" y="2276856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Rᵧ(arctan z), R𝓏(arctan z²)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4"/>
          <p:cNvSpPr/>
          <p:nvPr/>
        </p:nvSpPr>
        <p:spPr>
          <a:xfrm>
            <a:off x="8887968" y="2203704"/>
            <a:ext cx="27432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4"/>
          <p:cNvSpPr/>
          <p:nvPr/>
        </p:nvSpPr>
        <p:spPr>
          <a:xfrm>
            <a:off x="8942832" y="2276856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End-to-end supervised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4"/>
          <p:cNvSpPr/>
          <p:nvPr/>
        </p:nvSpPr>
        <p:spPr>
          <a:xfrm>
            <a:off x="658368" y="2752344"/>
            <a:ext cx="2194500" cy="54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4"/>
          <p:cNvSpPr/>
          <p:nvPr/>
        </p:nvSpPr>
        <p:spPr>
          <a:xfrm>
            <a:off x="713232" y="2825496"/>
            <a:ext cx="2084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PQAE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4"/>
          <p:cNvSpPr/>
          <p:nvPr/>
        </p:nvSpPr>
        <p:spPr>
          <a:xfrm>
            <a:off x="2852928" y="2752344"/>
            <a:ext cx="3291900" cy="54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4"/>
          <p:cNvSpPr/>
          <p:nvPr/>
        </p:nvSpPr>
        <p:spPr>
          <a:xfrm>
            <a:off x="2907792" y="2825496"/>
            <a:ext cx="3182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AE + quantum kernel KPCA → 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4"/>
          <p:cNvSpPr/>
          <p:nvPr/>
        </p:nvSpPr>
        <p:spPr>
          <a:xfrm>
            <a:off x="6144768" y="2752344"/>
            <a:ext cx="27432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4"/>
          <p:cNvSpPr/>
          <p:nvPr/>
        </p:nvSpPr>
        <p:spPr>
          <a:xfrm>
            <a:off x="6199632" y="2825496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ZZFeatureMap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4"/>
          <p:cNvSpPr/>
          <p:nvPr/>
        </p:nvSpPr>
        <p:spPr>
          <a:xfrm>
            <a:off x="8887968" y="2752344"/>
            <a:ext cx="27432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4"/>
          <p:cNvSpPr/>
          <p:nvPr/>
        </p:nvSpPr>
        <p:spPr>
          <a:xfrm>
            <a:off x="8942832" y="2825496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2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Unsupervised pretraining + classifier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4"/>
          <p:cNvSpPr/>
          <p:nvPr/>
        </p:nvSpPr>
        <p:spPr>
          <a:xfrm>
            <a:off x="777240" y="3977640"/>
            <a:ext cx="329184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4"/>
          <p:cNvSpPr/>
          <p:nvPr/>
        </p:nvSpPr>
        <p:spPr>
          <a:xfrm>
            <a:off x="777240" y="397764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4"/>
          <p:cNvSpPr/>
          <p:nvPr/>
        </p:nvSpPr>
        <p:spPr>
          <a:xfrm>
            <a:off x="941832" y="410565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Same motivation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4"/>
          <p:cNvSpPr/>
          <p:nvPr/>
        </p:nvSpPr>
        <p:spPr>
          <a:xfrm>
            <a:off x="941832" y="4389120"/>
            <a:ext cx="2990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4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Qubit count and circuit depth make direct high-dimensional encoding impractical.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4"/>
          <p:cNvSpPr/>
          <p:nvPr/>
        </p:nvSpPr>
        <p:spPr>
          <a:xfrm>
            <a:off x="4434840" y="3977640"/>
            <a:ext cx="329184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4"/>
          <p:cNvSpPr/>
          <p:nvPr/>
        </p:nvSpPr>
        <p:spPr>
          <a:xfrm>
            <a:off x="4434840" y="3977640"/>
            <a:ext cx="54864" cy="12344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4"/>
          <p:cNvSpPr/>
          <p:nvPr/>
        </p:nvSpPr>
        <p:spPr>
          <a:xfrm>
            <a:off x="4599432" y="410565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Different solution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4"/>
          <p:cNvSpPr/>
          <p:nvPr/>
        </p:nvSpPr>
        <p:spPr>
          <a:xfrm>
            <a:off x="4599432" y="4389120"/>
            <a:ext cx="2990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4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They differ in how the compressed representation is learned: pretrained, end-to-end, or quantum-feature-aware.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4"/>
          <p:cNvSpPr/>
          <p:nvPr/>
        </p:nvSpPr>
        <p:spPr>
          <a:xfrm>
            <a:off x="8092440" y="3977640"/>
            <a:ext cx="3291840" cy="1234440"/>
          </a:xfrm>
          <a:prstGeom prst="roundRect">
            <a:avLst>
              <a:gd fmla="val 5926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8092440" y="3977640"/>
            <a:ext cx="54864" cy="12344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4"/>
          <p:cNvSpPr/>
          <p:nvPr/>
        </p:nvSpPr>
        <p:spPr>
          <a:xfrm>
            <a:off x="8257032" y="410565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Shared limitation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4"/>
          <p:cNvSpPr/>
          <p:nvPr/>
        </p:nvSpPr>
        <p:spPr>
          <a:xfrm>
            <a:off x="8257032" y="4389120"/>
            <a:ext cx="2990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4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None directly solves normal-only anomaly-preserving compression for a downstream QAE.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4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4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Conclusion: “compress before quantum encoding” is established; the unsolved part is how to compress without hiding anomalies.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4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4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4 · SYNTHESIS</a:t>
            </a:r>
            <a:endParaRPr/>
          </a:p>
        </p:txBody>
      </p:sp>
      <p:sp>
        <p:nvSpPr>
          <p:cNvPr id="780" name="Google Shape;780;p24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What the three papers have in common</a:t>
            </a:r>
            <a:endParaRPr/>
          </a:p>
        </p:txBody>
      </p:sp>
      <p:sp>
        <p:nvSpPr>
          <p:cNvPr id="781" name="Google Shape;781;p24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All three solve the same bottleneck with different compression strategies</a:t>
            </a:r>
            <a:endParaRPr/>
          </a:p>
        </p:txBody>
      </p:sp>
      <p:cxnSp>
        <p:nvCxnSpPr>
          <p:cNvPr id="782" name="Google Shape;782;p24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3" name="Google Shape;783;p24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84" name="Google Shape;784;p24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785" name="Google Shape;785;p24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Classical Compression Before Quantum Encoding</a:t>
            </a:r>
            <a:endParaRPr/>
          </a:p>
        </p:txBody>
      </p:sp>
      <p:sp>
        <p:nvSpPr>
          <p:cNvPr id="786" name="Google Shape;786;p24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5"/>
          <p:cNvSpPr/>
          <p:nvPr/>
        </p:nvSpPr>
        <p:spPr>
          <a:xfrm>
            <a:off x="502920" y="1325880"/>
            <a:ext cx="3520440" cy="1508760"/>
          </a:xfrm>
          <a:prstGeom prst="roundRect">
            <a:avLst>
              <a:gd fmla="val 4848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5"/>
          <p:cNvSpPr/>
          <p:nvPr/>
        </p:nvSpPr>
        <p:spPr>
          <a:xfrm>
            <a:off x="502920" y="1325880"/>
            <a:ext cx="54864" cy="15087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5"/>
          <p:cNvSpPr/>
          <p:nvPr/>
        </p:nvSpPr>
        <p:spPr>
          <a:xfrm>
            <a:off x="667512" y="1453896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Can reuse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5"/>
          <p:cNvSpPr/>
          <p:nvPr/>
        </p:nvSpPr>
        <p:spPr>
          <a:xfrm>
            <a:off x="667512" y="1737360"/>
            <a:ext cx="32186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Feature extractor + quantum head; end-to-end hybrid training; quantum-feature-map-aware preprocessing.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4343400" y="1325880"/>
            <a:ext cx="3520440" cy="1508760"/>
          </a:xfrm>
          <a:prstGeom prst="roundRect">
            <a:avLst>
              <a:gd fmla="val 4848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5"/>
          <p:cNvSpPr/>
          <p:nvPr/>
        </p:nvSpPr>
        <p:spPr>
          <a:xfrm>
            <a:off x="4343400" y="1325880"/>
            <a:ext cx="54864" cy="150876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4507992" y="1453896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Cannot directly reuse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5"/>
          <p:cNvSpPr/>
          <p:nvPr/>
        </p:nvSpPr>
        <p:spPr>
          <a:xfrm>
            <a:off x="4507992" y="1737360"/>
            <a:ext cx="32186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Their objectives are mostly supervised classification or input reconstruction, not unseen-anomaly preservation.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8183880" y="1325880"/>
            <a:ext cx="3520440" cy="1508760"/>
          </a:xfrm>
          <a:prstGeom prst="roundRect">
            <a:avLst>
              <a:gd fmla="val 4848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5"/>
          <p:cNvSpPr/>
          <p:nvPr/>
        </p:nvSpPr>
        <p:spPr>
          <a:xfrm>
            <a:off x="8183880" y="1325880"/>
            <a:ext cx="54864" cy="15087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8348472" y="1453896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Need to add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5"/>
          <p:cNvSpPr/>
          <p:nvPr/>
        </p:nvSpPr>
        <p:spPr>
          <a:xfrm>
            <a:off x="8348472" y="1737360"/>
            <a:ext cx="32186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Evaluation of anomaly separation, quantum resources, encoding depth, two-qubit gates, shots, and noise robustness.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960120" y="3337560"/>
            <a:ext cx="10287000" cy="1143000"/>
          </a:xfrm>
          <a:prstGeom prst="roundRect">
            <a:avLst>
              <a:gd fmla="val 8000" name="adj"/>
            </a:avLst>
          </a:prstGeom>
          <a:solidFill>
            <a:srgbClr val="F7F5F0"/>
          </a:solidFill>
          <a:ln cap="flat" cmpd="sng" w="1270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5"/>
          <p:cNvSpPr/>
          <p:nvPr/>
        </p:nvSpPr>
        <p:spPr>
          <a:xfrm>
            <a:off x="1097280" y="3611880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Existing literature: high-dimensional data → compressed features → VQC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1097280" y="3995928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A1C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F45A1C"/>
                </a:solidFill>
                <a:latin typeface="Arial"/>
                <a:ea typeface="Arial"/>
                <a:cs typeface="Arial"/>
                <a:sym typeface="Arial"/>
              </a:rPr>
              <a:t>Your gap: normal-only compression → anomaly-preserving features → QAE anomaly score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5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The new contribution should be evaluated on both detection quality and quantum hardware cost.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5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5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4 · SYNTHESIS</a:t>
            </a:r>
            <a:endParaRPr/>
          </a:p>
        </p:txBody>
      </p:sp>
      <p:sp>
        <p:nvSpPr>
          <p:cNvPr id="811" name="Google Shape;811;p25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Key differences for research positioning</a:t>
            </a:r>
            <a:endParaRPr/>
          </a:p>
        </p:txBody>
      </p:sp>
      <p:sp>
        <p:nvSpPr>
          <p:cNvPr id="812" name="Google Shape;812;p25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Which parts can be reused, and which gaps remain?</a:t>
            </a:r>
            <a:endParaRPr/>
          </a:p>
        </p:txBody>
      </p:sp>
      <p:cxnSp>
        <p:nvCxnSpPr>
          <p:cNvPr id="813" name="Google Shape;813;p25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14" name="Google Shape;814;p25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5" name="Google Shape;815;p25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816" name="Google Shape;816;p25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Classical Compression Before Quantum Encoding</a:t>
            </a:r>
            <a:endParaRPr/>
          </a:p>
        </p:txBody>
      </p:sp>
      <p:sp>
        <p:nvSpPr>
          <p:cNvPr id="817" name="Google Shape;817;p25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6"/>
          <p:cNvSpPr/>
          <p:nvPr/>
        </p:nvSpPr>
        <p:spPr>
          <a:xfrm>
            <a:off x="685800" y="1325880"/>
            <a:ext cx="10835640" cy="1143000"/>
          </a:xfrm>
          <a:prstGeom prst="roundRect">
            <a:avLst>
              <a:gd fmla="val 64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685800" y="1325880"/>
            <a:ext cx="54864" cy="114300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6"/>
          <p:cNvSpPr/>
          <p:nvPr/>
        </p:nvSpPr>
        <p:spPr>
          <a:xfrm>
            <a:off x="850392" y="1453896"/>
            <a:ext cx="10561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3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Proposed title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6"/>
          <p:cNvSpPr/>
          <p:nvPr/>
        </p:nvSpPr>
        <p:spPr>
          <a:xfrm>
            <a:off x="850392" y="1737360"/>
            <a:ext cx="105338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Anomaly-Preserving and Hardware-Aware Classical Compression for Quantum Autoencoder Anomaly Detection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6"/>
          <p:cNvSpPr/>
          <p:nvPr/>
        </p:nvSpPr>
        <p:spPr>
          <a:xfrm>
            <a:off x="868680" y="2743200"/>
            <a:ext cx="10469880" cy="1280160"/>
          </a:xfrm>
          <a:prstGeom prst="roundRect">
            <a:avLst>
              <a:gd fmla="val 7143" name="adj"/>
            </a:avLst>
          </a:prstGeom>
          <a:solidFill>
            <a:srgbClr val="F7F5F0"/>
          </a:solidFill>
          <a:ln cap="flat" cmpd="sng" w="1270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6"/>
          <p:cNvSpPr/>
          <p:nvPr/>
        </p:nvSpPr>
        <p:spPr>
          <a:xfrm>
            <a:off x="1051560" y="3182112"/>
            <a:ext cx="10104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5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high-dimensional classical data  →  normal-only compressor  →  low-dimensional features  →  shallow quantum encoding  →  QAE trash-fidelity score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6"/>
          <p:cNvSpPr/>
          <p:nvPr/>
        </p:nvSpPr>
        <p:spPr>
          <a:xfrm>
            <a:off x="868680" y="4572000"/>
            <a:ext cx="3291840" cy="1051560"/>
          </a:xfrm>
          <a:prstGeom prst="roundRect">
            <a:avLst>
              <a:gd fmla="val 695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6"/>
          <p:cNvSpPr/>
          <p:nvPr/>
        </p:nvSpPr>
        <p:spPr>
          <a:xfrm>
            <a:off x="868680" y="4572000"/>
            <a:ext cx="54864" cy="10515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6"/>
          <p:cNvSpPr/>
          <p:nvPr/>
        </p:nvSpPr>
        <p:spPr>
          <a:xfrm>
            <a:off x="1033272" y="470001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Core question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6"/>
          <p:cNvSpPr/>
          <p:nvPr/>
        </p:nvSpPr>
        <p:spPr>
          <a:xfrm>
            <a:off x="1033272" y="498348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Can we reduce quantum encoding resources without destroying unseen anomaly information?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6"/>
          <p:cNvSpPr/>
          <p:nvPr/>
        </p:nvSpPr>
        <p:spPr>
          <a:xfrm>
            <a:off x="4434840" y="4572000"/>
            <a:ext cx="3291840" cy="1051560"/>
          </a:xfrm>
          <a:prstGeom prst="roundRect">
            <a:avLst>
              <a:gd fmla="val 695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6"/>
          <p:cNvSpPr/>
          <p:nvPr/>
        </p:nvSpPr>
        <p:spPr>
          <a:xfrm>
            <a:off x="4434840" y="4572000"/>
            <a:ext cx="54864" cy="105156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6"/>
          <p:cNvSpPr/>
          <p:nvPr/>
        </p:nvSpPr>
        <p:spPr>
          <a:xfrm>
            <a:off x="4599432" y="470001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Compression goal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6"/>
          <p:cNvSpPr/>
          <p:nvPr/>
        </p:nvSpPr>
        <p:spPr>
          <a:xfrm>
            <a:off x="4599432" y="498348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Learn compact normal structure, but keep deviations visible to the QAE.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6"/>
          <p:cNvSpPr/>
          <p:nvPr/>
        </p:nvSpPr>
        <p:spPr>
          <a:xfrm>
            <a:off x="8001000" y="4572000"/>
            <a:ext cx="3291840" cy="1051560"/>
          </a:xfrm>
          <a:prstGeom prst="roundRect">
            <a:avLst>
              <a:gd fmla="val 6957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6"/>
          <p:cNvSpPr/>
          <p:nvPr/>
        </p:nvSpPr>
        <p:spPr>
          <a:xfrm>
            <a:off x="8001000" y="4572000"/>
            <a:ext cx="54864" cy="10515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6"/>
          <p:cNvSpPr/>
          <p:nvPr/>
        </p:nvSpPr>
        <p:spPr>
          <a:xfrm>
            <a:off x="8165592" y="470001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Quantum goal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6"/>
          <p:cNvSpPr/>
          <p:nvPr/>
        </p:nvSpPr>
        <p:spPr>
          <a:xfrm>
            <a:off x="8165592" y="498348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Reduce qubits, depth, CX count, shots, and noise sensitivity.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6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6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5 · RESEARCH TOPIC</a:t>
            </a:r>
            <a:endParaRPr/>
          </a:p>
        </p:txBody>
      </p:sp>
      <p:sp>
        <p:nvSpPr>
          <p:cNvPr id="843" name="Google Shape;843;p26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Proposed definition</a:t>
            </a:r>
            <a:endParaRPr/>
          </a:p>
        </p:txBody>
      </p:sp>
      <p:sp>
        <p:nvSpPr>
          <p:cNvPr id="844" name="Google Shape;844;p26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Anomaly-preserving compression before quantum encoding</a:t>
            </a:r>
            <a:endParaRPr/>
          </a:p>
        </p:txBody>
      </p:sp>
      <p:cxnSp>
        <p:nvCxnSpPr>
          <p:cNvPr id="845" name="Google Shape;845;p26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46" name="Google Shape;846;p26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47" name="Google Shape;847;p26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848" name="Google Shape;848;p26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Classical Compression Before Quantum Encoding</a:t>
            </a:r>
            <a:endParaRPr/>
          </a:p>
        </p:txBody>
      </p:sp>
      <p:sp>
        <p:nvSpPr>
          <p:cNvPr id="849" name="Google Shape;849;p26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7"/>
          <p:cNvSpPr/>
          <p:nvPr/>
        </p:nvSpPr>
        <p:spPr>
          <a:xfrm>
            <a:off x="502920" y="1325880"/>
            <a:ext cx="3383280" cy="1463040"/>
          </a:xfrm>
          <a:prstGeom prst="roundRect">
            <a:avLst>
              <a:gd fmla="val 50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502920" y="1325880"/>
            <a:ext cx="54864" cy="14630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667512" y="145389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Compression baselines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7"/>
          <p:cNvSpPr/>
          <p:nvPr/>
        </p:nvSpPr>
        <p:spPr>
          <a:xfrm>
            <a:off x="667512" y="1737360"/>
            <a:ext cx="3081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PCA, random projection, classical AE, TCN/1D-CNN encoder, and quantum-aware AE/PQAE-style encoder.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27"/>
          <p:cNvSpPr/>
          <p:nvPr/>
        </p:nvSpPr>
        <p:spPr>
          <a:xfrm>
            <a:off x="4389120" y="1325880"/>
            <a:ext cx="3383280" cy="1463040"/>
          </a:xfrm>
          <a:prstGeom prst="roundRect">
            <a:avLst>
              <a:gd fmla="val 50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4389120" y="1325880"/>
            <a:ext cx="54864" cy="146304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7"/>
          <p:cNvSpPr/>
          <p:nvPr/>
        </p:nvSpPr>
        <p:spPr>
          <a:xfrm>
            <a:off x="4553712" y="145389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Quantum encodings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7"/>
          <p:cNvSpPr/>
          <p:nvPr/>
        </p:nvSpPr>
        <p:spPr>
          <a:xfrm>
            <a:off x="4553712" y="1737360"/>
            <a:ext cx="3081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Angle encoding, dense-angle encoding, data re-uploading, and shallow amplitude/quasi-amplitude variants.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7"/>
          <p:cNvSpPr/>
          <p:nvPr/>
        </p:nvSpPr>
        <p:spPr>
          <a:xfrm>
            <a:off x="8275320" y="1325880"/>
            <a:ext cx="3383280" cy="1463040"/>
          </a:xfrm>
          <a:prstGeom prst="roundRect">
            <a:avLst>
              <a:gd fmla="val 5000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7"/>
          <p:cNvSpPr/>
          <p:nvPr/>
        </p:nvSpPr>
        <p:spPr>
          <a:xfrm>
            <a:off x="8275320" y="1325880"/>
            <a:ext cx="54864" cy="146304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7"/>
          <p:cNvSpPr/>
          <p:nvPr/>
        </p:nvSpPr>
        <p:spPr>
          <a:xfrm>
            <a:off x="8439912" y="145389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QAE detector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7"/>
          <p:cNvSpPr/>
          <p:nvPr/>
        </p:nvSpPr>
        <p:spPr>
          <a:xfrm>
            <a:off x="8439912" y="1737360"/>
            <a:ext cx="3081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Train on normal-only data and use trash fidelity or direct trash measurement as anomaly score.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7"/>
          <p:cNvSpPr/>
          <p:nvPr/>
        </p:nvSpPr>
        <p:spPr>
          <a:xfrm>
            <a:off x="777240" y="3429000"/>
            <a:ext cx="3474720" cy="1280160"/>
          </a:xfrm>
          <a:prstGeom prst="roundRect">
            <a:avLst>
              <a:gd fmla="val 5714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777240" y="3429000"/>
            <a:ext cx="54864" cy="12801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941832" y="355701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Performance metrics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7"/>
          <p:cNvSpPr/>
          <p:nvPr/>
        </p:nvSpPr>
        <p:spPr>
          <a:xfrm>
            <a:off x="941832" y="3840480"/>
            <a:ext cx="31729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AUROC, AUPRC, detection delay, false-positive rate, and score calibration.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7"/>
          <p:cNvSpPr/>
          <p:nvPr/>
        </p:nvSpPr>
        <p:spPr>
          <a:xfrm>
            <a:off x="4434840" y="3429000"/>
            <a:ext cx="3474720" cy="1280160"/>
          </a:xfrm>
          <a:prstGeom prst="roundRect">
            <a:avLst>
              <a:gd fmla="val 5714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7"/>
          <p:cNvSpPr/>
          <p:nvPr/>
        </p:nvSpPr>
        <p:spPr>
          <a:xfrm>
            <a:off x="4434840" y="3429000"/>
            <a:ext cx="54864" cy="1280160"/>
          </a:xfrm>
          <a:prstGeom prst="rect">
            <a:avLst/>
          </a:prstGeom>
          <a:solidFill>
            <a:srgbClr val="F45A1C"/>
          </a:solidFill>
          <a:ln cap="flat" cmpd="sng" w="12700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7"/>
          <p:cNvSpPr/>
          <p:nvPr/>
        </p:nvSpPr>
        <p:spPr>
          <a:xfrm>
            <a:off x="4599432" y="355701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Resource metrics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4599432" y="3840480"/>
            <a:ext cx="31729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Qubit count, transpiled depth, two-qubit gate count, shots, runtime, and hardware/noise robustness.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7"/>
          <p:cNvSpPr/>
          <p:nvPr/>
        </p:nvSpPr>
        <p:spPr>
          <a:xfrm>
            <a:off x="8092440" y="3429000"/>
            <a:ext cx="3474720" cy="1280160"/>
          </a:xfrm>
          <a:prstGeom prst="roundRect">
            <a:avLst>
              <a:gd fmla="val 5714" name="adj"/>
            </a:avLst>
          </a:prstGeom>
          <a:solidFill>
            <a:srgbClr val="F7F5F0"/>
          </a:solidFill>
          <a:ln cap="flat" cmpd="sng" w="10150">
            <a:solidFill>
              <a:srgbClr val="DDD8C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AAAA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7"/>
          <p:cNvSpPr/>
          <p:nvPr/>
        </p:nvSpPr>
        <p:spPr>
          <a:xfrm>
            <a:off x="8092440" y="3429000"/>
            <a:ext cx="54864" cy="1280160"/>
          </a:xfrm>
          <a:prstGeom prst="rect">
            <a:avLst/>
          </a:prstGeom>
          <a:solidFill>
            <a:srgbClr val="005A7C"/>
          </a:solidFill>
          <a:ln cap="flat" cmpd="sng" w="127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7"/>
          <p:cNvSpPr/>
          <p:nvPr/>
        </p:nvSpPr>
        <p:spPr>
          <a:xfrm>
            <a:off x="8257032" y="355701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Critical ablation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7"/>
          <p:cNvSpPr/>
          <p:nvPr/>
        </p:nvSpPr>
        <p:spPr>
          <a:xfrm>
            <a:off x="8257032" y="3840480"/>
            <a:ext cx="31729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Compressed data + classical detector vs. compressed data + QAE, to prove the quantum part adds value.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7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7"/>
          <p:cNvSpPr/>
          <p:nvPr/>
        </p:nvSpPr>
        <p:spPr>
          <a:xfrm>
            <a:off x="1005840" y="5943600"/>
            <a:ext cx="101498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7C"/>
              </a:buClr>
              <a:buSzPts val="1250"/>
              <a:buFont typeface="Arial"/>
              <a:buNone/>
            </a:pPr>
            <a:r>
              <a:rPr b="1" i="0" lang="en-US" sz="112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Final research claim should be about the trade-off: anomaly information retained per unit of quantum resource.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7"/>
          <p:cNvSpPr/>
          <p:nvPr/>
        </p:nvSpPr>
        <p:spPr>
          <a:xfrm>
            <a:off x="310896" y="164592"/>
            <a:ext cx="64008" cy="502920"/>
          </a:xfrm>
          <a:prstGeom prst="rect">
            <a:avLst/>
          </a:prstGeom>
          <a:solidFill>
            <a:srgbClr val="F45A1C"/>
          </a:solidFill>
          <a:ln cap="flat" cmpd="sng" w="9525">
            <a:solidFill>
              <a:srgbClr val="F45A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7"/>
          <p:cNvSpPr txBox="1"/>
          <p:nvPr/>
        </p:nvSpPr>
        <p:spPr>
          <a:xfrm>
            <a:off x="438912" y="201168"/>
            <a:ext cx="4864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5 · RESEARCH PLAN</a:t>
            </a:r>
            <a:endParaRPr/>
          </a:p>
        </p:txBody>
      </p:sp>
      <p:sp>
        <p:nvSpPr>
          <p:cNvPr id="883" name="Google Shape;883;p27"/>
          <p:cNvSpPr txBox="1"/>
          <p:nvPr/>
        </p:nvSpPr>
        <p:spPr>
          <a:xfrm>
            <a:off x="438912" y="411480"/>
            <a:ext cx="82844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7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How the topic can be tested</a:t>
            </a:r>
            <a:endParaRPr/>
          </a:p>
        </p:txBody>
      </p:sp>
      <p:sp>
        <p:nvSpPr>
          <p:cNvPr id="884" name="Google Shape;884;p27"/>
          <p:cNvSpPr txBox="1"/>
          <p:nvPr/>
        </p:nvSpPr>
        <p:spPr>
          <a:xfrm>
            <a:off x="557784" y="630936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Ablation study for compression, encoding, and anomaly detection</a:t>
            </a:r>
            <a:endParaRPr/>
          </a:p>
        </p:txBody>
      </p:sp>
      <p:cxnSp>
        <p:nvCxnSpPr>
          <p:cNvPr id="885" name="Google Shape;885;p27"/>
          <p:cNvCxnSpPr/>
          <p:nvPr/>
        </p:nvCxnSpPr>
        <p:spPr>
          <a:xfrm>
            <a:off x="329184" y="1042415"/>
            <a:ext cx="11475720" cy="0"/>
          </a:xfrm>
          <a:prstGeom prst="straightConnector1">
            <a:avLst/>
          </a:prstGeom>
          <a:noFill/>
          <a:ln cap="flat" cmpd="sng" w="15225">
            <a:solidFill>
              <a:srgbClr val="D8D4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86" name="Google Shape;886;p27"/>
          <p:cNvCxnSpPr/>
          <p:nvPr/>
        </p:nvCxnSpPr>
        <p:spPr>
          <a:xfrm>
            <a:off x="0" y="6629400"/>
            <a:ext cx="12191999" cy="0"/>
          </a:xfrm>
          <a:prstGeom prst="straightConnector1">
            <a:avLst/>
          </a:prstGeom>
          <a:noFill/>
          <a:ln cap="flat" cmpd="sng" w="50800">
            <a:solidFill>
              <a:srgbClr val="005A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87" name="Google Shape;887;p27"/>
          <p:cNvSpPr txBox="1"/>
          <p:nvPr/>
        </p:nvSpPr>
        <p:spPr>
          <a:xfrm>
            <a:off x="347472" y="6693408"/>
            <a:ext cx="1920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MITACS Research Meeting</a:t>
            </a:r>
            <a:endParaRPr/>
          </a:p>
        </p:txBody>
      </p:sp>
      <p:sp>
        <p:nvSpPr>
          <p:cNvPr id="888" name="Google Shape;888;p27"/>
          <p:cNvSpPr txBox="1"/>
          <p:nvPr/>
        </p:nvSpPr>
        <p:spPr>
          <a:xfrm>
            <a:off x="2377440" y="6693408"/>
            <a:ext cx="6766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Classical Compression Before Quantum Encoding</a:t>
            </a:r>
            <a:endParaRPr/>
          </a:p>
        </p:txBody>
      </p:sp>
      <p:sp>
        <p:nvSpPr>
          <p:cNvPr id="889" name="Google Shape;889;p27"/>
          <p:cNvSpPr txBox="1"/>
          <p:nvPr/>
        </p:nvSpPr>
        <p:spPr>
          <a:xfrm>
            <a:off x="11475720" y="66659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05A7C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2026-07-19T20:09:12Z</dcterms:created>
  <dc:creator>OpenAI</dc:creator>
</cp:coreProperties>
</file>